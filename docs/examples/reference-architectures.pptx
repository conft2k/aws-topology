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0.svg" ContentType="image/svg+xml"/>
  <Override PartName="/ppt/media/image12.svg" ContentType="image/svg+xml"/>
  <Override PartName="/ppt/media/image14.svg" ContentType="image/svg+xml"/>
  <Override PartName="/ppt/media/image16.svg" ContentType="image/svg+xml"/>
  <Override PartName="/ppt/media/image18.svg" ContentType="image/svg+xml"/>
  <Override PartName="/ppt/media/image2.svg" ContentType="image/svg+xml"/>
  <Override PartName="/ppt/media/image20.svg" ContentType="image/svg+xml"/>
  <Override PartName="/ppt/media/image22.svg" ContentType="image/svg+xml"/>
  <Override PartName="/ppt/media/image24.svg" ContentType="image/svg+xml"/>
  <Override PartName="/ppt/media/image26.svg" ContentType="image/svg+xml"/>
  <Override PartName="/ppt/media/image28.svg" ContentType="image/svg+xml"/>
  <Override PartName="/ppt/media/image30.svg" ContentType="image/svg+xml"/>
  <Override PartName="/ppt/media/image32.svg" ContentType="image/svg+xml"/>
  <Override PartName="/ppt/media/image34.svg" ContentType="image/svg+xml"/>
  <Override PartName="/ppt/media/image36.svg" ContentType="image/svg+xml"/>
  <Override PartName="/ppt/media/image38.svg" ContentType="image/svg+xml"/>
  <Override PartName="/ppt/media/image4.svg" ContentType="image/svg+xml"/>
  <Override PartName="/ppt/media/image40.svg" ContentType="image/svg+xml"/>
  <Override PartName="/ppt/media/image42.svg" ContentType="image/svg+xml"/>
  <Override PartName="/ppt/media/image44.svg" ContentType="image/svg+xml"/>
  <Override PartName="/ppt/media/image46.svg" ContentType="image/svg+xml"/>
  <Override PartName="/ppt/media/image48.svg" ContentType="image/svg+xml"/>
  <Override PartName="/ppt/media/image50.svg" ContentType="image/svg+xml"/>
  <Override PartName="/ppt/media/image52.svg" ContentType="image/svg+xml"/>
  <Override PartName="/ppt/media/image54.svg" ContentType="image/svg+xml"/>
  <Override PartName="/ppt/media/image56.svg" ContentType="image/svg+xml"/>
  <Override PartName="/ppt/media/image58.svg" ContentType="image/svg+xml"/>
  <Override PartName="/ppt/media/image6.svg" ContentType="image/svg+xml"/>
  <Override PartName="/ppt/media/image8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svg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7.png"/><Relationship Id="rId9" Type="http://schemas.openxmlformats.org/officeDocument/2006/relationships/image" Target="../media/image8.svg"/><Relationship Id="rId10" Type="http://schemas.openxmlformats.org/officeDocument/2006/relationships/image" Target="../media/image9.png"/><Relationship Id="rId11" Type="http://schemas.openxmlformats.org/officeDocument/2006/relationships/image" Target="../media/image10.svg"/><Relationship Id="rId12" Type="http://schemas.openxmlformats.org/officeDocument/2006/relationships/image" Target="../media/image11.png"/><Relationship Id="rId13" Type="http://schemas.openxmlformats.org/officeDocument/2006/relationships/image" Target="../media/image12.svg"/><Relationship Id="rId14" Type="http://schemas.openxmlformats.org/officeDocument/2006/relationships/image" Target="../media/image13.png"/><Relationship Id="rId15" Type="http://schemas.openxmlformats.org/officeDocument/2006/relationships/image" Target="../media/image14.svg"/><Relationship Id="rId16" Type="http://schemas.openxmlformats.org/officeDocument/2006/relationships/image" Target="../media/image15.png"/><Relationship Id="rId17" Type="http://schemas.openxmlformats.org/officeDocument/2006/relationships/image" Target="../media/image16.svg"/><Relationship Id="rId18" Type="http://schemas.openxmlformats.org/officeDocument/2006/relationships/image" Target="../media/image17.png"/><Relationship Id="rId19" Type="http://schemas.openxmlformats.org/officeDocument/2006/relationships/image" Target="../media/image18.svg"/><Relationship Id="rId20" Type="http://schemas.openxmlformats.org/officeDocument/2006/relationships/image" Target="../media/image19.png"/><Relationship Id="rId21" Type="http://schemas.openxmlformats.org/officeDocument/2006/relationships/image" Target="../media/image20.svg"/><Relationship Id="rId22" Type="http://schemas.openxmlformats.org/officeDocument/2006/relationships/image" Target="../media/image21.png"/><Relationship Id="rId23" Type="http://schemas.openxmlformats.org/officeDocument/2006/relationships/image" Target="../media/image22.svg"/><Relationship Id="rId24" Type="http://schemas.openxmlformats.org/officeDocument/2006/relationships/image" Target="../media/image23.png"/><Relationship Id="rId25" Type="http://schemas.openxmlformats.org/officeDocument/2006/relationships/image" Target="../media/image24.svg"/><Relationship Id="rId26" Type="http://schemas.openxmlformats.org/officeDocument/2006/relationships/image" Target="../media/image25.png"/><Relationship Id="rId27" Type="http://schemas.openxmlformats.org/officeDocument/2006/relationships/image" Target="../media/image26.svg"/><Relationship Id="rId28" Type="http://schemas.openxmlformats.org/officeDocument/2006/relationships/image" Target="../media/image27.png"/><Relationship Id="rId29" Type="http://schemas.openxmlformats.org/officeDocument/2006/relationships/image" Target="../media/image28.svg"/><Relationship Id="rId30" Type="http://schemas.openxmlformats.org/officeDocument/2006/relationships/image" Target="../media/image29.png"/><Relationship Id="rId31" Type="http://schemas.openxmlformats.org/officeDocument/2006/relationships/image" Target="../media/image30.sv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svg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7.png"/><Relationship Id="rId9" Type="http://schemas.openxmlformats.org/officeDocument/2006/relationships/image" Target="../media/image8.svg"/><Relationship Id="rId10" Type="http://schemas.openxmlformats.org/officeDocument/2006/relationships/image" Target="../media/image9.png"/><Relationship Id="rId11" Type="http://schemas.openxmlformats.org/officeDocument/2006/relationships/image" Target="../media/image10.svg"/><Relationship Id="rId12" Type="http://schemas.openxmlformats.org/officeDocument/2006/relationships/image" Target="../media/image31.png"/><Relationship Id="rId13" Type="http://schemas.openxmlformats.org/officeDocument/2006/relationships/image" Target="../media/image32.svg"/><Relationship Id="rId14" Type="http://schemas.openxmlformats.org/officeDocument/2006/relationships/image" Target="../media/image11.png"/><Relationship Id="rId15" Type="http://schemas.openxmlformats.org/officeDocument/2006/relationships/image" Target="../media/image12.svg"/><Relationship Id="rId16" Type="http://schemas.openxmlformats.org/officeDocument/2006/relationships/image" Target="../media/image13.png"/><Relationship Id="rId17" Type="http://schemas.openxmlformats.org/officeDocument/2006/relationships/image" Target="../media/image14.svg"/><Relationship Id="rId18" Type="http://schemas.openxmlformats.org/officeDocument/2006/relationships/image" Target="../media/image15.png"/><Relationship Id="rId19" Type="http://schemas.openxmlformats.org/officeDocument/2006/relationships/image" Target="../media/image16.svg"/><Relationship Id="rId20" Type="http://schemas.openxmlformats.org/officeDocument/2006/relationships/image" Target="../media/image17.png"/><Relationship Id="rId21" Type="http://schemas.openxmlformats.org/officeDocument/2006/relationships/image" Target="../media/image18.svg"/><Relationship Id="rId22" Type="http://schemas.openxmlformats.org/officeDocument/2006/relationships/image" Target="../media/image19.png"/><Relationship Id="rId23" Type="http://schemas.openxmlformats.org/officeDocument/2006/relationships/image" Target="../media/image20.svg"/><Relationship Id="rId24" Type="http://schemas.openxmlformats.org/officeDocument/2006/relationships/image" Target="../media/image21.png"/><Relationship Id="rId25" Type="http://schemas.openxmlformats.org/officeDocument/2006/relationships/image" Target="../media/image22.svg"/><Relationship Id="rId26" Type="http://schemas.openxmlformats.org/officeDocument/2006/relationships/image" Target="../media/image23.png"/><Relationship Id="rId27" Type="http://schemas.openxmlformats.org/officeDocument/2006/relationships/image" Target="../media/image24.svg"/><Relationship Id="rId28" Type="http://schemas.openxmlformats.org/officeDocument/2006/relationships/image" Target="../media/image25.png"/><Relationship Id="rId29" Type="http://schemas.openxmlformats.org/officeDocument/2006/relationships/image" Target="../media/image26.svg"/><Relationship Id="rId30" Type="http://schemas.openxmlformats.org/officeDocument/2006/relationships/image" Target="../media/image33.png"/><Relationship Id="rId31" Type="http://schemas.openxmlformats.org/officeDocument/2006/relationships/image" Target="../media/image34.svg"/><Relationship Id="rId32" Type="http://schemas.openxmlformats.org/officeDocument/2006/relationships/image" Target="../media/image35.png"/><Relationship Id="rId33" Type="http://schemas.openxmlformats.org/officeDocument/2006/relationships/image" Target="../media/image36.svg"/><Relationship Id="rId34" Type="http://schemas.openxmlformats.org/officeDocument/2006/relationships/image" Target="../media/image29.png"/><Relationship Id="rId35" Type="http://schemas.openxmlformats.org/officeDocument/2006/relationships/image" Target="../media/image30.sv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svg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15.png"/><Relationship Id="rId9" Type="http://schemas.openxmlformats.org/officeDocument/2006/relationships/image" Target="../media/image16.svg"/><Relationship Id="rId10" Type="http://schemas.openxmlformats.org/officeDocument/2006/relationships/image" Target="../media/image17.png"/><Relationship Id="rId11" Type="http://schemas.openxmlformats.org/officeDocument/2006/relationships/image" Target="../media/image18.svg"/><Relationship Id="rId12" Type="http://schemas.openxmlformats.org/officeDocument/2006/relationships/image" Target="../media/image37.png"/><Relationship Id="rId13" Type="http://schemas.openxmlformats.org/officeDocument/2006/relationships/image" Target="../media/image38.svg"/><Relationship Id="rId14" Type="http://schemas.openxmlformats.org/officeDocument/2006/relationships/image" Target="../media/image25.png"/><Relationship Id="rId15" Type="http://schemas.openxmlformats.org/officeDocument/2006/relationships/image" Target="../media/image26.svg"/><Relationship Id="rId16" Type="http://schemas.openxmlformats.org/officeDocument/2006/relationships/image" Target="../media/image29.png"/><Relationship Id="rId17" Type="http://schemas.openxmlformats.org/officeDocument/2006/relationships/image" Target="../media/image30.svg"/><Relationship Id="rId18" Type="http://schemas.openxmlformats.org/officeDocument/2006/relationships/image" Target="../media/image19.png"/><Relationship Id="rId19" Type="http://schemas.openxmlformats.org/officeDocument/2006/relationships/image" Target="../media/image20.svg"/><Relationship Id="rId20" Type="http://schemas.openxmlformats.org/officeDocument/2006/relationships/image" Target="../media/image23.png"/><Relationship Id="rId21" Type="http://schemas.openxmlformats.org/officeDocument/2006/relationships/image" Target="../media/image24.svg"/><Relationship Id="rId22" Type="http://schemas.openxmlformats.org/officeDocument/2006/relationships/image" Target="../media/image39.png"/><Relationship Id="rId23" Type="http://schemas.openxmlformats.org/officeDocument/2006/relationships/image" Target="../media/image40.sv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Relationship Id="rId3" Type="http://schemas.openxmlformats.org/officeDocument/2006/relationships/image" Target="../media/image42.svg"/><Relationship Id="rId4" Type="http://schemas.openxmlformats.org/officeDocument/2006/relationships/image" Target="../media/image43.png"/><Relationship Id="rId5" Type="http://schemas.openxmlformats.org/officeDocument/2006/relationships/image" Target="../media/image44.svg"/><Relationship Id="rId6" Type="http://schemas.openxmlformats.org/officeDocument/2006/relationships/image" Target="../media/image45.png"/><Relationship Id="rId7" Type="http://schemas.openxmlformats.org/officeDocument/2006/relationships/image" Target="../media/image46.svg"/><Relationship Id="rId8" Type="http://schemas.openxmlformats.org/officeDocument/2006/relationships/image" Target="../media/image47.png"/><Relationship Id="rId9" Type="http://schemas.openxmlformats.org/officeDocument/2006/relationships/image" Target="../media/image48.svg"/><Relationship Id="rId10" Type="http://schemas.openxmlformats.org/officeDocument/2006/relationships/image" Target="../media/image3.png"/><Relationship Id="rId11" Type="http://schemas.openxmlformats.org/officeDocument/2006/relationships/image" Target="../media/image4.svg"/><Relationship Id="rId12" Type="http://schemas.openxmlformats.org/officeDocument/2006/relationships/image" Target="../media/image5.png"/><Relationship Id="rId13" Type="http://schemas.openxmlformats.org/officeDocument/2006/relationships/image" Target="../media/image6.svg"/><Relationship Id="rId14" Type="http://schemas.openxmlformats.org/officeDocument/2006/relationships/image" Target="../media/image49.png"/><Relationship Id="rId15" Type="http://schemas.openxmlformats.org/officeDocument/2006/relationships/image" Target="../media/image50.svg"/><Relationship Id="rId16" Type="http://schemas.openxmlformats.org/officeDocument/2006/relationships/image" Target="../media/image51.png"/><Relationship Id="rId17" Type="http://schemas.openxmlformats.org/officeDocument/2006/relationships/image" Target="../media/image52.sv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Relationship Id="rId3" Type="http://schemas.openxmlformats.org/officeDocument/2006/relationships/image" Target="../media/image42.svg"/><Relationship Id="rId4" Type="http://schemas.openxmlformats.org/officeDocument/2006/relationships/image" Target="../media/image43.png"/><Relationship Id="rId5" Type="http://schemas.openxmlformats.org/officeDocument/2006/relationships/image" Target="../media/image44.svg"/><Relationship Id="rId6" Type="http://schemas.openxmlformats.org/officeDocument/2006/relationships/image" Target="../media/image45.png"/><Relationship Id="rId7" Type="http://schemas.openxmlformats.org/officeDocument/2006/relationships/image" Target="../media/image46.svg"/><Relationship Id="rId8" Type="http://schemas.openxmlformats.org/officeDocument/2006/relationships/image" Target="../media/image47.png"/><Relationship Id="rId9" Type="http://schemas.openxmlformats.org/officeDocument/2006/relationships/image" Target="../media/image48.svg"/><Relationship Id="rId10" Type="http://schemas.openxmlformats.org/officeDocument/2006/relationships/image" Target="../media/image3.png"/><Relationship Id="rId11" Type="http://schemas.openxmlformats.org/officeDocument/2006/relationships/image" Target="../media/image4.svg"/><Relationship Id="rId12" Type="http://schemas.openxmlformats.org/officeDocument/2006/relationships/image" Target="../media/image5.png"/><Relationship Id="rId13" Type="http://schemas.openxmlformats.org/officeDocument/2006/relationships/image" Target="../media/image6.svg"/><Relationship Id="rId14" Type="http://schemas.openxmlformats.org/officeDocument/2006/relationships/image" Target="../media/image53.png"/><Relationship Id="rId15" Type="http://schemas.openxmlformats.org/officeDocument/2006/relationships/image" Target="../media/image54.svg"/><Relationship Id="rId16" Type="http://schemas.openxmlformats.org/officeDocument/2006/relationships/image" Target="../media/image55.png"/><Relationship Id="rId17" Type="http://schemas.openxmlformats.org/officeDocument/2006/relationships/image" Target="../media/image56.svg"/><Relationship Id="rId18" Type="http://schemas.openxmlformats.org/officeDocument/2006/relationships/image" Target="../media/image57.png"/><Relationship Id="rId19" Type="http://schemas.openxmlformats.org/officeDocument/2006/relationships/image" Target="../media/image58.svg"/><Relationship Id="rId20" Type="http://schemas.openxmlformats.org/officeDocument/2006/relationships/image" Target="../media/image51.png"/><Relationship Id="rId21" Type="http://schemas.openxmlformats.org/officeDocument/2006/relationships/image" Target="../media/image52.sv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228600" y="228600"/>
            <a:ext cx="11734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400" b="1" lang="ko-KR">
                <a:solidFill>
                  <a:srgbClr val="232F3E"/>
                </a:solidFill>
                <a:latin typeface="Arial"/>
                <a:ea typeface="Malgun Gothic"/>
                <a:cs typeface="Malgun Gothic"/>
              </a:rPr>
              <a:t>Internet-facing NLB</a:t>
            </a:r>
          </a:p>
        </p:txBody>
      </p:sp>
      <p:grpSp>
        <p:nvGrpSpPr>
          <p:cNvPr id="3" name="Architecture diagram"/>
          <p:cNvGrpSpPr/>
          <p:nvPr/>
        </p:nvGrpSpPr>
        <p:grpSpPr>
          <a:xfrm>
            <a:off x="2806433" y="1033462"/>
            <a:ext cx="6586110" cy="5476875"/>
            <a:chOff x="2806433" y="1033462"/>
            <a:chExt cx="6586110" cy="5476875"/>
          </a:xfrm>
        </p:grpSpPr>
        <p:pic>
          <p:nvPicPr>
            <p:cNvPr id="4" name="Users" descr="Users"/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858988" y="3995142"/>
              <a:ext cx="357188" cy="357188"/>
            </a:xfrm>
            <a:prstGeom prst="rect">
              <a:avLst/>
            </a:prstGeom>
          </p:spPr>
        </p:pic>
        <p:sp>
          <p:nvSpPr>
            <p:cNvPr id="5" name="TextBox 4"/>
            <p:cNvSpPr txBox="1"/>
            <p:nvPr/>
          </p:nvSpPr>
          <p:spPr>
            <a:xfrm>
              <a:off x="2806433" y="4387304"/>
              <a:ext cx="462297" cy="135434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820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Users</a:t>
              </a:r>
            </a:p>
          </p:txBody>
        </p:sp>
        <p:sp>
          <p:nvSpPr>
            <p:cNvPr id="6" name="Rectangle 5"/>
            <p:cNvSpPr/>
            <p:nvPr/>
          </p:nvSpPr>
          <p:spPr>
            <a:xfrm>
              <a:off x="3826371" y="1033462"/>
              <a:ext cx="5566172" cy="5476875"/>
            </a:xfrm>
            <a:prstGeom prst="rect">
              <a:avLst/>
            </a:prstGeom>
            <a:noFill/>
            <a:ln w="14883">
              <a:solidFill>
                <a:srgbClr val="232F3E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7" name="AWS-Cloud-logo_32" descr="AWS Cloud logo_32"/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3826371" y="1033462"/>
              <a:ext cx="238125" cy="238125"/>
            </a:xfrm>
            <a:prstGeom prst="rect">
              <a:avLst/>
            </a:prstGeom>
          </p:spPr>
        </p:pic>
        <p:sp>
          <p:nvSpPr>
            <p:cNvPr id="8" name="TextBox 7"/>
            <p:cNvSpPr txBox="1"/>
            <p:nvPr/>
          </p:nvSpPr>
          <p:spPr>
            <a:xfrm>
              <a:off x="4138910" y="1091133"/>
              <a:ext cx="802277" cy="14510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878" b="1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AWS Cloud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3975199" y="1331119"/>
              <a:ext cx="5268516" cy="5030391"/>
            </a:xfrm>
            <a:prstGeom prst="rect">
              <a:avLst/>
            </a:prstGeom>
            <a:noFill/>
            <a:ln w="14883">
              <a:solidFill>
                <a:srgbClr val="00A4A6"/>
              </a:solidFill>
              <a:custDash>
                <a:ds d="150000" sp="150000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10" name="Region_32" descr="Region_32"/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3975199" y="1331119"/>
              <a:ext cx="178594" cy="178594"/>
            </a:xfrm>
            <a:prstGeom prst="rect">
              <a:avLst/>
            </a:prstGeom>
          </p:spPr>
        </p:pic>
        <p:sp>
          <p:nvSpPr>
            <p:cNvPr id="11" name="TextBox 10"/>
            <p:cNvSpPr txBox="1"/>
            <p:nvPr/>
          </p:nvSpPr>
          <p:spPr>
            <a:xfrm>
              <a:off x="4213324" y="1366093"/>
              <a:ext cx="533921" cy="135434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820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Region</a:t>
              </a:r>
            </a:p>
          </p:txBody>
        </p:sp>
        <p:pic>
          <p:nvPicPr>
            <p:cNvPr id="12" name="Amazon-Route-53" descr="Amazon Route 53"/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4987230" y="1569244"/>
              <a:ext cx="357188" cy="357188"/>
            </a:xfrm>
            <a:prstGeom prst="rect">
              <a:avLst/>
            </a:prstGeom>
          </p:spPr>
        </p:pic>
        <p:sp>
          <p:nvSpPr>
            <p:cNvPr id="13" name="TextBox 12"/>
            <p:cNvSpPr txBox="1"/>
            <p:nvPr/>
          </p:nvSpPr>
          <p:spPr>
            <a:xfrm>
              <a:off x="4827240" y="1961406"/>
              <a:ext cx="677168" cy="135434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820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Route 53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4599347" y="2094607"/>
              <a:ext cx="1132954" cy="11608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703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DNS → NLB (alias)</a:t>
              </a:r>
            </a:p>
          </p:txBody>
        </p:sp>
        <p:pic>
          <p:nvPicPr>
            <p:cNvPr id="15" name="AWS-Certificate-Manager" descr="AWS Certificate Manager"/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6177855" y="1569244"/>
              <a:ext cx="357188" cy="357188"/>
            </a:xfrm>
            <a:prstGeom prst="rect">
              <a:avLst/>
            </a:prstGeom>
          </p:spPr>
        </p:pic>
        <p:sp>
          <p:nvSpPr>
            <p:cNvPr id="16" name="TextBox 15"/>
            <p:cNvSpPr txBox="1"/>
            <p:nvPr/>
          </p:nvSpPr>
          <p:spPr>
            <a:xfrm>
              <a:off x="6196924" y="1961406"/>
              <a:ext cx="319050" cy="135434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820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ACM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5823458" y="2094607"/>
              <a:ext cx="1065981" cy="11608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703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TLS 리스너 인증서</a:t>
              </a:r>
            </a:p>
          </p:txBody>
        </p:sp>
        <p:pic>
          <p:nvPicPr>
            <p:cNvPr id="18" name="Amazon-CloudWatch" descr="Amazon CloudWatch"/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7368480" y="1569244"/>
              <a:ext cx="357188" cy="357188"/>
            </a:xfrm>
            <a:prstGeom prst="rect">
              <a:avLst/>
            </a:prstGeom>
          </p:spPr>
        </p:pic>
        <p:sp>
          <p:nvSpPr>
            <p:cNvPr id="19" name="TextBox 18"/>
            <p:cNvSpPr txBox="1"/>
            <p:nvPr/>
          </p:nvSpPr>
          <p:spPr>
            <a:xfrm>
              <a:off x="7136867" y="1961406"/>
              <a:ext cx="820415" cy="135434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820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CloudWatch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6841071" y="2094607"/>
              <a:ext cx="1412007" cy="11608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703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지표 · 경보 · 상태 확인</a:t>
              </a:r>
            </a:p>
          </p:txBody>
        </p:sp>
        <p:pic>
          <p:nvPicPr>
            <p:cNvPr id="21" name="Amazon-Simple-Storage-Service" descr="Amazon Simple Storage Service"/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8559105" y="1569244"/>
              <a:ext cx="357188" cy="357188"/>
            </a:xfrm>
            <a:prstGeom prst="rect">
              <a:avLst/>
            </a:prstGeom>
          </p:spPr>
        </p:pic>
        <p:sp>
          <p:nvSpPr>
            <p:cNvPr id="22" name="TextBox 21"/>
            <p:cNvSpPr txBox="1"/>
            <p:nvPr/>
          </p:nvSpPr>
          <p:spPr>
            <a:xfrm>
              <a:off x="8613986" y="1961406"/>
              <a:ext cx="247427" cy="135434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820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S3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8260519" y="2094607"/>
              <a:ext cx="954360" cy="11608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703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NLB 액세스 로그</a:t>
              </a:r>
            </a:p>
          </p:txBody>
        </p:sp>
        <p:sp>
          <p:nvSpPr>
            <p:cNvPr id="24" name="Rectangle 23"/>
            <p:cNvSpPr/>
            <p:nvPr/>
          </p:nvSpPr>
          <p:spPr>
            <a:xfrm>
              <a:off x="4421684" y="2298502"/>
              <a:ext cx="4673203" cy="3824883"/>
            </a:xfrm>
            <a:prstGeom prst="rect">
              <a:avLst/>
            </a:prstGeom>
            <a:noFill/>
            <a:ln w="14883">
              <a:solidFill>
                <a:srgbClr val="8C4FFF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25" name="Virtual-private-cloud-VPC_32" descr="Virtual private cloud VPC_32"/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4421684" y="2298502"/>
              <a:ext cx="178594" cy="178594"/>
            </a:xfrm>
            <a:prstGeom prst="rect">
              <a:avLst/>
            </a:prstGeom>
          </p:spPr>
        </p:pic>
        <p:sp>
          <p:nvSpPr>
            <p:cNvPr id="26" name="TextBox 25"/>
            <p:cNvSpPr txBox="1"/>
            <p:nvPr/>
          </p:nvSpPr>
          <p:spPr>
            <a:xfrm>
              <a:off x="4659809" y="2333476"/>
              <a:ext cx="1178533" cy="135434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820" b="1" lang="ko-KR">
                  <a:solidFill>
                    <a:srgbClr val="8C4FFF"/>
                  </a:solidFill>
                  <a:latin typeface="Arial"/>
                  <a:ea typeface="Malgun Gothic"/>
                  <a:cs typeface="Malgun Gothic"/>
                </a:rPr>
                <a:t>VPC 10.0.0.0/16</a:t>
              </a:r>
            </a:p>
          </p:txBody>
        </p:sp>
        <p:sp>
          <p:nvSpPr>
            <p:cNvPr id="27" name="Rectangle 26"/>
            <p:cNvSpPr/>
            <p:nvPr/>
          </p:nvSpPr>
          <p:spPr>
            <a:xfrm>
              <a:off x="4570512" y="2521744"/>
              <a:ext cx="4375547" cy="1384102"/>
            </a:xfrm>
            <a:prstGeom prst="rect">
              <a:avLst/>
            </a:prstGeom>
            <a:noFill/>
            <a:ln w="11162">
              <a:solidFill>
                <a:srgbClr val="00A4A6"/>
              </a:solidFill>
              <a:custDash>
                <a:ds d="533333" sp="266667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4659809" y="2556718"/>
              <a:ext cx="1465027" cy="135434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820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Availability Zone 1</a:t>
              </a:r>
            </a:p>
          </p:txBody>
        </p:sp>
        <p:sp>
          <p:nvSpPr>
            <p:cNvPr id="29" name="Rectangle 28"/>
            <p:cNvSpPr/>
            <p:nvPr/>
          </p:nvSpPr>
          <p:spPr>
            <a:xfrm>
              <a:off x="4570512" y="4590455"/>
              <a:ext cx="4375547" cy="1384102"/>
            </a:xfrm>
            <a:prstGeom prst="rect">
              <a:avLst/>
            </a:prstGeom>
            <a:noFill/>
            <a:ln w="11162">
              <a:solidFill>
                <a:srgbClr val="00A4A6"/>
              </a:solidFill>
              <a:custDash>
                <a:ds d="533333" sp="266667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4659809" y="4625429"/>
              <a:ext cx="1465027" cy="135434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820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Availability Zone 2</a:t>
              </a:r>
            </a:p>
          </p:txBody>
        </p:sp>
        <p:sp>
          <p:nvSpPr>
            <p:cNvPr id="31" name="Rectangle 30"/>
            <p:cNvSpPr/>
            <p:nvPr/>
          </p:nvSpPr>
          <p:spPr>
            <a:xfrm>
              <a:off x="4659809" y="2730103"/>
              <a:ext cx="1190625" cy="1086445"/>
            </a:xfrm>
            <a:prstGeom prst="rect">
              <a:avLst/>
            </a:prstGeom>
            <a:noFill/>
            <a:ln w="11162">
              <a:solidFill>
                <a:srgbClr val="7AA11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32" name="Public-subnet_32" descr="Public subnet_32"/>
            <p:cNvPicPr>
              <a:picLocks noChangeAspect="1"/>
            </p:cNvPicPr>
            <p:nvPr/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4659809" y="2730103"/>
              <a:ext cx="178594" cy="178594"/>
            </a:xfrm>
            <a:prstGeom prst="rect">
              <a:avLst/>
            </a:prstGeom>
          </p:spPr>
        </p:pic>
        <p:sp>
          <p:nvSpPr>
            <p:cNvPr id="33" name="TextBox 32"/>
            <p:cNvSpPr txBox="1"/>
            <p:nvPr/>
          </p:nvSpPr>
          <p:spPr>
            <a:xfrm>
              <a:off x="4897934" y="2765078"/>
              <a:ext cx="1035286" cy="135434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820" b="1" lang="ko-KR">
                  <a:solidFill>
                    <a:srgbClr val="7AA116"/>
                  </a:solidFill>
                  <a:latin typeface="Arial"/>
                  <a:ea typeface="Malgun Gothic"/>
                  <a:cs typeface="Malgun Gothic"/>
                </a:rPr>
                <a:t>Public subnet</a:t>
              </a:r>
            </a:p>
          </p:txBody>
        </p:sp>
        <p:sp>
          <p:nvSpPr>
            <p:cNvPr id="34" name="Rectangle 33"/>
            <p:cNvSpPr/>
            <p:nvPr/>
          </p:nvSpPr>
          <p:spPr>
            <a:xfrm>
              <a:off x="6029027" y="2730103"/>
              <a:ext cx="2827734" cy="1086445"/>
            </a:xfrm>
            <a:prstGeom prst="rect">
              <a:avLst/>
            </a:prstGeom>
            <a:noFill/>
            <a:ln w="11162">
              <a:solidFill>
                <a:srgbClr val="00A4A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35" name="Private-subnet_32" descr="Private subnet_32"/>
            <p:cNvPicPr>
              <a:picLocks noChangeAspect="1"/>
            </p:cNvPicPr>
            <p:nvPr/>
          </p:nvPicPr>
          <p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6029027" y="2730103"/>
              <a:ext cx="178594" cy="178594"/>
            </a:xfrm>
            <a:prstGeom prst="rect">
              <a:avLst/>
            </a:prstGeom>
          </p:spPr>
        </p:pic>
        <p:sp>
          <p:nvSpPr>
            <p:cNvPr id="36" name="TextBox 35"/>
            <p:cNvSpPr txBox="1"/>
            <p:nvPr/>
          </p:nvSpPr>
          <p:spPr>
            <a:xfrm>
              <a:off x="6267152" y="2765078"/>
              <a:ext cx="1106909" cy="135434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820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Private subnet</a:t>
              </a:r>
            </a:p>
          </p:txBody>
        </p:sp>
        <p:sp>
          <p:nvSpPr>
            <p:cNvPr id="37" name="Rectangle 36"/>
            <p:cNvSpPr/>
            <p:nvPr/>
          </p:nvSpPr>
          <p:spPr>
            <a:xfrm>
              <a:off x="4659809" y="4798814"/>
              <a:ext cx="1190625" cy="1086445"/>
            </a:xfrm>
            <a:prstGeom prst="rect">
              <a:avLst/>
            </a:prstGeom>
            <a:noFill/>
            <a:ln w="11162">
              <a:solidFill>
                <a:srgbClr val="7AA11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38" name="Public-subnet_32" descr="Public subnet_32"/>
            <p:cNvPicPr>
              <a:picLocks noChangeAspect="1"/>
            </p:cNvPicPr>
            <p:nvPr/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4659809" y="4798814"/>
              <a:ext cx="178594" cy="178594"/>
            </a:xfrm>
            <a:prstGeom prst="rect">
              <a:avLst/>
            </a:prstGeom>
          </p:spPr>
        </p:pic>
        <p:sp>
          <p:nvSpPr>
            <p:cNvPr id="39" name="TextBox 38"/>
            <p:cNvSpPr txBox="1"/>
            <p:nvPr/>
          </p:nvSpPr>
          <p:spPr>
            <a:xfrm>
              <a:off x="4897934" y="4833789"/>
              <a:ext cx="1035286" cy="135434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820" b="1" lang="ko-KR">
                  <a:solidFill>
                    <a:srgbClr val="7AA116"/>
                  </a:solidFill>
                  <a:latin typeface="Arial"/>
                  <a:ea typeface="Malgun Gothic"/>
                  <a:cs typeface="Malgun Gothic"/>
                </a:rPr>
                <a:t>Public subnet</a:t>
              </a:r>
            </a:p>
          </p:txBody>
        </p:sp>
        <p:sp>
          <p:nvSpPr>
            <p:cNvPr id="40" name="Rectangle 39"/>
            <p:cNvSpPr/>
            <p:nvPr/>
          </p:nvSpPr>
          <p:spPr>
            <a:xfrm>
              <a:off x="6029027" y="4798814"/>
              <a:ext cx="2827734" cy="1086445"/>
            </a:xfrm>
            <a:prstGeom prst="rect">
              <a:avLst/>
            </a:prstGeom>
            <a:noFill/>
            <a:ln w="11162">
              <a:solidFill>
                <a:srgbClr val="00A4A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41" name="Private-subnet_32" descr="Private subnet_32"/>
            <p:cNvPicPr>
              <a:picLocks noChangeAspect="1"/>
            </p:cNvPicPr>
            <p:nvPr/>
          </p:nvPicPr>
          <p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6029027" y="4798814"/>
              <a:ext cx="178594" cy="178594"/>
            </a:xfrm>
            <a:prstGeom prst="rect">
              <a:avLst/>
            </a:prstGeom>
          </p:spPr>
        </p:pic>
        <p:sp>
          <p:nvSpPr>
            <p:cNvPr id="42" name="TextBox 41"/>
            <p:cNvSpPr txBox="1"/>
            <p:nvPr/>
          </p:nvSpPr>
          <p:spPr>
            <a:xfrm>
              <a:off x="6267152" y="4833789"/>
              <a:ext cx="1106909" cy="135434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820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Private subnet</a:t>
              </a:r>
            </a:p>
          </p:txBody>
        </p:sp>
        <p:pic>
          <p:nvPicPr>
            <p:cNvPr id="43" name="Amazon-VPC_NAT-Gateway" descr="Amazon VPC_NAT Gateway"/>
            <p:cNvPicPr>
              <a:picLocks noChangeAspect="1"/>
            </p:cNvPicPr>
            <p:nvPr/>
          </p:nvPicPr>
          <p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p:blipFill>
          <p:spPr>
            <a:xfrm>
              <a:off x="5076527" y="3146822"/>
              <a:ext cx="357188" cy="357188"/>
            </a:xfrm>
            <a:prstGeom prst="rect">
              <a:avLst/>
            </a:prstGeom>
          </p:spPr>
        </p:pic>
        <p:sp>
          <p:nvSpPr>
            <p:cNvPr id="44" name="TextBox 43"/>
            <p:cNvSpPr txBox="1"/>
            <p:nvPr/>
          </p:nvSpPr>
          <p:spPr>
            <a:xfrm>
              <a:off x="4809102" y="3538984"/>
              <a:ext cx="892039" cy="135434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820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NAT gateway</a:t>
              </a:r>
            </a:p>
          </p:txBody>
        </p:sp>
        <p:pic>
          <p:nvPicPr>
            <p:cNvPr id="45" name="Amazon-VPC_NAT-Gateway" descr="Amazon VPC_NAT Gateway"/>
            <p:cNvPicPr>
              <a:picLocks noChangeAspect="1"/>
            </p:cNvPicPr>
            <p:nvPr/>
          </p:nvPicPr>
          <p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p:blipFill>
          <p:spPr>
            <a:xfrm>
              <a:off x="5076527" y="5215533"/>
              <a:ext cx="357188" cy="357188"/>
            </a:xfrm>
            <a:prstGeom prst="rect">
              <a:avLst/>
            </a:prstGeom>
          </p:spPr>
        </p:pic>
        <p:sp>
          <p:nvSpPr>
            <p:cNvPr id="46" name="TextBox 45"/>
            <p:cNvSpPr txBox="1"/>
            <p:nvPr/>
          </p:nvSpPr>
          <p:spPr>
            <a:xfrm>
              <a:off x="4809102" y="5607695"/>
              <a:ext cx="892039" cy="135434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820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NAT gateway</a:t>
              </a:r>
            </a:p>
          </p:txBody>
        </p:sp>
        <p:sp>
          <p:nvSpPr>
            <p:cNvPr id="47" name="Rectangle 46"/>
            <p:cNvSpPr/>
            <p:nvPr/>
          </p:nvSpPr>
          <p:spPr>
            <a:xfrm>
              <a:off x="7219652" y="2923580"/>
              <a:ext cx="1518047" cy="2872383"/>
            </a:xfrm>
            <a:prstGeom prst="rect">
              <a:avLst/>
            </a:prstGeom>
            <a:noFill/>
            <a:ln w="11162">
              <a:solidFill>
                <a:srgbClr val="ED7100"/>
              </a:solidFill>
              <a:custDash>
                <a:ds d="400000" sp="200000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48" name="Auto-Scaling-group_32" descr="Auto Scaling group_32"/>
            <p:cNvPicPr>
              <a:picLocks noChangeAspect="1"/>
            </p:cNvPicPr>
            <p:nvPr/>
          </p:nvPicPr>
          <p:blipFill>
            <a:blip r:embed="rId24">
              <a:extLst>
                <a:ext uri="{96DAC541-7B7A-43D3-8B79-37D633B846F1}">
                  <asvg:svgBlip xmlns:asvg="http://schemas.microsoft.com/office/drawing/2016/SVG/main" r:embed="rId25"/>
                </a:ext>
              </a:extLst>
            </a:blip>
            <a:stretch>
              <a:fillRect/>
            </a:stretch>
          </p:blipFill>
          <p:spPr>
            <a:xfrm>
              <a:off x="7219652" y="2923580"/>
              <a:ext cx="178594" cy="178594"/>
            </a:xfrm>
            <a:prstGeom prst="rect">
              <a:avLst/>
            </a:prstGeom>
          </p:spPr>
        </p:pic>
        <p:sp>
          <p:nvSpPr>
            <p:cNvPr id="49" name="TextBox 48"/>
            <p:cNvSpPr txBox="1"/>
            <p:nvPr/>
          </p:nvSpPr>
          <p:spPr>
            <a:xfrm>
              <a:off x="7457777" y="2965624"/>
              <a:ext cx="1293875" cy="12576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761" b="1" lang="ko-KR">
                  <a:solidFill>
                    <a:srgbClr val="ED7100"/>
                  </a:solidFill>
                  <a:latin typeface="Arial"/>
                  <a:ea typeface="Malgun Gothic"/>
                  <a:cs typeface="Malgun Gothic"/>
                </a:rPr>
                <a:t>ASG · target group</a:t>
              </a:r>
            </a:p>
          </p:txBody>
        </p:sp>
        <p:pic>
          <p:nvPicPr>
            <p:cNvPr id="50" name="Amazon-EC2" descr="Amazon EC2"/>
            <p:cNvPicPr>
              <a:picLocks noChangeAspect="1"/>
            </p:cNvPicPr>
            <p:nvPr/>
          </p:nvPicPr>
          <p:blipFill>
            <a:blip r:embed="rId26">
              <a:extLst>
                <a:ext uri="{96DAC541-7B7A-43D3-8B79-37D633B846F1}">
                  <asvg:svgBlip xmlns:asvg="http://schemas.microsoft.com/office/drawing/2016/SVG/main" r:embed="rId27"/>
                </a:ext>
              </a:extLst>
            </a:blip>
            <a:stretch>
              <a:fillRect/>
            </a:stretch>
          </p:blipFill>
          <p:spPr>
            <a:xfrm>
              <a:off x="7442895" y="3146822"/>
              <a:ext cx="357188" cy="357188"/>
            </a:xfrm>
            <a:prstGeom prst="rect">
              <a:avLst/>
            </a:prstGeom>
          </p:spPr>
        </p:pic>
        <p:sp>
          <p:nvSpPr>
            <p:cNvPr id="51" name="TextBox 50"/>
            <p:cNvSpPr txBox="1"/>
            <p:nvPr/>
          </p:nvSpPr>
          <p:spPr>
            <a:xfrm>
              <a:off x="7461963" y="3538984"/>
              <a:ext cx="319050" cy="135434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820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EC2</a:t>
              </a:r>
            </a:p>
          </p:txBody>
        </p:sp>
        <p:pic>
          <p:nvPicPr>
            <p:cNvPr id="52" name="Amazon-EC2" descr="Amazon EC2"/>
            <p:cNvPicPr>
              <a:picLocks noChangeAspect="1"/>
            </p:cNvPicPr>
            <p:nvPr/>
          </p:nvPicPr>
          <p:blipFill>
            <a:blip r:embed="rId26">
              <a:extLst>
                <a:ext uri="{96DAC541-7B7A-43D3-8B79-37D633B846F1}">
                  <asvg:svgBlip xmlns:asvg="http://schemas.microsoft.com/office/drawing/2016/SVG/main" r:embed="rId27"/>
                </a:ext>
              </a:extLst>
            </a:blip>
            <a:stretch>
              <a:fillRect/>
            </a:stretch>
          </p:blipFill>
          <p:spPr>
            <a:xfrm>
              <a:off x="8187035" y="3146822"/>
              <a:ext cx="357188" cy="357188"/>
            </a:xfrm>
            <a:prstGeom prst="rect">
              <a:avLst/>
            </a:prstGeom>
          </p:spPr>
        </p:pic>
        <p:sp>
          <p:nvSpPr>
            <p:cNvPr id="53" name="TextBox 52"/>
            <p:cNvSpPr txBox="1"/>
            <p:nvPr/>
          </p:nvSpPr>
          <p:spPr>
            <a:xfrm>
              <a:off x="8206104" y="3538984"/>
              <a:ext cx="319050" cy="135434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820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EC2</a:t>
              </a:r>
            </a:p>
          </p:txBody>
        </p:sp>
        <p:pic>
          <p:nvPicPr>
            <p:cNvPr id="54" name="Amazon-EC2" descr="Amazon EC2"/>
            <p:cNvPicPr>
              <a:picLocks noChangeAspect="1"/>
            </p:cNvPicPr>
            <p:nvPr/>
          </p:nvPicPr>
          <p:blipFill>
            <a:blip r:embed="rId26">
              <a:extLst>
                <a:ext uri="{96DAC541-7B7A-43D3-8B79-37D633B846F1}">
                  <asvg:svgBlip xmlns:asvg="http://schemas.microsoft.com/office/drawing/2016/SVG/main" r:embed="rId27"/>
                </a:ext>
              </a:extLst>
            </a:blip>
            <a:stretch>
              <a:fillRect/>
            </a:stretch>
          </p:blipFill>
          <p:spPr>
            <a:xfrm>
              <a:off x="7442895" y="5215533"/>
              <a:ext cx="357188" cy="357188"/>
            </a:xfrm>
            <a:prstGeom prst="rect">
              <a:avLst/>
            </a:prstGeom>
          </p:spPr>
        </p:pic>
        <p:sp>
          <p:nvSpPr>
            <p:cNvPr id="55" name="TextBox 54"/>
            <p:cNvSpPr txBox="1"/>
            <p:nvPr/>
          </p:nvSpPr>
          <p:spPr>
            <a:xfrm>
              <a:off x="7461963" y="5607695"/>
              <a:ext cx="319050" cy="135434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820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EC2</a:t>
              </a:r>
            </a:p>
          </p:txBody>
        </p:sp>
        <p:pic>
          <p:nvPicPr>
            <p:cNvPr id="56" name="Amazon-EC2" descr="Amazon EC2"/>
            <p:cNvPicPr>
              <a:picLocks noChangeAspect="1"/>
            </p:cNvPicPr>
            <p:nvPr/>
          </p:nvPicPr>
          <p:blipFill>
            <a:blip r:embed="rId26">
              <a:extLst>
                <a:ext uri="{96DAC541-7B7A-43D3-8B79-37D633B846F1}">
                  <asvg:svgBlip xmlns:asvg="http://schemas.microsoft.com/office/drawing/2016/SVG/main" r:embed="rId27"/>
                </a:ext>
              </a:extLst>
            </a:blip>
            <a:stretch>
              <a:fillRect/>
            </a:stretch>
          </p:blipFill>
          <p:spPr>
            <a:xfrm>
              <a:off x="8187035" y="5215533"/>
              <a:ext cx="357188" cy="357188"/>
            </a:xfrm>
            <a:prstGeom prst="rect">
              <a:avLst/>
            </a:prstGeom>
          </p:spPr>
        </p:pic>
        <p:sp>
          <p:nvSpPr>
            <p:cNvPr id="57" name="TextBox 56"/>
            <p:cNvSpPr txBox="1"/>
            <p:nvPr/>
          </p:nvSpPr>
          <p:spPr>
            <a:xfrm>
              <a:off x="8206104" y="5607695"/>
              <a:ext cx="319050" cy="135434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820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EC2</a:t>
              </a:r>
            </a:p>
          </p:txBody>
        </p:sp>
        <p:pic>
          <p:nvPicPr>
            <p:cNvPr id="58" name="Elastic-Load-Balancing_Network-Load-Balancer" descr="Elastic Load Balancing_Network Load Balancer"/>
            <p:cNvPicPr>
              <a:picLocks noChangeAspect="1"/>
            </p:cNvPicPr>
            <p:nvPr/>
          </p:nvPicPr>
          <p:blipFill>
            <a:blip r:embed="rId28">
              <a:extLst>
                <a:ext uri="{96DAC541-7B7A-43D3-8B79-37D633B846F1}">
                  <asvg:svgBlip xmlns:asvg="http://schemas.microsoft.com/office/drawing/2016/SVG/main" r:embed="rId29"/>
                </a:ext>
              </a:extLst>
            </a:blip>
            <a:stretch>
              <a:fillRect/>
            </a:stretch>
          </p:blipFill>
          <p:spPr>
            <a:xfrm>
              <a:off x="5076527" y="3995142"/>
              <a:ext cx="357188" cy="357188"/>
            </a:xfrm>
            <a:prstGeom prst="rect">
              <a:avLst/>
            </a:prstGeom>
          </p:spPr>
        </p:pic>
        <p:sp>
          <p:nvSpPr>
            <p:cNvPr id="59" name="TextBox 58"/>
            <p:cNvSpPr txBox="1"/>
            <p:nvPr/>
          </p:nvSpPr>
          <p:spPr>
            <a:xfrm>
              <a:off x="5095596" y="4387304"/>
              <a:ext cx="319050" cy="135434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820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NLB</a:t>
              </a:r>
            </a:p>
          </p:txBody>
        </p:sp>
        <p:sp>
          <p:nvSpPr>
            <p:cNvPr id="60" name="Rectangle 59"/>
            <p:cNvSpPr/>
            <p:nvPr/>
          </p:nvSpPr>
          <p:spPr>
            <a:xfrm>
              <a:off x="4243090" y="3995142"/>
              <a:ext cx="357188" cy="520898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61" name="Amazon-VPC_Internet-Gateway" descr="Amazon VPC_Internet Gateway"/>
            <p:cNvPicPr>
              <a:picLocks noChangeAspect="1"/>
            </p:cNvPicPr>
            <p:nvPr/>
          </p:nvPicPr>
          <p:blipFill>
            <a:blip r:embed="rId30">
              <a:extLst>
                <a:ext uri="{96DAC541-7B7A-43D3-8B79-37D633B846F1}">
                  <asvg:svgBlip xmlns:asvg="http://schemas.microsoft.com/office/drawing/2016/SVG/main" r:embed="rId31"/>
                </a:ext>
              </a:extLst>
            </a:blip>
            <a:stretch>
              <a:fillRect/>
            </a:stretch>
          </p:blipFill>
          <p:spPr>
            <a:xfrm>
              <a:off x="4243090" y="3995142"/>
              <a:ext cx="357188" cy="357188"/>
            </a:xfrm>
            <a:prstGeom prst="rect">
              <a:avLst/>
            </a:prstGeom>
          </p:spPr>
        </p:pic>
        <p:sp>
          <p:nvSpPr>
            <p:cNvPr id="62" name="TextBox 61"/>
            <p:cNvSpPr txBox="1"/>
            <p:nvPr/>
          </p:nvSpPr>
          <p:spPr>
            <a:xfrm>
              <a:off x="4262158" y="4387304"/>
              <a:ext cx="319050" cy="135434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820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IGW</a:t>
              </a:r>
            </a:p>
          </p:txBody>
        </p:sp>
        <p:cxnSp>
          <p:nvCxnSpPr>
            <p:cNvPr id="63" name="Connector 62"/>
            <p:cNvCxnSpPr/>
            <p:nvPr/>
          </p:nvCxnSpPr>
          <p:spPr>
            <a:xfrm>
              <a:off x="4630043" y="4173736"/>
              <a:ext cx="416719" cy="0"/>
            </a:xfrm>
            <a:prstGeom prst="line">
              <a:avLst/>
            </a:prstGeom>
            <a:ln w="11162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</p:cxnSp>
        <p:cxnSp>
          <p:nvCxnSpPr>
            <p:cNvPr id="64" name="Connector 63"/>
            <p:cNvCxnSpPr/>
            <p:nvPr/>
          </p:nvCxnSpPr>
          <p:spPr>
            <a:xfrm>
              <a:off x="5463480" y="4173736"/>
              <a:ext cx="1726407" cy="0"/>
            </a:xfrm>
            <a:prstGeom prst="line">
              <a:avLst/>
            </a:prstGeom>
            <a:ln w="11162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</p:cxnSp>
        <p:sp>
          <p:nvSpPr>
            <p:cNvPr id="65" name="TextBox 64"/>
            <p:cNvSpPr txBox="1"/>
            <p:nvPr/>
          </p:nvSpPr>
          <p:spPr>
            <a:xfrm>
              <a:off x="6036469" y="4021931"/>
              <a:ext cx="580430" cy="11608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703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TCP :443</a:t>
              </a:r>
            </a:p>
          </p:txBody>
        </p:sp>
        <p:cxnSp>
          <p:nvCxnSpPr>
            <p:cNvPr id="66" name="Connector 65"/>
            <p:cNvCxnSpPr/>
            <p:nvPr/>
          </p:nvCxnSpPr>
          <p:spPr>
            <a:xfrm flipH="1">
              <a:off x="5463480" y="3325416"/>
              <a:ext cx="1726407" cy="0"/>
            </a:xfrm>
            <a:prstGeom prst="line">
              <a:avLst/>
            </a:prstGeom>
            <a:ln w="11162">
              <a:solidFill>
                <a:srgbClr val="232F3E"/>
              </a:solidFill>
              <a:custDash>
                <a:ds d="333333" sp="266667"/>
              </a:custDash>
              <a:miter lim="800000"/>
              <a:tailEnd type="triangle" w="med" len="med"/>
            </a:ln>
          </p:spPr>
        </p:cxnSp>
        <p:sp>
          <p:nvSpPr>
            <p:cNvPr id="67" name="TextBox 66"/>
            <p:cNvSpPr txBox="1"/>
            <p:nvPr/>
          </p:nvSpPr>
          <p:spPr>
            <a:xfrm>
              <a:off x="6300639" y="3181052"/>
              <a:ext cx="647402" cy="11608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703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아웃바운드</a:t>
              </a:r>
            </a:p>
          </p:txBody>
        </p:sp>
        <p:cxnSp>
          <p:nvCxnSpPr>
            <p:cNvPr id="68" name="Connector 67"/>
            <p:cNvCxnSpPr/>
            <p:nvPr/>
          </p:nvCxnSpPr>
          <p:spPr>
            <a:xfrm flipH="1">
              <a:off x="5463480" y="5394127"/>
              <a:ext cx="1726407" cy="0"/>
            </a:xfrm>
            <a:prstGeom prst="line">
              <a:avLst/>
            </a:prstGeom>
            <a:ln w="11162">
              <a:solidFill>
                <a:srgbClr val="232F3E"/>
              </a:solidFill>
              <a:custDash>
                <a:ds d="333333" sp="266667"/>
              </a:custDash>
              <a:miter lim="800000"/>
              <a:tailEnd type="triangle" w="med" len="med"/>
            </a:ln>
          </p:spPr>
        </p:cxnSp>
        <p:sp>
          <p:nvSpPr>
            <p:cNvPr id="69" name="TextBox 68"/>
            <p:cNvSpPr txBox="1"/>
            <p:nvPr/>
          </p:nvSpPr>
          <p:spPr>
            <a:xfrm>
              <a:off x="6300639" y="5249763"/>
              <a:ext cx="647402" cy="11608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703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아웃바운드</a:t>
              </a:r>
            </a:p>
          </p:txBody>
        </p:sp>
        <p:sp>
          <p:nvSpPr>
            <p:cNvPr id="70" name="TextBox 69"/>
            <p:cNvSpPr txBox="1"/>
            <p:nvPr/>
          </p:nvSpPr>
          <p:spPr>
            <a:xfrm>
              <a:off x="4697016" y="6187380"/>
              <a:ext cx="4397871" cy="11608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r">
                <a:lnSpc>
                  <a:spcPct val="100000"/>
                </a:lnSpc>
              </a:pPr>
              <a:r>
                <a:rPr sz="703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Internet-facing NLB · 두 AZ의 퍼블릭 서브넷에 걸친 단일 관리형 로드 밸런서</a:t>
              </a:r>
            </a:p>
          </p:txBody>
        </p:sp>
        <p:cxnSp>
          <p:nvCxnSpPr>
            <p:cNvPr id="71" name="Connector 70"/>
            <p:cNvCxnSpPr/>
            <p:nvPr/>
          </p:nvCxnSpPr>
          <p:spPr>
            <a:xfrm>
              <a:off x="3245941" y="4173736"/>
              <a:ext cx="967383" cy="0"/>
            </a:xfrm>
            <a:prstGeom prst="line">
              <a:avLst/>
            </a:prstGeom>
            <a:ln w="11162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</p:cxnSp>
        <p:sp>
          <p:nvSpPr>
            <p:cNvPr id="72" name="TextBox 71"/>
            <p:cNvSpPr txBox="1"/>
            <p:nvPr/>
          </p:nvSpPr>
          <p:spPr>
            <a:xfrm>
              <a:off x="3178969" y="4021931"/>
              <a:ext cx="580430" cy="11608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703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TLS :443</a:t>
              </a:r>
            </a:p>
          </p:txBody>
        </p:sp>
        <p:sp>
          <p:nvSpPr>
            <p:cNvPr id="73" name="Freeform 72"/>
            <p:cNvSpPr/>
            <p:nvPr/>
          </p:nvSpPr>
          <p:spPr>
            <a:xfrm>
              <a:off x="3037582" y="1747838"/>
              <a:ext cx="1919883" cy="2217539"/>
            </a:xfrm>
            <a:custGeom>
              <a:avLst/>
              <a:gdLst/>
              <a:ahLst/>
              <a:cxnLst/>
              <a:rect l="l" t="t" r="r" b="b"/>
              <a:pathLst>
                <a:path w="1919883" h="2217539">
                  <a:moveTo>
                    <a:pt x="0" y="2217539"/>
                  </a:moveTo>
                  <a:lnTo>
                    <a:pt x="0" y="0"/>
                  </a:lnTo>
                  <a:lnTo>
                    <a:pt x="1919883" y="0"/>
                  </a:lnTo>
                </a:path>
              </a:pathLst>
            </a:custGeom>
            <a:noFill/>
            <a:ln w="11162">
              <a:solidFill>
                <a:srgbClr val="232F3E"/>
              </a:solidFill>
              <a:custDash>
                <a:ds d="333333" sp="266667"/>
              </a:custDash>
              <a:miter lim="800000"/>
              <a:tailEnd type="triangle" w="med" len="med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4" name="TextBox 73"/>
            <p:cNvSpPr txBox="1"/>
            <p:nvPr/>
          </p:nvSpPr>
          <p:spPr>
            <a:xfrm>
              <a:off x="4217045" y="1603474"/>
              <a:ext cx="558105" cy="11608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703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DNS 조회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228600" y="228600"/>
            <a:ext cx="11734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400" b="1" lang="ko-KR">
                <a:solidFill>
                  <a:srgbClr val="232F3E"/>
                </a:solidFill>
                <a:latin typeface="Arial"/>
                <a:ea typeface="Malgun Gothic"/>
                <a:cs typeface="Malgun Gothic"/>
              </a:rPr>
              <a:t>3-tier web app with ALB, AWS WAF and RDS Multi-AZ</a:t>
            </a:r>
          </a:p>
        </p:txBody>
      </p:sp>
      <p:grpSp>
        <p:nvGrpSpPr>
          <p:cNvPr id="3" name="Architecture diagram"/>
          <p:cNvGrpSpPr/>
          <p:nvPr/>
        </p:nvGrpSpPr>
        <p:grpSpPr>
          <a:xfrm>
            <a:off x="1913465" y="1033462"/>
            <a:ext cx="8401812" cy="5476875"/>
            <a:chOff x="1913465" y="1033462"/>
            <a:chExt cx="8401812" cy="5476875"/>
          </a:xfrm>
        </p:grpSpPr>
        <p:pic>
          <p:nvPicPr>
            <p:cNvPr id="4" name="Users" descr="Users"/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966020" y="3995142"/>
              <a:ext cx="357188" cy="357188"/>
            </a:xfrm>
            <a:prstGeom prst="rect">
              <a:avLst/>
            </a:prstGeom>
          </p:spPr>
        </p:pic>
        <p:sp>
          <p:nvSpPr>
            <p:cNvPr id="5" name="TextBox 4"/>
            <p:cNvSpPr txBox="1"/>
            <p:nvPr/>
          </p:nvSpPr>
          <p:spPr>
            <a:xfrm>
              <a:off x="1913465" y="4387304"/>
              <a:ext cx="462297" cy="135434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820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Users</a:t>
              </a:r>
            </a:p>
          </p:txBody>
        </p:sp>
        <p:sp>
          <p:nvSpPr>
            <p:cNvPr id="6" name="Rectangle 5"/>
            <p:cNvSpPr/>
            <p:nvPr/>
          </p:nvSpPr>
          <p:spPr>
            <a:xfrm>
              <a:off x="2933402" y="1033462"/>
              <a:ext cx="7381875" cy="5476875"/>
            </a:xfrm>
            <a:prstGeom prst="rect">
              <a:avLst/>
            </a:prstGeom>
            <a:noFill/>
            <a:ln w="14883">
              <a:solidFill>
                <a:srgbClr val="232F3E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7" name="AWS-Cloud-logo_32" descr="AWS Cloud logo_32"/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933402" y="1033462"/>
              <a:ext cx="238125" cy="238125"/>
            </a:xfrm>
            <a:prstGeom prst="rect">
              <a:avLst/>
            </a:prstGeom>
          </p:spPr>
        </p:pic>
        <p:sp>
          <p:nvSpPr>
            <p:cNvPr id="8" name="TextBox 7"/>
            <p:cNvSpPr txBox="1"/>
            <p:nvPr/>
          </p:nvSpPr>
          <p:spPr>
            <a:xfrm>
              <a:off x="3245941" y="1091133"/>
              <a:ext cx="802277" cy="14510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878" b="1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AWS Cloud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3082230" y="1331119"/>
              <a:ext cx="7084219" cy="5030391"/>
            </a:xfrm>
            <a:prstGeom prst="rect">
              <a:avLst/>
            </a:prstGeom>
            <a:noFill/>
            <a:ln w="14883">
              <a:solidFill>
                <a:srgbClr val="00A4A6"/>
              </a:solidFill>
              <a:custDash>
                <a:ds d="150000" sp="150000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10" name="Region_32" descr="Region_32"/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3082230" y="1331119"/>
              <a:ext cx="178594" cy="178594"/>
            </a:xfrm>
            <a:prstGeom prst="rect">
              <a:avLst/>
            </a:prstGeom>
          </p:spPr>
        </p:pic>
        <p:sp>
          <p:nvSpPr>
            <p:cNvPr id="11" name="TextBox 10"/>
            <p:cNvSpPr txBox="1"/>
            <p:nvPr/>
          </p:nvSpPr>
          <p:spPr>
            <a:xfrm>
              <a:off x="3320355" y="1366093"/>
              <a:ext cx="533921" cy="135434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820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Region</a:t>
              </a:r>
            </a:p>
          </p:txBody>
        </p:sp>
        <p:pic>
          <p:nvPicPr>
            <p:cNvPr id="12" name="Amazon-Route-53" descr="Amazon Route 53"/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4094262" y="1569244"/>
              <a:ext cx="357188" cy="357188"/>
            </a:xfrm>
            <a:prstGeom prst="rect">
              <a:avLst/>
            </a:prstGeom>
          </p:spPr>
        </p:pic>
        <p:sp>
          <p:nvSpPr>
            <p:cNvPr id="13" name="TextBox 12"/>
            <p:cNvSpPr txBox="1"/>
            <p:nvPr/>
          </p:nvSpPr>
          <p:spPr>
            <a:xfrm>
              <a:off x="3934271" y="1961406"/>
              <a:ext cx="677168" cy="135434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820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Route 53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3706378" y="2094607"/>
              <a:ext cx="1132954" cy="11608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703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DNS → ALB (alias)</a:t>
              </a:r>
            </a:p>
          </p:txBody>
        </p:sp>
        <p:pic>
          <p:nvPicPr>
            <p:cNvPr id="15" name="AWS-Certificate-Manager" descr="AWS Certificate Manager"/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5284887" y="1569244"/>
              <a:ext cx="357188" cy="357188"/>
            </a:xfrm>
            <a:prstGeom prst="rect">
              <a:avLst/>
            </a:prstGeom>
          </p:spPr>
        </p:pic>
        <p:sp>
          <p:nvSpPr>
            <p:cNvPr id="16" name="TextBox 15"/>
            <p:cNvSpPr txBox="1"/>
            <p:nvPr/>
          </p:nvSpPr>
          <p:spPr>
            <a:xfrm>
              <a:off x="5303955" y="1961406"/>
              <a:ext cx="319050" cy="135434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820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ACM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4869098" y="2094607"/>
              <a:ext cx="1188765" cy="11608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703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HTTPS 리스너 인증서</a:t>
              </a:r>
            </a:p>
          </p:txBody>
        </p:sp>
        <p:pic>
          <p:nvPicPr>
            <p:cNvPr id="18" name="AWS-WAF" descr="AWS WAF"/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6475512" y="1569244"/>
              <a:ext cx="357188" cy="357188"/>
            </a:xfrm>
            <a:prstGeom prst="rect">
              <a:avLst/>
            </a:prstGeom>
          </p:spPr>
        </p:pic>
        <p:sp>
          <p:nvSpPr>
            <p:cNvPr id="19" name="TextBox 18"/>
            <p:cNvSpPr txBox="1"/>
            <p:nvPr/>
          </p:nvSpPr>
          <p:spPr>
            <a:xfrm>
              <a:off x="6351333" y="1961406"/>
              <a:ext cx="605544" cy="135434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820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AWS WAF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6017865" y="2094607"/>
              <a:ext cx="1272480" cy="11608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703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ALB에 연결한 Web ACL</a:t>
              </a:r>
            </a:p>
          </p:txBody>
        </p:sp>
        <p:pic>
          <p:nvPicPr>
            <p:cNvPr id="21" name="Amazon-CloudWatch" descr="Amazon CloudWatch"/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7666137" y="1569244"/>
              <a:ext cx="357188" cy="357188"/>
            </a:xfrm>
            <a:prstGeom prst="rect">
              <a:avLst/>
            </a:prstGeom>
          </p:spPr>
        </p:pic>
        <p:sp>
          <p:nvSpPr>
            <p:cNvPr id="22" name="TextBox 21"/>
            <p:cNvSpPr txBox="1"/>
            <p:nvPr/>
          </p:nvSpPr>
          <p:spPr>
            <a:xfrm>
              <a:off x="7434523" y="1961406"/>
              <a:ext cx="820415" cy="135434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820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CloudWatch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7484752" y="2094607"/>
              <a:ext cx="719956" cy="11608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703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지표 · 경보</a:t>
              </a:r>
            </a:p>
          </p:txBody>
        </p:sp>
        <p:pic>
          <p:nvPicPr>
            <p:cNvPr id="24" name="Amazon-Simple-Storage-Service" descr="Amazon Simple Storage Service"/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8856762" y="1569244"/>
              <a:ext cx="357188" cy="357188"/>
            </a:xfrm>
            <a:prstGeom prst="rect">
              <a:avLst/>
            </a:prstGeom>
          </p:spPr>
        </p:pic>
        <p:sp>
          <p:nvSpPr>
            <p:cNvPr id="25" name="TextBox 24"/>
            <p:cNvSpPr txBox="1"/>
            <p:nvPr/>
          </p:nvSpPr>
          <p:spPr>
            <a:xfrm>
              <a:off x="8911642" y="1961406"/>
              <a:ext cx="247427" cy="135434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820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S3</a:t>
              </a:r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8558175" y="2094607"/>
              <a:ext cx="954360" cy="11608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703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ALB 액세스 로그</a:t>
              </a:r>
            </a:p>
          </p:txBody>
        </p:sp>
        <p:sp>
          <p:nvSpPr>
            <p:cNvPr id="27" name="Rectangle 26"/>
            <p:cNvSpPr/>
            <p:nvPr/>
          </p:nvSpPr>
          <p:spPr>
            <a:xfrm>
              <a:off x="3528715" y="2298502"/>
              <a:ext cx="6488906" cy="3824883"/>
            </a:xfrm>
            <a:prstGeom prst="rect">
              <a:avLst/>
            </a:prstGeom>
            <a:noFill/>
            <a:ln w="14883">
              <a:solidFill>
                <a:srgbClr val="8C4FFF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28" name="Virtual-private-cloud-VPC_32" descr="Virtual private cloud VPC_32"/>
            <p:cNvPicPr>
              <a:picLocks noChangeAspect="1"/>
            </p:cNvPicPr>
            <p:nvPr/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3528715" y="2298502"/>
              <a:ext cx="178594" cy="178594"/>
            </a:xfrm>
            <a:prstGeom prst="rect">
              <a:avLst/>
            </a:prstGeom>
          </p:spPr>
        </p:pic>
        <p:sp>
          <p:nvSpPr>
            <p:cNvPr id="29" name="TextBox 28"/>
            <p:cNvSpPr txBox="1"/>
            <p:nvPr/>
          </p:nvSpPr>
          <p:spPr>
            <a:xfrm>
              <a:off x="3766840" y="2333476"/>
              <a:ext cx="1178533" cy="135434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820" b="1" lang="ko-KR">
                  <a:solidFill>
                    <a:srgbClr val="8C4FFF"/>
                  </a:solidFill>
                  <a:latin typeface="Arial"/>
                  <a:ea typeface="Malgun Gothic"/>
                  <a:cs typeface="Malgun Gothic"/>
                </a:rPr>
                <a:t>VPC 10.0.0.0/16</a:t>
              </a:r>
            </a:p>
          </p:txBody>
        </p:sp>
        <p:sp>
          <p:nvSpPr>
            <p:cNvPr id="30" name="Rectangle 29"/>
            <p:cNvSpPr/>
            <p:nvPr/>
          </p:nvSpPr>
          <p:spPr>
            <a:xfrm>
              <a:off x="3677543" y="2521744"/>
              <a:ext cx="6191250" cy="1384102"/>
            </a:xfrm>
            <a:prstGeom prst="rect">
              <a:avLst/>
            </a:prstGeom>
            <a:noFill/>
            <a:ln w="11162">
              <a:solidFill>
                <a:srgbClr val="00A4A6"/>
              </a:solidFill>
              <a:custDash>
                <a:ds d="533333" sp="266667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3766840" y="2556718"/>
              <a:ext cx="1465027" cy="135434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820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Availability Zone 1</a:t>
              </a:r>
            </a:p>
          </p:txBody>
        </p:sp>
        <p:sp>
          <p:nvSpPr>
            <p:cNvPr id="32" name="Rectangle 31"/>
            <p:cNvSpPr/>
            <p:nvPr/>
          </p:nvSpPr>
          <p:spPr>
            <a:xfrm>
              <a:off x="3677543" y="4590455"/>
              <a:ext cx="6191250" cy="1384102"/>
            </a:xfrm>
            <a:prstGeom prst="rect">
              <a:avLst/>
            </a:prstGeom>
            <a:noFill/>
            <a:ln w="11162">
              <a:solidFill>
                <a:srgbClr val="00A4A6"/>
              </a:solidFill>
              <a:custDash>
                <a:ds d="533333" sp="266667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3766840" y="4625429"/>
              <a:ext cx="1465027" cy="135434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820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Availability Zone 2</a:t>
              </a:r>
            </a:p>
          </p:txBody>
        </p:sp>
        <p:sp>
          <p:nvSpPr>
            <p:cNvPr id="34" name="Rectangle 33"/>
            <p:cNvSpPr/>
            <p:nvPr/>
          </p:nvSpPr>
          <p:spPr>
            <a:xfrm>
              <a:off x="3766840" y="2730103"/>
              <a:ext cx="1190625" cy="1086445"/>
            </a:xfrm>
            <a:prstGeom prst="rect">
              <a:avLst/>
            </a:prstGeom>
            <a:noFill/>
            <a:ln w="11162">
              <a:solidFill>
                <a:srgbClr val="7AA11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35" name="Public-subnet_32" descr="Public subnet_32"/>
            <p:cNvPicPr>
              <a:picLocks noChangeAspect="1"/>
            </p:cNvPicPr>
            <p:nvPr/>
          </p:nvPicPr>
          <p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3766840" y="2730103"/>
              <a:ext cx="178594" cy="178594"/>
            </a:xfrm>
            <a:prstGeom prst="rect">
              <a:avLst/>
            </a:prstGeom>
          </p:spPr>
        </p:pic>
        <p:sp>
          <p:nvSpPr>
            <p:cNvPr id="36" name="TextBox 35"/>
            <p:cNvSpPr txBox="1"/>
            <p:nvPr/>
          </p:nvSpPr>
          <p:spPr>
            <a:xfrm>
              <a:off x="4004965" y="2765078"/>
              <a:ext cx="1035286" cy="135434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820" b="1" lang="ko-KR">
                  <a:solidFill>
                    <a:srgbClr val="7AA116"/>
                  </a:solidFill>
                  <a:latin typeface="Arial"/>
                  <a:ea typeface="Malgun Gothic"/>
                  <a:cs typeface="Malgun Gothic"/>
                </a:rPr>
                <a:t>Public subnet</a:t>
              </a:r>
            </a:p>
          </p:txBody>
        </p:sp>
        <p:sp>
          <p:nvSpPr>
            <p:cNvPr id="37" name="Rectangle 36"/>
            <p:cNvSpPr/>
            <p:nvPr/>
          </p:nvSpPr>
          <p:spPr>
            <a:xfrm>
              <a:off x="5136059" y="2730103"/>
              <a:ext cx="2827734" cy="1086445"/>
            </a:xfrm>
            <a:prstGeom prst="rect">
              <a:avLst/>
            </a:prstGeom>
            <a:noFill/>
            <a:ln w="11162">
              <a:solidFill>
                <a:srgbClr val="00A4A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38" name="Private-subnet_32" descr="Private subnet_32"/>
            <p:cNvPicPr>
              <a:picLocks noChangeAspect="1"/>
            </p:cNvPicPr>
            <p:nvPr/>
          </p:nvPicPr>
          <p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p:blipFill>
          <p:spPr>
            <a:xfrm>
              <a:off x="5136059" y="2730103"/>
              <a:ext cx="178594" cy="178594"/>
            </a:xfrm>
            <a:prstGeom prst="rect">
              <a:avLst/>
            </a:prstGeom>
          </p:spPr>
        </p:pic>
        <p:sp>
          <p:nvSpPr>
            <p:cNvPr id="39" name="TextBox 38"/>
            <p:cNvSpPr txBox="1"/>
            <p:nvPr/>
          </p:nvSpPr>
          <p:spPr>
            <a:xfrm>
              <a:off x="5374184" y="2765078"/>
              <a:ext cx="820415" cy="135434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820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App subnet</a:t>
              </a:r>
            </a:p>
          </p:txBody>
        </p:sp>
        <p:sp>
          <p:nvSpPr>
            <p:cNvPr id="40" name="Rectangle 39"/>
            <p:cNvSpPr/>
            <p:nvPr/>
          </p:nvSpPr>
          <p:spPr>
            <a:xfrm>
              <a:off x="8142387" y="2730103"/>
              <a:ext cx="1637109" cy="1086445"/>
            </a:xfrm>
            <a:prstGeom prst="rect">
              <a:avLst/>
            </a:prstGeom>
            <a:noFill/>
            <a:ln w="11162">
              <a:solidFill>
                <a:srgbClr val="00A4A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41" name="Private-subnet_32" descr="Private subnet_32"/>
            <p:cNvPicPr>
              <a:picLocks noChangeAspect="1"/>
            </p:cNvPicPr>
            <p:nvPr/>
          </p:nvPicPr>
          <p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p:blipFill>
          <p:spPr>
            <a:xfrm>
              <a:off x="8142387" y="2730103"/>
              <a:ext cx="178594" cy="178594"/>
            </a:xfrm>
            <a:prstGeom prst="rect">
              <a:avLst/>
            </a:prstGeom>
          </p:spPr>
        </p:pic>
        <p:sp>
          <p:nvSpPr>
            <p:cNvPr id="42" name="TextBox 41"/>
            <p:cNvSpPr txBox="1"/>
            <p:nvPr/>
          </p:nvSpPr>
          <p:spPr>
            <a:xfrm>
              <a:off x="8380512" y="2765078"/>
              <a:ext cx="748792" cy="135434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820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DB subnet</a:t>
              </a:r>
            </a:p>
          </p:txBody>
        </p:sp>
        <p:sp>
          <p:nvSpPr>
            <p:cNvPr id="43" name="Rectangle 42"/>
            <p:cNvSpPr/>
            <p:nvPr/>
          </p:nvSpPr>
          <p:spPr>
            <a:xfrm>
              <a:off x="3766840" y="4798814"/>
              <a:ext cx="1190625" cy="1086445"/>
            </a:xfrm>
            <a:prstGeom prst="rect">
              <a:avLst/>
            </a:prstGeom>
            <a:noFill/>
            <a:ln w="11162">
              <a:solidFill>
                <a:srgbClr val="7AA11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44" name="Public-subnet_32" descr="Public subnet_32"/>
            <p:cNvPicPr>
              <a:picLocks noChangeAspect="1"/>
            </p:cNvPicPr>
            <p:nvPr/>
          </p:nvPicPr>
          <p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3766840" y="4798814"/>
              <a:ext cx="178594" cy="178594"/>
            </a:xfrm>
            <a:prstGeom prst="rect">
              <a:avLst/>
            </a:prstGeom>
          </p:spPr>
        </p:pic>
        <p:sp>
          <p:nvSpPr>
            <p:cNvPr id="45" name="TextBox 44"/>
            <p:cNvSpPr txBox="1"/>
            <p:nvPr/>
          </p:nvSpPr>
          <p:spPr>
            <a:xfrm>
              <a:off x="4004965" y="4833789"/>
              <a:ext cx="1035286" cy="135434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820" b="1" lang="ko-KR">
                  <a:solidFill>
                    <a:srgbClr val="7AA116"/>
                  </a:solidFill>
                  <a:latin typeface="Arial"/>
                  <a:ea typeface="Malgun Gothic"/>
                  <a:cs typeface="Malgun Gothic"/>
                </a:rPr>
                <a:t>Public subnet</a:t>
              </a:r>
            </a:p>
          </p:txBody>
        </p:sp>
        <p:sp>
          <p:nvSpPr>
            <p:cNvPr id="46" name="Rectangle 45"/>
            <p:cNvSpPr/>
            <p:nvPr/>
          </p:nvSpPr>
          <p:spPr>
            <a:xfrm>
              <a:off x="5136059" y="4798814"/>
              <a:ext cx="2827734" cy="1086445"/>
            </a:xfrm>
            <a:prstGeom prst="rect">
              <a:avLst/>
            </a:prstGeom>
            <a:noFill/>
            <a:ln w="11162">
              <a:solidFill>
                <a:srgbClr val="00A4A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47" name="Private-subnet_32" descr="Private subnet_32"/>
            <p:cNvPicPr>
              <a:picLocks noChangeAspect="1"/>
            </p:cNvPicPr>
            <p:nvPr/>
          </p:nvPicPr>
          <p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p:blipFill>
          <p:spPr>
            <a:xfrm>
              <a:off x="5136059" y="4798814"/>
              <a:ext cx="178594" cy="178594"/>
            </a:xfrm>
            <a:prstGeom prst="rect">
              <a:avLst/>
            </a:prstGeom>
          </p:spPr>
        </p:pic>
        <p:sp>
          <p:nvSpPr>
            <p:cNvPr id="48" name="TextBox 47"/>
            <p:cNvSpPr txBox="1"/>
            <p:nvPr/>
          </p:nvSpPr>
          <p:spPr>
            <a:xfrm>
              <a:off x="5374184" y="4833789"/>
              <a:ext cx="820415" cy="135434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820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App subnet</a:t>
              </a:r>
            </a:p>
          </p:txBody>
        </p:sp>
        <p:sp>
          <p:nvSpPr>
            <p:cNvPr id="49" name="Rectangle 48"/>
            <p:cNvSpPr/>
            <p:nvPr/>
          </p:nvSpPr>
          <p:spPr>
            <a:xfrm>
              <a:off x="8142387" y="4798814"/>
              <a:ext cx="1637109" cy="1086445"/>
            </a:xfrm>
            <a:prstGeom prst="rect">
              <a:avLst/>
            </a:prstGeom>
            <a:noFill/>
            <a:ln w="11162">
              <a:solidFill>
                <a:srgbClr val="00A4A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50" name="Private-subnet_32" descr="Private subnet_32"/>
            <p:cNvPicPr>
              <a:picLocks noChangeAspect="1"/>
            </p:cNvPicPr>
            <p:nvPr/>
          </p:nvPicPr>
          <p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p:blipFill>
          <p:spPr>
            <a:xfrm>
              <a:off x="8142387" y="4798814"/>
              <a:ext cx="178594" cy="178594"/>
            </a:xfrm>
            <a:prstGeom prst="rect">
              <a:avLst/>
            </a:prstGeom>
          </p:spPr>
        </p:pic>
        <p:sp>
          <p:nvSpPr>
            <p:cNvPr id="51" name="TextBox 50"/>
            <p:cNvSpPr txBox="1"/>
            <p:nvPr/>
          </p:nvSpPr>
          <p:spPr>
            <a:xfrm>
              <a:off x="8380512" y="4833789"/>
              <a:ext cx="748792" cy="135434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820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DB subnet</a:t>
              </a:r>
            </a:p>
          </p:txBody>
        </p:sp>
        <p:pic>
          <p:nvPicPr>
            <p:cNvPr id="52" name="Amazon-VPC_NAT-Gateway" descr="Amazon VPC_NAT Gateway"/>
            <p:cNvPicPr>
              <a:picLocks noChangeAspect="1"/>
            </p:cNvPicPr>
            <p:nvPr/>
          </p:nvPicPr>
          <p:blipFill>
            <a:blip r:embed="rId24">
              <a:extLst>
                <a:ext uri="{96DAC541-7B7A-43D3-8B79-37D633B846F1}">
                  <asvg:svgBlip xmlns:asvg="http://schemas.microsoft.com/office/drawing/2016/SVG/main" r:embed="rId25"/>
                </a:ext>
              </a:extLst>
            </a:blip>
            <a:stretch>
              <a:fillRect/>
            </a:stretch>
          </p:blipFill>
          <p:spPr>
            <a:xfrm>
              <a:off x="4183559" y="3146822"/>
              <a:ext cx="357188" cy="357188"/>
            </a:xfrm>
            <a:prstGeom prst="rect">
              <a:avLst/>
            </a:prstGeom>
          </p:spPr>
        </p:pic>
        <p:sp>
          <p:nvSpPr>
            <p:cNvPr id="53" name="TextBox 52"/>
            <p:cNvSpPr txBox="1"/>
            <p:nvPr/>
          </p:nvSpPr>
          <p:spPr>
            <a:xfrm>
              <a:off x="3916133" y="3538984"/>
              <a:ext cx="892039" cy="135434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820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NAT gateway</a:t>
              </a:r>
            </a:p>
          </p:txBody>
        </p:sp>
        <p:pic>
          <p:nvPicPr>
            <p:cNvPr id="54" name="Amazon-VPC_NAT-Gateway" descr="Amazon VPC_NAT Gateway"/>
            <p:cNvPicPr>
              <a:picLocks noChangeAspect="1"/>
            </p:cNvPicPr>
            <p:nvPr/>
          </p:nvPicPr>
          <p:blipFill>
            <a:blip r:embed="rId24">
              <a:extLst>
                <a:ext uri="{96DAC541-7B7A-43D3-8B79-37D633B846F1}">
                  <asvg:svgBlip xmlns:asvg="http://schemas.microsoft.com/office/drawing/2016/SVG/main" r:embed="rId25"/>
                </a:ext>
              </a:extLst>
            </a:blip>
            <a:stretch>
              <a:fillRect/>
            </a:stretch>
          </p:blipFill>
          <p:spPr>
            <a:xfrm>
              <a:off x="4183559" y="5215533"/>
              <a:ext cx="357188" cy="357188"/>
            </a:xfrm>
            <a:prstGeom prst="rect">
              <a:avLst/>
            </a:prstGeom>
          </p:spPr>
        </p:pic>
        <p:sp>
          <p:nvSpPr>
            <p:cNvPr id="55" name="TextBox 54"/>
            <p:cNvSpPr txBox="1"/>
            <p:nvPr/>
          </p:nvSpPr>
          <p:spPr>
            <a:xfrm>
              <a:off x="3916133" y="5607695"/>
              <a:ext cx="892039" cy="135434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820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NAT gateway</a:t>
              </a:r>
            </a:p>
          </p:txBody>
        </p:sp>
        <p:sp>
          <p:nvSpPr>
            <p:cNvPr id="56" name="Rectangle 55"/>
            <p:cNvSpPr/>
            <p:nvPr/>
          </p:nvSpPr>
          <p:spPr>
            <a:xfrm>
              <a:off x="6326684" y="2923580"/>
              <a:ext cx="1518047" cy="2872383"/>
            </a:xfrm>
            <a:prstGeom prst="rect">
              <a:avLst/>
            </a:prstGeom>
            <a:noFill/>
            <a:ln w="11162">
              <a:solidFill>
                <a:srgbClr val="ED7100"/>
              </a:solidFill>
              <a:custDash>
                <a:ds d="400000" sp="200000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57" name="Auto-Scaling-group_32" descr="Auto Scaling group_32"/>
            <p:cNvPicPr>
              <a:picLocks noChangeAspect="1"/>
            </p:cNvPicPr>
            <p:nvPr/>
          </p:nvPicPr>
          <p:blipFill>
            <a:blip r:embed="rId26">
              <a:extLst>
                <a:ext uri="{96DAC541-7B7A-43D3-8B79-37D633B846F1}">
                  <asvg:svgBlip xmlns:asvg="http://schemas.microsoft.com/office/drawing/2016/SVG/main" r:embed="rId27"/>
                </a:ext>
              </a:extLst>
            </a:blip>
            <a:stretch>
              <a:fillRect/>
            </a:stretch>
          </p:blipFill>
          <p:spPr>
            <a:xfrm>
              <a:off x="6326684" y="2923580"/>
              <a:ext cx="178594" cy="178594"/>
            </a:xfrm>
            <a:prstGeom prst="rect">
              <a:avLst/>
            </a:prstGeom>
          </p:spPr>
        </p:pic>
        <p:sp>
          <p:nvSpPr>
            <p:cNvPr id="58" name="TextBox 57"/>
            <p:cNvSpPr txBox="1"/>
            <p:nvPr/>
          </p:nvSpPr>
          <p:spPr>
            <a:xfrm>
              <a:off x="6564809" y="2965624"/>
              <a:ext cx="1293875" cy="12576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761" b="1" lang="ko-KR">
                  <a:solidFill>
                    <a:srgbClr val="ED7100"/>
                  </a:solidFill>
                  <a:latin typeface="Arial"/>
                  <a:ea typeface="Malgun Gothic"/>
                  <a:cs typeface="Malgun Gothic"/>
                </a:rPr>
                <a:t>ASG · target group</a:t>
              </a:r>
            </a:p>
          </p:txBody>
        </p:sp>
        <p:pic>
          <p:nvPicPr>
            <p:cNvPr id="59" name="Amazon-EC2" descr="Amazon EC2"/>
            <p:cNvPicPr>
              <a:picLocks noChangeAspect="1"/>
            </p:cNvPicPr>
            <p:nvPr/>
          </p:nvPicPr>
          <p:blipFill>
            <a:blip r:embed="rId28">
              <a:extLst>
                <a:ext uri="{96DAC541-7B7A-43D3-8B79-37D633B846F1}">
                  <asvg:svgBlip xmlns:asvg="http://schemas.microsoft.com/office/drawing/2016/SVG/main" r:embed="rId29"/>
                </a:ext>
              </a:extLst>
            </a:blip>
            <a:stretch>
              <a:fillRect/>
            </a:stretch>
          </p:blipFill>
          <p:spPr>
            <a:xfrm>
              <a:off x="6549926" y="3146822"/>
              <a:ext cx="357188" cy="357188"/>
            </a:xfrm>
            <a:prstGeom prst="rect">
              <a:avLst/>
            </a:prstGeom>
          </p:spPr>
        </p:pic>
        <p:sp>
          <p:nvSpPr>
            <p:cNvPr id="60" name="TextBox 59"/>
            <p:cNvSpPr txBox="1"/>
            <p:nvPr/>
          </p:nvSpPr>
          <p:spPr>
            <a:xfrm>
              <a:off x="6568994" y="3538984"/>
              <a:ext cx="319050" cy="135434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820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EC2</a:t>
              </a:r>
            </a:p>
          </p:txBody>
        </p:sp>
        <p:pic>
          <p:nvPicPr>
            <p:cNvPr id="61" name="Amazon-EC2" descr="Amazon EC2"/>
            <p:cNvPicPr>
              <a:picLocks noChangeAspect="1"/>
            </p:cNvPicPr>
            <p:nvPr/>
          </p:nvPicPr>
          <p:blipFill>
            <a:blip r:embed="rId28">
              <a:extLst>
                <a:ext uri="{96DAC541-7B7A-43D3-8B79-37D633B846F1}">
                  <asvg:svgBlip xmlns:asvg="http://schemas.microsoft.com/office/drawing/2016/SVG/main" r:embed="rId29"/>
                </a:ext>
              </a:extLst>
            </a:blip>
            <a:stretch>
              <a:fillRect/>
            </a:stretch>
          </p:blipFill>
          <p:spPr>
            <a:xfrm>
              <a:off x="7294066" y="3146822"/>
              <a:ext cx="357188" cy="357188"/>
            </a:xfrm>
            <a:prstGeom prst="rect">
              <a:avLst/>
            </a:prstGeom>
          </p:spPr>
        </p:pic>
        <p:sp>
          <p:nvSpPr>
            <p:cNvPr id="62" name="TextBox 61"/>
            <p:cNvSpPr txBox="1"/>
            <p:nvPr/>
          </p:nvSpPr>
          <p:spPr>
            <a:xfrm>
              <a:off x="7313135" y="3538984"/>
              <a:ext cx="319050" cy="135434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820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EC2</a:t>
              </a:r>
            </a:p>
          </p:txBody>
        </p:sp>
        <p:pic>
          <p:nvPicPr>
            <p:cNvPr id="63" name="Amazon-EC2" descr="Amazon EC2"/>
            <p:cNvPicPr>
              <a:picLocks noChangeAspect="1"/>
            </p:cNvPicPr>
            <p:nvPr/>
          </p:nvPicPr>
          <p:blipFill>
            <a:blip r:embed="rId28">
              <a:extLst>
                <a:ext uri="{96DAC541-7B7A-43D3-8B79-37D633B846F1}">
                  <asvg:svgBlip xmlns:asvg="http://schemas.microsoft.com/office/drawing/2016/SVG/main" r:embed="rId29"/>
                </a:ext>
              </a:extLst>
            </a:blip>
            <a:stretch>
              <a:fillRect/>
            </a:stretch>
          </p:blipFill>
          <p:spPr>
            <a:xfrm>
              <a:off x="6549926" y="5215533"/>
              <a:ext cx="357188" cy="357188"/>
            </a:xfrm>
            <a:prstGeom prst="rect">
              <a:avLst/>
            </a:prstGeom>
          </p:spPr>
        </p:pic>
        <p:sp>
          <p:nvSpPr>
            <p:cNvPr id="64" name="TextBox 63"/>
            <p:cNvSpPr txBox="1"/>
            <p:nvPr/>
          </p:nvSpPr>
          <p:spPr>
            <a:xfrm>
              <a:off x="6568994" y="5607695"/>
              <a:ext cx="319050" cy="135434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820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EC2</a:t>
              </a:r>
            </a:p>
          </p:txBody>
        </p:sp>
        <p:pic>
          <p:nvPicPr>
            <p:cNvPr id="65" name="Amazon-EC2" descr="Amazon EC2"/>
            <p:cNvPicPr>
              <a:picLocks noChangeAspect="1"/>
            </p:cNvPicPr>
            <p:nvPr/>
          </p:nvPicPr>
          <p:blipFill>
            <a:blip r:embed="rId28">
              <a:extLst>
                <a:ext uri="{96DAC541-7B7A-43D3-8B79-37D633B846F1}">
                  <asvg:svgBlip xmlns:asvg="http://schemas.microsoft.com/office/drawing/2016/SVG/main" r:embed="rId29"/>
                </a:ext>
              </a:extLst>
            </a:blip>
            <a:stretch>
              <a:fillRect/>
            </a:stretch>
          </p:blipFill>
          <p:spPr>
            <a:xfrm>
              <a:off x="7294066" y="5215533"/>
              <a:ext cx="357188" cy="357188"/>
            </a:xfrm>
            <a:prstGeom prst="rect">
              <a:avLst/>
            </a:prstGeom>
          </p:spPr>
        </p:pic>
        <p:sp>
          <p:nvSpPr>
            <p:cNvPr id="66" name="TextBox 65"/>
            <p:cNvSpPr txBox="1"/>
            <p:nvPr/>
          </p:nvSpPr>
          <p:spPr>
            <a:xfrm>
              <a:off x="7313135" y="5607695"/>
              <a:ext cx="319050" cy="135434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820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EC2</a:t>
              </a:r>
            </a:p>
          </p:txBody>
        </p:sp>
        <p:pic>
          <p:nvPicPr>
            <p:cNvPr id="67" name="Amazon-RDS" descr="Amazon RDS"/>
            <p:cNvPicPr>
              <a:picLocks noChangeAspect="1"/>
            </p:cNvPicPr>
            <p:nvPr/>
          </p:nvPicPr>
          <p:blipFill>
            <a:blip r:embed="rId30">
              <a:extLst>
                <a:ext uri="{96DAC541-7B7A-43D3-8B79-37D633B846F1}">
                  <asvg:svgBlip xmlns:asvg="http://schemas.microsoft.com/office/drawing/2016/SVG/main" r:embed="rId31"/>
                </a:ext>
              </a:extLst>
            </a:blip>
            <a:stretch>
              <a:fillRect/>
            </a:stretch>
          </p:blipFill>
          <p:spPr>
            <a:xfrm>
              <a:off x="9005590" y="3146822"/>
              <a:ext cx="357188" cy="357188"/>
            </a:xfrm>
            <a:prstGeom prst="rect">
              <a:avLst/>
            </a:prstGeom>
          </p:spPr>
        </p:pic>
        <p:sp>
          <p:nvSpPr>
            <p:cNvPr id="68" name="TextBox 67"/>
            <p:cNvSpPr txBox="1"/>
            <p:nvPr/>
          </p:nvSpPr>
          <p:spPr>
            <a:xfrm>
              <a:off x="8738164" y="3538984"/>
              <a:ext cx="892039" cy="135434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820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RDS Primary</a:t>
              </a:r>
            </a:p>
          </p:txBody>
        </p:sp>
        <p:pic>
          <p:nvPicPr>
            <p:cNvPr id="69" name="Amazon-RDS" descr="Amazon RDS"/>
            <p:cNvPicPr>
              <a:picLocks noChangeAspect="1"/>
            </p:cNvPicPr>
            <p:nvPr/>
          </p:nvPicPr>
          <p:blipFill>
            <a:blip r:embed="rId30">
              <a:extLst>
                <a:ext uri="{96DAC541-7B7A-43D3-8B79-37D633B846F1}">
                  <asvg:svgBlip xmlns:asvg="http://schemas.microsoft.com/office/drawing/2016/SVG/main" r:embed="rId31"/>
                </a:ext>
              </a:extLst>
            </a:blip>
            <a:stretch>
              <a:fillRect/>
            </a:stretch>
          </p:blipFill>
          <p:spPr>
            <a:xfrm>
              <a:off x="9005590" y="5215533"/>
              <a:ext cx="357188" cy="357188"/>
            </a:xfrm>
            <a:prstGeom prst="rect">
              <a:avLst/>
            </a:prstGeom>
          </p:spPr>
        </p:pic>
        <p:sp>
          <p:nvSpPr>
            <p:cNvPr id="70" name="TextBox 69"/>
            <p:cNvSpPr txBox="1"/>
            <p:nvPr/>
          </p:nvSpPr>
          <p:spPr>
            <a:xfrm>
              <a:off x="8738164" y="5607695"/>
              <a:ext cx="892039" cy="135434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820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RDS Standby</a:t>
              </a:r>
            </a:p>
          </p:txBody>
        </p:sp>
        <p:pic>
          <p:nvPicPr>
            <p:cNvPr id="71" name="Elastic-Load-Balancing_Application-Load-Balancer" descr="Elastic Load Balancing_Application Load Balancer"/>
            <p:cNvPicPr>
              <a:picLocks noChangeAspect="1"/>
            </p:cNvPicPr>
            <p:nvPr/>
          </p:nvPicPr>
          <p:blipFill>
            <a:blip r:embed="rId32">
              <a:extLst>
                <a:ext uri="{96DAC541-7B7A-43D3-8B79-37D633B846F1}">
                  <asvg:svgBlip xmlns:asvg="http://schemas.microsoft.com/office/drawing/2016/SVG/main" r:embed="rId33"/>
                </a:ext>
              </a:extLst>
            </a:blip>
            <a:stretch>
              <a:fillRect/>
            </a:stretch>
          </p:blipFill>
          <p:spPr>
            <a:xfrm>
              <a:off x="4183559" y="3995142"/>
              <a:ext cx="357188" cy="357188"/>
            </a:xfrm>
            <a:prstGeom prst="rect">
              <a:avLst/>
            </a:prstGeom>
          </p:spPr>
        </p:pic>
        <p:sp>
          <p:nvSpPr>
            <p:cNvPr id="72" name="TextBox 71"/>
            <p:cNvSpPr txBox="1"/>
            <p:nvPr/>
          </p:nvSpPr>
          <p:spPr>
            <a:xfrm>
              <a:off x="4202627" y="4387304"/>
              <a:ext cx="319050" cy="135434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820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ALB</a:t>
              </a:r>
            </a:p>
          </p:txBody>
        </p:sp>
        <p:sp>
          <p:nvSpPr>
            <p:cNvPr id="73" name="Rectangle 72"/>
            <p:cNvSpPr/>
            <p:nvPr/>
          </p:nvSpPr>
          <p:spPr>
            <a:xfrm>
              <a:off x="3350121" y="3995142"/>
              <a:ext cx="357188" cy="520898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74" name="Amazon-VPC_Internet-Gateway" descr="Amazon VPC_Internet Gateway"/>
            <p:cNvPicPr>
              <a:picLocks noChangeAspect="1"/>
            </p:cNvPicPr>
            <p:nvPr/>
          </p:nvPicPr>
          <p:blipFill>
            <a:blip r:embed="rId34">
              <a:extLst>
                <a:ext uri="{96DAC541-7B7A-43D3-8B79-37D633B846F1}">
                  <asvg:svgBlip xmlns:asvg="http://schemas.microsoft.com/office/drawing/2016/SVG/main" r:embed="rId35"/>
                </a:ext>
              </a:extLst>
            </a:blip>
            <a:stretch>
              <a:fillRect/>
            </a:stretch>
          </p:blipFill>
          <p:spPr>
            <a:xfrm>
              <a:off x="3350121" y="3995142"/>
              <a:ext cx="357188" cy="357188"/>
            </a:xfrm>
            <a:prstGeom prst="rect">
              <a:avLst/>
            </a:prstGeom>
          </p:spPr>
        </p:pic>
        <p:sp>
          <p:nvSpPr>
            <p:cNvPr id="75" name="TextBox 74"/>
            <p:cNvSpPr txBox="1"/>
            <p:nvPr/>
          </p:nvSpPr>
          <p:spPr>
            <a:xfrm>
              <a:off x="3369190" y="4387304"/>
              <a:ext cx="319050" cy="135434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820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IGW</a:t>
              </a:r>
            </a:p>
          </p:txBody>
        </p:sp>
        <p:cxnSp>
          <p:nvCxnSpPr>
            <p:cNvPr id="76" name="Connector 75"/>
            <p:cNvCxnSpPr/>
            <p:nvPr/>
          </p:nvCxnSpPr>
          <p:spPr>
            <a:xfrm>
              <a:off x="3737074" y="4173736"/>
              <a:ext cx="416719" cy="0"/>
            </a:xfrm>
            <a:prstGeom prst="line">
              <a:avLst/>
            </a:prstGeom>
            <a:ln w="11162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</p:cxnSp>
        <p:cxnSp>
          <p:nvCxnSpPr>
            <p:cNvPr id="77" name="Connector 76"/>
            <p:cNvCxnSpPr/>
            <p:nvPr/>
          </p:nvCxnSpPr>
          <p:spPr>
            <a:xfrm>
              <a:off x="4570512" y="4173736"/>
              <a:ext cx="1726406" cy="0"/>
            </a:xfrm>
            <a:prstGeom prst="line">
              <a:avLst/>
            </a:prstGeom>
            <a:ln w="11162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</p:cxnSp>
        <p:sp>
          <p:nvSpPr>
            <p:cNvPr id="78" name="TextBox 77"/>
            <p:cNvSpPr txBox="1"/>
            <p:nvPr/>
          </p:nvSpPr>
          <p:spPr>
            <a:xfrm>
              <a:off x="5143500" y="4021931"/>
              <a:ext cx="580430" cy="11608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703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HTTP :80</a:t>
              </a:r>
            </a:p>
          </p:txBody>
        </p:sp>
        <p:cxnSp>
          <p:nvCxnSpPr>
            <p:cNvPr id="79" name="Connector 78"/>
            <p:cNvCxnSpPr/>
            <p:nvPr/>
          </p:nvCxnSpPr>
          <p:spPr>
            <a:xfrm>
              <a:off x="7874496" y="3325416"/>
              <a:ext cx="1101328" cy="0"/>
            </a:xfrm>
            <a:prstGeom prst="line">
              <a:avLst/>
            </a:prstGeom>
            <a:ln w="11162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</p:cxnSp>
        <p:sp>
          <p:nvSpPr>
            <p:cNvPr id="80" name="TextBox 79"/>
            <p:cNvSpPr txBox="1"/>
            <p:nvPr/>
          </p:nvSpPr>
          <p:spPr>
            <a:xfrm>
              <a:off x="8437252" y="3181052"/>
              <a:ext cx="273472" cy="11608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703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SQL</a:t>
              </a:r>
            </a:p>
          </p:txBody>
        </p:sp>
        <p:cxnSp>
          <p:nvCxnSpPr>
            <p:cNvPr id="81" name="Connector 80"/>
            <p:cNvCxnSpPr/>
            <p:nvPr/>
          </p:nvCxnSpPr>
          <p:spPr>
            <a:xfrm flipH="1">
              <a:off x="4570512" y="3325416"/>
              <a:ext cx="1726406" cy="0"/>
            </a:xfrm>
            <a:prstGeom prst="line">
              <a:avLst/>
            </a:prstGeom>
            <a:ln w="11162">
              <a:solidFill>
                <a:srgbClr val="232F3E"/>
              </a:solidFill>
              <a:custDash>
                <a:ds d="333333" sp="266667"/>
              </a:custDash>
              <a:miter lim="800000"/>
              <a:tailEnd type="triangle" w="med" len="med"/>
            </a:ln>
          </p:spPr>
        </p:cxnSp>
        <p:sp>
          <p:nvSpPr>
            <p:cNvPr id="82" name="TextBox 81"/>
            <p:cNvSpPr txBox="1"/>
            <p:nvPr/>
          </p:nvSpPr>
          <p:spPr>
            <a:xfrm>
              <a:off x="5407670" y="3181052"/>
              <a:ext cx="647402" cy="11608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703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아웃바운드</a:t>
              </a:r>
            </a:p>
          </p:txBody>
        </p:sp>
        <p:cxnSp>
          <p:nvCxnSpPr>
            <p:cNvPr id="83" name="Connector 82"/>
            <p:cNvCxnSpPr/>
            <p:nvPr/>
          </p:nvCxnSpPr>
          <p:spPr>
            <a:xfrm flipH="1">
              <a:off x="4570512" y="5394127"/>
              <a:ext cx="1726406" cy="0"/>
            </a:xfrm>
            <a:prstGeom prst="line">
              <a:avLst/>
            </a:prstGeom>
            <a:ln w="11162">
              <a:solidFill>
                <a:srgbClr val="232F3E"/>
              </a:solidFill>
              <a:custDash>
                <a:ds d="333333" sp="266667"/>
              </a:custDash>
              <a:miter lim="800000"/>
              <a:tailEnd type="triangle" w="med" len="med"/>
            </a:ln>
          </p:spPr>
        </p:cxnSp>
        <p:sp>
          <p:nvSpPr>
            <p:cNvPr id="84" name="TextBox 83"/>
            <p:cNvSpPr txBox="1"/>
            <p:nvPr/>
          </p:nvSpPr>
          <p:spPr>
            <a:xfrm>
              <a:off x="5407670" y="5249763"/>
              <a:ext cx="647402" cy="11608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703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아웃바운드</a:t>
              </a:r>
            </a:p>
          </p:txBody>
        </p:sp>
        <p:cxnSp>
          <p:nvCxnSpPr>
            <p:cNvPr id="85" name="Connector 84"/>
            <p:cNvCxnSpPr/>
            <p:nvPr/>
          </p:nvCxnSpPr>
          <p:spPr>
            <a:xfrm>
              <a:off x="9184184" y="3697486"/>
              <a:ext cx="0" cy="1473398"/>
            </a:xfrm>
            <a:prstGeom prst="line">
              <a:avLst/>
            </a:prstGeom>
            <a:ln w="11162">
              <a:solidFill>
                <a:srgbClr val="232F3E"/>
              </a:solidFill>
              <a:custDash>
                <a:ds d="333333" sp="266667"/>
              </a:custDash>
              <a:miter lim="800000"/>
              <a:tailEnd type="triangle" w="med" len="med"/>
            </a:ln>
          </p:spPr>
        </p:cxnSp>
        <p:sp>
          <p:nvSpPr>
            <p:cNvPr id="86" name="TextBox 85"/>
            <p:cNvSpPr txBox="1"/>
            <p:nvPr/>
          </p:nvSpPr>
          <p:spPr>
            <a:xfrm>
              <a:off x="9258598" y="4193084"/>
              <a:ext cx="708794" cy="11608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703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동기식 복제</a:t>
              </a:r>
            </a:p>
          </p:txBody>
        </p:sp>
        <p:sp>
          <p:nvSpPr>
            <p:cNvPr id="87" name="TextBox 86"/>
            <p:cNvSpPr txBox="1"/>
            <p:nvPr/>
          </p:nvSpPr>
          <p:spPr>
            <a:xfrm>
              <a:off x="3800326" y="6187380"/>
              <a:ext cx="6217295" cy="11608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r">
                <a:lnSpc>
                  <a:spcPct val="100000"/>
                </a:lnSpc>
              </a:pPr>
              <a:r>
                <a:rPr sz="703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Internet-facing ALB · 두 AZ의 퍼블릭 서브넷에 걸친 단일 관리형 로드 밸런서 · AWS WAF 연결 · RDS Multi-AZ</a:t>
              </a:r>
            </a:p>
          </p:txBody>
        </p:sp>
        <p:cxnSp>
          <p:nvCxnSpPr>
            <p:cNvPr id="88" name="Connector 87"/>
            <p:cNvCxnSpPr/>
            <p:nvPr/>
          </p:nvCxnSpPr>
          <p:spPr>
            <a:xfrm>
              <a:off x="2352973" y="4173736"/>
              <a:ext cx="967382" cy="0"/>
            </a:xfrm>
            <a:prstGeom prst="line">
              <a:avLst/>
            </a:prstGeom>
            <a:ln w="11162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</p:cxnSp>
        <p:sp>
          <p:nvSpPr>
            <p:cNvPr id="89" name="TextBox 88"/>
            <p:cNvSpPr txBox="1"/>
            <p:nvPr/>
          </p:nvSpPr>
          <p:spPr>
            <a:xfrm>
              <a:off x="2261815" y="4021931"/>
              <a:ext cx="703213" cy="11608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703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HTTPS :443</a:t>
              </a:r>
            </a:p>
          </p:txBody>
        </p:sp>
        <p:sp>
          <p:nvSpPr>
            <p:cNvPr id="90" name="Freeform 89"/>
            <p:cNvSpPr/>
            <p:nvPr/>
          </p:nvSpPr>
          <p:spPr>
            <a:xfrm>
              <a:off x="2144613" y="1747838"/>
              <a:ext cx="1919883" cy="2217539"/>
            </a:xfrm>
            <a:custGeom>
              <a:avLst/>
              <a:gdLst/>
              <a:ahLst/>
              <a:cxnLst/>
              <a:rect l="l" t="t" r="r" b="b"/>
              <a:pathLst>
                <a:path w="1919883" h="2217539">
                  <a:moveTo>
                    <a:pt x="0" y="2217539"/>
                  </a:moveTo>
                  <a:lnTo>
                    <a:pt x="0" y="0"/>
                  </a:lnTo>
                  <a:lnTo>
                    <a:pt x="1919883" y="0"/>
                  </a:lnTo>
                </a:path>
              </a:pathLst>
            </a:custGeom>
            <a:noFill/>
            <a:ln w="11162">
              <a:solidFill>
                <a:srgbClr val="232F3E"/>
              </a:solidFill>
              <a:custDash>
                <a:ds d="333333" sp="266667"/>
              </a:custDash>
              <a:miter lim="800000"/>
              <a:tailEnd type="triangle" w="med" len="med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1" name="TextBox 90"/>
            <p:cNvSpPr txBox="1"/>
            <p:nvPr/>
          </p:nvSpPr>
          <p:spPr>
            <a:xfrm>
              <a:off x="3324076" y="1603474"/>
              <a:ext cx="558105" cy="11608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703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DNS 조회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228600" y="228600"/>
            <a:ext cx="11734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400" b="1" lang="ko-KR">
                <a:solidFill>
                  <a:srgbClr val="232F3E"/>
                </a:solidFill>
                <a:latin typeface="Arial"/>
                <a:ea typeface="Malgun Gothic"/>
                <a:cs typeface="Malgun Gothic"/>
              </a:rPr>
              <a:t>Distributed inspection with Gateway Load Balancer</a:t>
            </a:r>
          </a:p>
        </p:txBody>
      </p:sp>
      <p:grpSp>
        <p:nvGrpSpPr>
          <p:cNvPr id="3" name="Architecture diagram"/>
          <p:cNvGrpSpPr/>
          <p:nvPr/>
        </p:nvGrpSpPr>
        <p:grpSpPr>
          <a:xfrm>
            <a:off x="1018367" y="1054217"/>
            <a:ext cx="10093550" cy="5435367"/>
            <a:chOff x="1018367" y="1054217"/>
            <a:chExt cx="10093550" cy="5435367"/>
          </a:xfrm>
        </p:grpSpPr>
        <p:pic>
          <p:nvPicPr>
            <p:cNvPr id="4" name="Users" descr="Users"/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080083" y="3588391"/>
              <a:ext cx="419450" cy="419450"/>
            </a:xfrm>
            <a:prstGeom prst="rect">
              <a:avLst/>
            </a:prstGeom>
          </p:spPr>
        </p:pic>
        <p:sp>
          <p:nvSpPr>
            <p:cNvPr id="5" name="TextBox 4"/>
            <p:cNvSpPr txBox="1"/>
            <p:nvPr/>
          </p:nvSpPr>
          <p:spPr>
            <a:xfrm>
              <a:off x="1018367" y="4048911"/>
              <a:ext cx="542881" cy="159041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963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Users</a:t>
              </a:r>
            </a:p>
          </p:txBody>
        </p:sp>
        <p:sp>
          <p:nvSpPr>
            <p:cNvPr id="6" name="Rectangle 5"/>
            <p:cNvSpPr/>
            <p:nvPr/>
          </p:nvSpPr>
          <p:spPr>
            <a:xfrm>
              <a:off x="2338431" y="1054217"/>
              <a:ext cx="8773486" cy="5435367"/>
            </a:xfrm>
            <a:prstGeom prst="rect">
              <a:avLst/>
            </a:prstGeom>
            <a:noFill/>
            <a:ln w="17477">
              <a:solidFill>
                <a:srgbClr val="232F3E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7" name="AWS-Cloud-logo_32" descr="AWS Cloud logo_32"/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338431" y="1054217"/>
              <a:ext cx="279633" cy="279633"/>
            </a:xfrm>
            <a:prstGeom prst="rect">
              <a:avLst/>
            </a:prstGeom>
          </p:spPr>
        </p:pic>
        <p:sp>
          <p:nvSpPr>
            <p:cNvPr id="8" name="TextBox 7"/>
            <p:cNvSpPr txBox="1"/>
            <p:nvPr/>
          </p:nvSpPr>
          <p:spPr>
            <a:xfrm>
              <a:off x="2705450" y="1121940"/>
              <a:ext cx="942123" cy="170401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032" b="1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AWS Cloud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2513202" y="1403758"/>
              <a:ext cx="8423945" cy="4911055"/>
            </a:xfrm>
            <a:prstGeom prst="rect">
              <a:avLst/>
            </a:prstGeom>
            <a:noFill/>
            <a:ln w="17477">
              <a:solidFill>
                <a:srgbClr val="00A4A6"/>
              </a:solidFill>
              <a:custDash>
                <a:ds d="150000" sp="150000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10" name="Region_32" descr="Region_32"/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513202" y="1403758"/>
              <a:ext cx="209725" cy="209725"/>
            </a:xfrm>
            <a:prstGeom prst="rect">
              <a:avLst/>
            </a:prstGeom>
          </p:spPr>
        </p:pic>
        <p:sp>
          <p:nvSpPr>
            <p:cNvPr id="11" name="TextBox 10"/>
            <p:cNvSpPr txBox="1"/>
            <p:nvPr/>
          </p:nvSpPr>
          <p:spPr>
            <a:xfrm>
              <a:off x="2792835" y="1444829"/>
              <a:ext cx="626990" cy="159041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963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Region</a:t>
              </a: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3037514" y="1683391"/>
              <a:ext cx="4439174" cy="4351789"/>
            </a:xfrm>
            <a:prstGeom prst="rect">
              <a:avLst/>
            </a:prstGeom>
            <a:noFill/>
            <a:ln w="17477">
              <a:solidFill>
                <a:srgbClr val="8C4FFF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13" name="Virtual-private-cloud-VPC_32" descr="Virtual private cloud VPC_32"/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3037514" y="1683391"/>
              <a:ext cx="209725" cy="209725"/>
            </a:xfrm>
            <a:prstGeom prst="rect">
              <a:avLst/>
            </a:prstGeom>
          </p:spPr>
        </p:pic>
        <p:sp>
          <p:nvSpPr>
            <p:cNvPr id="14" name="TextBox 13"/>
            <p:cNvSpPr txBox="1"/>
            <p:nvPr/>
          </p:nvSpPr>
          <p:spPr>
            <a:xfrm>
              <a:off x="3317147" y="1724462"/>
              <a:ext cx="1383965" cy="159041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963" b="1" lang="ko-KR">
                  <a:solidFill>
                    <a:srgbClr val="8C4FFF"/>
                  </a:solidFill>
                  <a:latin typeface="Arial"/>
                  <a:ea typeface="Malgun Gothic"/>
                  <a:cs typeface="Malgun Gothic"/>
                </a:rPr>
                <a:t>Application VPC</a:t>
              </a:r>
            </a:p>
          </p:txBody>
        </p:sp>
        <p:sp>
          <p:nvSpPr>
            <p:cNvPr id="15" name="Rectangle 14"/>
            <p:cNvSpPr/>
            <p:nvPr/>
          </p:nvSpPr>
          <p:spPr>
            <a:xfrm>
              <a:off x="3212284" y="1945547"/>
              <a:ext cx="4089633" cy="1433119"/>
            </a:xfrm>
            <a:prstGeom prst="rect">
              <a:avLst/>
            </a:prstGeom>
            <a:noFill/>
            <a:ln w="13108">
              <a:solidFill>
                <a:srgbClr val="00A4A6"/>
              </a:solidFill>
              <a:custDash>
                <a:ds d="533333" sp="266667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3317147" y="1986618"/>
              <a:ext cx="1720399" cy="159041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963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Availability Zone 1</a:t>
              </a:r>
            </a:p>
          </p:txBody>
        </p:sp>
        <p:sp>
          <p:nvSpPr>
            <p:cNvPr id="17" name="Rectangle 16"/>
            <p:cNvSpPr/>
            <p:nvPr/>
          </p:nvSpPr>
          <p:spPr>
            <a:xfrm>
              <a:off x="3212284" y="4427290"/>
              <a:ext cx="4089633" cy="1433119"/>
            </a:xfrm>
            <a:prstGeom prst="rect">
              <a:avLst/>
            </a:prstGeom>
            <a:noFill/>
            <a:ln w="13108">
              <a:solidFill>
                <a:srgbClr val="00A4A6"/>
              </a:solidFill>
              <a:custDash>
                <a:ds d="533333" sp="266667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3317147" y="4468361"/>
              <a:ext cx="1720399" cy="159041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963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Availability Zone 2</a:t>
              </a:r>
            </a:p>
          </p:txBody>
        </p:sp>
        <p:sp>
          <p:nvSpPr>
            <p:cNvPr id="19" name="Rectangle 18"/>
            <p:cNvSpPr/>
            <p:nvPr/>
          </p:nvSpPr>
          <p:spPr>
            <a:xfrm>
              <a:off x="3317147" y="2190226"/>
              <a:ext cx="2272018" cy="1083578"/>
            </a:xfrm>
            <a:prstGeom prst="rect">
              <a:avLst/>
            </a:prstGeom>
            <a:noFill/>
            <a:ln w="13108">
              <a:solidFill>
                <a:srgbClr val="7AA11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20" name="Public-subnet_32" descr="Public subnet_32"/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3317147" y="2190226"/>
              <a:ext cx="209725" cy="209725"/>
            </a:xfrm>
            <a:prstGeom prst="rect">
              <a:avLst/>
            </a:prstGeom>
          </p:spPr>
        </p:pic>
        <p:sp>
          <p:nvSpPr>
            <p:cNvPr id="21" name="TextBox 20"/>
            <p:cNvSpPr txBox="1"/>
            <p:nvPr/>
          </p:nvSpPr>
          <p:spPr>
            <a:xfrm>
              <a:off x="3596780" y="2231297"/>
              <a:ext cx="1131640" cy="159041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963" b="1" lang="ko-KR">
                  <a:solidFill>
                    <a:srgbClr val="7AA116"/>
                  </a:solidFill>
                  <a:latin typeface="Arial"/>
                  <a:ea typeface="Malgun Gothic"/>
                  <a:cs typeface="Malgun Gothic"/>
                </a:rPr>
                <a:t>GWLBe subnet</a:t>
              </a:r>
            </a:p>
          </p:txBody>
        </p:sp>
        <p:sp>
          <p:nvSpPr>
            <p:cNvPr id="22" name="Rectangle 21"/>
            <p:cNvSpPr/>
            <p:nvPr/>
          </p:nvSpPr>
          <p:spPr>
            <a:xfrm>
              <a:off x="5798890" y="2190226"/>
              <a:ext cx="1398165" cy="1083578"/>
            </a:xfrm>
            <a:prstGeom prst="rect">
              <a:avLst/>
            </a:prstGeom>
            <a:noFill/>
            <a:ln w="13108">
              <a:solidFill>
                <a:srgbClr val="7AA11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23" name="Public-subnet_32" descr="Public subnet_32"/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5798890" y="2190226"/>
              <a:ext cx="209725" cy="209725"/>
            </a:xfrm>
            <a:prstGeom prst="rect">
              <a:avLst/>
            </a:prstGeom>
          </p:spPr>
        </p:pic>
        <p:sp>
          <p:nvSpPr>
            <p:cNvPr id="24" name="TextBox 23"/>
            <p:cNvSpPr txBox="1"/>
            <p:nvPr/>
          </p:nvSpPr>
          <p:spPr>
            <a:xfrm>
              <a:off x="6078523" y="2231297"/>
              <a:ext cx="963423" cy="159041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963" b="1" lang="ko-KR">
                  <a:solidFill>
                    <a:srgbClr val="7AA116"/>
                  </a:solidFill>
                  <a:latin typeface="Arial"/>
                  <a:ea typeface="Malgun Gothic"/>
                  <a:cs typeface="Malgun Gothic"/>
                </a:rPr>
                <a:t>App subnet</a:t>
              </a:r>
            </a:p>
          </p:txBody>
        </p:sp>
        <p:sp>
          <p:nvSpPr>
            <p:cNvPr id="25" name="Rectangle 24"/>
            <p:cNvSpPr/>
            <p:nvPr/>
          </p:nvSpPr>
          <p:spPr>
            <a:xfrm>
              <a:off x="3317147" y="4671969"/>
              <a:ext cx="2272018" cy="1083578"/>
            </a:xfrm>
            <a:prstGeom prst="rect">
              <a:avLst/>
            </a:prstGeom>
            <a:noFill/>
            <a:ln w="13108">
              <a:solidFill>
                <a:srgbClr val="7AA11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26" name="Public-subnet_32" descr="Public subnet_32"/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3317147" y="4671969"/>
              <a:ext cx="209725" cy="209725"/>
            </a:xfrm>
            <a:prstGeom prst="rect">
              <a:avLst/>
            </a:prstGeom>
          </p:spPr>
        </p:pic>
        <p:sp>
          <p:nvSpPr>
            <p:cNvPr id="27" name="TextBox 26"/>
            <p:cNvSpPr txBox="1"/>
            <p:nvPr/>
          </p:nvSpPr>
          <p:spPr>
            <a:xfrm>
              <a:off x="3596780" y="4713040"/>
              <a:ext cx="1131640" cy="159041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963" b="1" lang="ko-KR">
                  <a:solidFill>
                    <a:srgbClr val="7AA116"/>
                  </a:solidFill>
                  <a:latin typeface="Arial"/>
                  <a:ea typeface="Malgun Gothic"/>
                  <a:cs typeface="Malgun Gothic"/>
                </a:rPr>
                <a:t>GWLBe subnet</a:t>
              </a:r>
            </a:p>
          </p:txBody>
        </p:sp>
        <p:sp>
          <p:nvSpPr>
            <p:cNvPr id="28" name="Rectangle 27"/>
            <p:cNvSpPr/>
            <p:nvPr/>
          </p:nvSpPr>
          <p:spPr>
            <a:xfrm>
              <a:off x="5798890" y="4671969"/>
              <a:ext cx="1398165" cy="1083578"/>
            </a:xfrm>
            <a:prstGeom prst="rect">
              <a:avLst/>
            </a:prstGeom>
            <a:noFill/>
            <a:ln w="13108">
              <a:solidFill>
                <a:srgbClr val="7AA11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29" name="Public-subnet_32" descr="Public subnet_32"/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5798890" y="4671969"/>
              <a:ext cx="209725" cy="209725"/>
            </a:xfrm>
            <a:prstGeom prst="rect">
              <a:avLst/>
            </a:prstGeom>
          </p:spPr>
        </p:pic>
        <p:sp>
          <p:nvSpPr>
            <p:cNvPr id="30" name="TextBox 29"/>
            <p:cNvSpPr txBox="1"/>
            <p:nvPr/>
          </p:nvSpPr>
          <p:spPr>
            <a:xfrm>
              <a:off x="6078523" y="4713040"/>
              <a:ext cx="963423" cy="159041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963" b="1" lang="ko-KR">
                  <a:solidFill>
                    <a:srgbClr val="7AA116"/>
                  </a:solidFill>
                  <a:latin typeface="Arial"/>
                  <a:ea typeface="Malgun Gothic"/>
                  <a:cs typeface="Malgun Gothic"/>
                </a:rPr>
                <a:t>App subnet</a:t>
              </a:r>
            </a:p>
          </p:txBody>
        </p:sp>
        <p:pic>
          <p:nvPicPr>
            <p:cNvPr id="31" name="Amazon-VPC_Endpoints" descr="Amazon VPC_Endpoints"/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4925037" y="2469859"/>
              <a:ext cx="419450" cy="419450"/>
            </a:xfrm>
            <a:prstGeom prst="rect">
              <a:avLst/>
            </a:prstGeom>
          </p:spPr>
        </p:pic>
        <p:sp>
          <p:nvSpPr>
            <p:cNvPr id="32" name="TextBox 31"/>
            <p:cNvSpPr txBox="1"/>
            <p:nvPr/>
          </p:nvSpPr>
          <p:spPr>
            <a:xfrm>
              <a:off x="4863321" y="2930379"/>
              <a:ext cx="542881" cy="159041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963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GWLBe</a:t>
              </a:r>
            </a:p>
          </p:txBody>
        </p:sp>
        <p:pic>
          <p:nvPicPr>
            <p:cNvPr id="33" name="Amazon-VPC_Endpoints" descr="Amazon VPC_Endpoints"/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4925037" y="4951602"/>
              <a:ext cx="419450" cy="419450"/>
            </a:xfrm>
            <a:prstGeom prst="rect">
              <a:avLst/>
            </a:prstGeom>
          </p:spPr>
        </p:pic>
        <p:sp>
          <p:nvSpPr>
            <p:cNvPr id="34" name="TextBox 33"/>
            <p:cNvSpPr txBox="1"/>
            <p:nvPr/>
          </p:nvSpPr>
          <p:spPr>
            <a:xfrm>
              <a:off x="4863321" y="5412122"/>
              <a:ext cx="542881" cy="159041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963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GWLBe</a:t>
              </a:r>
            </a:p>
          </p:txBody>
        </p:sp>
        <p:pic>
          <p:nvPicPr>
            <p:cNvPr id="35" name="Amazon-EC2" descr="Amazon EC2"/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6288248" y="2469859"/>
              <a:ext cx="419450" cy="419450"/>
            </a:xfrm>
            <a:prstGeom prst="rect">
              <a:avLst/>
            </a:prstGeom>
          </p:spPr>
        </p:pic>
        <p:sp>
          <p:nvSpPr>
            <p:cNvPr id="36" name="TextBox 35"/>
            <p:cNvSpPr txBox="1"/>
            <p:nvPr/>
          </p:nvSpPr>
          <p:spPr>
            <a:xfrm>
              <a:off x="6310640" y="2930379"/>
              <a:ext cx="374665" cy="159041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963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EC2</a:t>
              </a:r>
            </a:p>
          </p:txBody>
        </p:sp>
        <p:pic>
          <p:nvPicPr>
            <p:cNvPr id="37" name="Amazon-EC2" descr="Amazon EC2"/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6288248" y="4951602"/>
              <a:ext cx="419450" cy="419450"/>
            </a:xfrm>
            <a:prstGeom prst="rect">
              <a:avLst/>
            </a:prstGeom>
          </p:spPr>
        </p:pic>
        <p:sp>
          <p:nvSpPr>
            <p:cNvPr id="38" name="TextBox 37"/>
            <p:cNvSpPr txBox="1"/>
            <p:nvPr/>
          </p:nvSpPr>
          <p:spPr>
            <a:xfrm>
              <a:off x="6310640" y="5412122"/>
              <a:ext cx="374665" cy="159041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963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EC2</a:t>
              </a:r>
            </a:p>
          </p:txBody>
        </p:sp>
        <p:sp>
          <p:nvSpPr>
            <p:cNvPr id="39" name="Rectangle 38"/>
            <p:cNvSpPr/>
            <p:nvPr/>
          </p:nvSpPr>
          <p:spPr>
            <a:xfrm>
              <a:off x="2827789" y="3588391"/>
              <a:ext cx="419450" cy="611697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40" name="Amazon-VPC_Internet-Gateway" descr="Amazon VPC_Internet Gateway"/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2827789" y="3588391"/>
              <a:ext cx="419450" cy="419450"/>
            </a:xfrm>
            <a:prstGeom prst="rect">
              <a:avLst/>
            </a:prstGeom>
          </p:spPr>
        </p:pic>
        <p:sp>
          <p:nvSpPr>
            <p:cNvPr id="41" name="TextBox 40"/>
            <p:cNvSpPr txBox="1"/>
            <p:nvPr/>
          </p:nvSpPr>
          <p:spPr>
            <a:xfrm>
              <a:off x="2850181" y="4048911"/>
              <a:ext cx="374665" cy="159041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963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IGW</a:t>
              </a:r>
            </a:p>
          </p:txBody>
        </p:sp>
        <p:sp>
          <p:nvSpPr>
            <p:cNvPr id="42" name="Rectangle 41"/>
            <p:cNvSpPr/>
            <p:nvPr/>
          </p:nvSpPr>
          <p:spPr>
            <a:xfrm>
              <a:off x="7756321" y="1683391"/>
              <a:ext cx="3006055" cy="4351789"/>
            </a:xfrm>
            <a:prstGeom prst="rect">
              <a:avLst/>
            </a:prstGeom>
            <a:noFill/>
            <a:ln w="17477">
              <a:solidFill>
                <a:srgbClr val="8C4FFF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43" name="Virtual-private-cloud-VPC_32" descr="Virtual private cloud VPC_32"/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7756321" y="1683391"/>
              <a:ext cx="209725" cy="209725"/>
            </a:xfrm>
            <a:prstGeom prst="rect">
              <a:avLst/>
            </a:prstGeom>
          </p:spPr>
        </p:pic>
        <p:sp>
          <p:nvSpPr>
            <p:cNvPr id="44" name="TextBox 43"/>
            <p:cNvSpPr txBox="1"/>
            <p:nvPr/>
          </p:nvSpPr>
          <p:spPr>
            <a:xfrm>
              <a:off x="8035954" y="1724462"/>
              <a:ext cx="1131640" cy="159041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963" b="1" lang="ko-KR">
                  <a:solidFill>
                    <a:srgbClr val="8C4FFF"/>
                  </a:solidFill>
                  <a:latin typeface="Arial"/>
                  <a:ea typeface="Malgun Gothic"/>
                  <a:cs typeface="Malgun Gothic"/>
                </a:rPr>
                <a:t>Security VPC</a:t>
              </a:r>
            </a:p>
          </p:txBody>
        </p:sp>
        <p:sp>
          <p:nvSpPr>
            <p:cNvPr id="45" name="Rectangle 44"/>
            <p:cNvSpPr/>
            <p:nvPr/>
          </p:nvSpPr>
          <p:spPr>
            <a:xfrm>
              <a:off x="7931092" y="1945547"/>
              <a:ext cx="2656514" cy="1433119"/>
            </a:xfrm>
            <a:prstGeom prst="rect">
              <a:avLst/>
            </a:prstGeom>
            <a:noFill/>
            <a:ln w="13108">
              <a:solidFill>
                <a:srgbClr val="00A4A6"/>
              </a:solidFill>
              <a:custDash>
                <a:ds d="533333" sp="266667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" name="TextBox 45"/>
            <p:cNvSpPr txBox="1"/>
            <p:nvPr/>
          </p:nvSpPr>
          <p:spPr>
            <a:xfrm>
              <a:off x="8035954" y="1986618"/>
              <a:ext cx="1720399" cy="159041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963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Availability Zone 1</a:t>
              </a:r>
            </a:p>
          </p:txBody>
        </p:sp>
        <p:sp>
          <p:nvSpPr>
            <p:cNvPr id="47" name="Rectangle 46"/>
            <p:cNvSpPr/>
            <p:nvPr/>
          </p:nvSpPr>
          <p:spPr>
            <a:xfrm>
              <a:off x="7931092" y="4427290"/>
              <a:ext cx="2656514" cy="1433119"/>
            </a:xfrm>
            <a:prstGeom prst="rect">
              <a:avLst/>
            </a:prstGeom>
            <a:noFill/>
            <a:ln w="13108">
              <a:solidFill>
                <a:srgbClr val="00A4A6"/>
              </a:solidFill>
              <a:custDash>
                <a:ds d="533333" sp="266667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8" name="TextBox 47"/>
            <p:cNvSpPr txBox="1"/>
            <p:nvPr/>
          </p:nvSpPr>
          <p:spPr>
            <a:xfrm>
              <a:off x="8035954" y="4468361"/>
              <a:ext cx="1720399" cy="159041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963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Availability Zone 2</a:t>
              </a:r>
            </a:p>
          </p:txBody>
        </p:sp>
        <p:sp>
          <p:nvSpPr>
            <p:cNvPr id="49" name="Rectangle 48"/>
            <p:cNvSpPr/>
            <p:nvPr/>
          </p:nvSpPr>
          <p:spPr>
            <a:xfrm>
              <a:off x="8035954" y="2190226"/>
              <a:ext cx="2446789" cy="1083578"/>
            </a:xfrm>
            <a:prstGeom prst="rect">
              <a:avLst/>
            </a:prstGeom>
            <a:noFill/>
            <a:ln w="13108">
              <a:solidFill>
                <a:srgbClr val="00A4A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50" name="Private-subnet_32" descr="Private subnet_32"/>
            <p:cNvPicPr>
              <a:picLocks noChangeAspect="1"/>
            </p:cNvPicPr>
            <p:nvPr/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8035954" y="2190226"/>
              <a:ext cx="209725" cy="209725"/>
            </a:xfrm>
            <a:prstGeom prst="rect">
              <a:avLst/>
            </a:prstGeom>
          </p:spPr>
        </p:pic>
        <p:sp>
          <p:nvSpPr>
            <p:cNvPr id="51" name="TextBox 50"/>
            <p:cNvSpPr txBox="1"/>
            <p:nvPr/>
          </p:nvSpPr>
          <p:spPr>
            <a:xfrm>
              <a:off x="8315587" y="2231297"/>
              <a:ext cx="1468073" cy="159041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963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Appliance subnet</a:t>
              </a:r>
            </a:p>
          </p:txBody>
        </p:sp>
        <p:sp>
          <p:nvSpPr>
            <p:cNvPr id="52" name="Rectangle 51"/>
            <p:cNvSpPr/>
            <p:nvPr/>
          </p:nvSpPr>
          <p:spPr>
            <a:xfrm>
              <a:off x="8035954" y="4671969"/>
              <a:ext cx="2446789" cy="1083578"/>
            </a:xfrm>
            <a:prstGeom prst="rect">
              <a:avLst/>
            </a:prstGeom>
            <a:noFill/>
            <a:ln w="13108">
              <a:solidFill>
                <a:srgbClr val="00A4A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53" name="Private-subnet_32" descr="Private subnet_32"/>
            <p:cNvPicPr>
              <a:picLocks noChangeAspect="1"/>
            </p:cNvPicPr>
            <p:nvPr/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8035954" y="4671969"/>
              <a:ext cx="209725" cy="209725"/>
            </a:xfrm>
            <a:prstGeom prst="rect">
              <a:avLst/>
            </a:prstGeom>
          </p:spPr>
        </p:pic>
        <p:sp>
          <p:nvSpPr>
            <p:cNvPr id="54" name="TextBox 53"/>
            <p:cNvSpPr txBox="1"/>
            <p:nvPr/>
          </p:nvSpPr>
          <p:spPr>
            <a:xfrm>
              <a:off x="8315587" y="4713040"/>
              <a:ext cx="1468073" cy="159041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963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Appliance subnet</a:t>
              </a:r>
            </a:p>
          </p:txBody>
        </p:sp>
        <p:sp>
          <p:nvSpPr>
            <p:cNvPr id="55" name="Rectangle 54"/>
            <p:cNvSpPr/>
            <p:nvPr/>
          </p:nvSpPr>
          <p:spPr>
            <a:xfrm>
              <a:off x="9591413" y="2225180"/>
              <a:ext cx="786468" cy="3425505"/>
            </a:xfrm>
            <a:prstGeom prst="rect">
              <a:avLst/>
            </a:prstGeom>
            <a:noFill/>
            <a:ln w="13108">
              <a:solidFill>
                <a:srgbClr val="ED7100"/>
              </a:solidFill>
              <a:custDash>
                <a:ds d="400000" sp="200000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56" name="Auto-Scaling-group_32" descr="Auto Scaling group_32"/>
            <p:cNvPicPr>
              <a:picLocks noChangeAspect="1"/>
            </p:cNvPicPr>
            <p:nvPr/>
          </p:nvPicPr>
          <p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9591413" y="2225180"/>
              <a:ext cx="209725" cy="209725"/>
            </a:xfrm>
            <a:prstGeom prst="rect">
              <a:avLst/>
            </a:prstGeom>
          </p:spPr>
        </p:pic>
        <p:sp>
          <p:nvSpPr>
            <p:cNvPr id="57" name="TextBox 56"/>
            <p:cNvSpPr txBox="1"/>
            <p:nvPr/>
          </p:nvSpPr>
          <p:spPr>
            <a:xfrm>
              <a:off x="9871046" y="2274553"/>
              <a:ext cx="347903" cy="147681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894" b="1" lang="ko-KR">
                  <a:solidFill>
                    <a:srgbClr val="ED7100"/>
                  </a:solidFill>
                  <a:latin typeface="Arial"/>
                  <a:ea typeface="Malgun Gothic"/>
                  <a:cs typeface="Malgun Gothic"/>
                </a:rPr>
                <a:t>ASG</a:t>
              </a:r>
            </a:p>
          </p:txBody>
        </p:sp>
        <p:pic>
          <p:nvPicPr>
            <p:cNvPr id="58" name="Amazon-EC2" descr="Amazon EC2"/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9774922" y="2469859"/>
              <a:ext cx="419450" cy="419450"/>
            </a:xfrm>
            <a:prstGeom prst="rect">
              <a:avLst/>
            </a:prstGeom>
          </p:spPr>
        </p:pic>
        <p:sp>
          <p:nvSpPr>
            <p:cNvPr id="59" name="TextBox 58"/>
            <p:cNvSpPr txBox="1"/>
            <p:nvPr/>
          </p:nvSpPr>
          <p:spPr>
            <a:xfrm>
              <a:off x="9694091" y="2930379"/>
              <a:ext cx="581112" cy="159041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963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방화벽</a:t>
              </a:r>
            </a:p>
          </p:txBody>
        </p:sp>
        <p:pic>
          <p:nvPicPr>
            <p:cNvPr id="60" name="Amazon-EC2" descr="Amazon EC2"/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9774922" y="4951602"/>
              <a:ext cx="419450" cy="419450"/>
            </a:xfrm>
            <a:prstGeom prst="rect">
              <a:avLst/>
            </a:prstGeom>
          </p:spPr>
        </p:pic>
        <p:sp>
          <p:nvSpPr>
            <p:cNvPr id="61" name="TextBox 60"/>
            <p:cNvSpPr txBox="1"/>
            <p:nvPr/>
          </p:nvSpPr>
          <p:spPr>
            <a:xfrm>
              <a:off x="9694091" y="5412122"/>
              <a:ext cx="581112" cy="159041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963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방화벽</a:t>
              </a:r>
            </a:p>
          </p:txBody>
        </p:sp>
        <p:pic>
          <p:nvPicPr>
            <p:cNvPr id="62" name="Elastic-Load-Balancing_Gateway-Load-Balancer" descr="Elastic Load Balancing_Gateway Load Balancer"/>
            <p:cNvPicPr>
              <a:picLocks noChangeAspect="1"/>
            </p:cNvPicPr>
            <p:nvPr/>
          </p:nvPicPr>
          <p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p:blipFill>
          <p:spPr>
            <a:xfrm>
              <a:off x="8595220" y="3588391"/>
              <a:ext cx="419450" cy="419450"/>
            </a:xfrm>
            <a:prstGeom prst="rect">
              <a:avLst/>
            </a:prstGeom>
          </p:spPr>
        </p:pic>
        <p:sp>
          <p:nvSpPr>
            <p:cNvPr id="63" name="TextBox 62"/>
            <p:cNvSpPr txBox="1"/>
            <p:nvPr/>
          </p:nvSpPr>
          <p:spPr>
            <a:xfrm>
              <a:off x="8575558" y="4048911"/>
              <a:ext cx="458773" cy="159041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963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GWLB</a:t>
              </a:r>
            </a:p>
          </p:txBody>
        </p:sp>
        <p:sp>
          <p:nvSpPr>
            <p:cNvPr id="64" name="Freeform 63"/>
            <p:cNvSpPr/>
            <p:nvPr/>
          </p:nvSpPr>
          <p:spPr>
            <a:xfrm>
              <a:off x="3282193" y="2679583"/>
              <a:ext cx="1607890" cy="1118533"/>
            </a:xfrm>
            <a:custGeom>
              <a:avLst/>
              <a:gdLst/>
              <a:ahLst/>
              <a:cxnLst/>
              <a:rect l="l" t="t" r="r" b="b"/>
              <a:pathLst>
                <a:path w="1607890" h="1118533">
                  <a:moveTo>
                    <a:pt x="0" y="1118533"/>
                  </a:moveTo>
                  <a:lnTo>
                    <a:pt x="1363211" y="1118533"/>
                  </a:lnTo>
                  <a:lnTo>
                    <a:pt x="1363211" y="0"/>
                  </a:lnTo>
                  <a:lnTo>
                    <a:pt x="1607890" y="0"/>
                  </a:lnTo>
                </a:path>
              </a:pathLst>
            </a:custGeom>
            <a:noFill/>
            <a:ln w="13108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5" name="Freeform 64"/>
            <p:cNvSpPr/>
            <p:nvPr/>
          </p:nvSpPr>
          <p:spPr>
            <a:xfrm>
              <a:off x="3282193" y="3798116"/>
              <a:ext cx="1607890" cy="1363211"/>
            </a:xfrm>
            <a:custGeom>
              <a:avLst/>
              <a:gdLst/>
              <a:ahLst/>
              <a:cxnLst/>
              <a:rect l="l" t="t" r="r" b="b"/>
              <a:pathLst>
                <a:path w="1607890" h="1363211">
                  <a:moveTo>
                    <a:pt x="0" y="0"/>
                  </a:moveTo>
                  <a:lnTo>
                    <a:pt x="1363211" y="0"/>
                  </a:lnTo>
                  <a:lnTo>
                    <a:pt x="1363211" y="1363211"/>
                  </a:lnTo>
                  <a:lnTo>
                    <a:pt x="1607890" y="1363211"/>
                  </a:lnTo>
                </a:path>
              </a:pathLst>
            </a:custGeom>
            <a:noFill/>
            <a:ln w="13108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66" name="Connector 65"/>
            <p:cNvCxnSpPr/>
            <p:nvPr/>
          </p:nvCxnSpPr>
          <p:spPr>
            <a:xfrm>
              <a:off x="5379440" y="2679583"/>
              <a:ext cx="873854" cy="0"/>
            </a:xfrm>
            <a:prstGeom prst="line">
              <a:avLst/>
            </a:prstGeom>
            <a:ln w="13108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</p:cxnSp>
        <p:cxnSp>
          <p:nvCxnSpPr>
            <p:cNvPr id="67" name="Connector 66"/>
            <p:cNvCxnSpPr/>
            <p:nvPr/>
          </p:nvCxnSpPr>
          <p:spPr>
            <a:xfrm>
              <a:off x="5379440" y="5161327"/>
              <a:ext cx="873854" cy="0"/>
            </a:xfrm>
            <a:prstGeom prst="line">
              <a:avLst/>
            </a:prstGeom>
            <a:ln w="13108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</p:cxnSp>
        <p:sp>
          <p:nvSpPr>
            <p:cNvPr id="68" name="Freeform 67"/>
            <p:cNvSpPr/>
            <p:nvPr/>
          </p:nvSpPr>
          <p:spPr>
            <a:xfrm>
              <a:off x="5134761" y="3116510"/>
              <a:ext cx="3425505" cy="681606"/>
            </a:xfrm>
            <a:custGeom>
              <a:avLst/>
              <a:gdLst/>
              <a:ahLst/>
              <a:cxnLst/>
              <a:rect l="l" t="t" r="r" b="b"/>
              <a:pathLst>
                <a:path w="3425505" h="681606">
                  <a:moveTo>
                    <a:pt x="3425505" y="681606"/>
                  </a:moveTo>
                  <a:lnTo>
                    <a:pt x="0" y="681606"/>
                  </a:lnTo>
                  <a:lnTo>
                    <a:pt x="0" y="0"/>
                  </a:lnTo>
                </a:path>
              </a:pathLst>
            </a:custGeom>
            <a:noFill/>
            <a:ln w="13108">
              <a:solidFill>
                <a:srgbClr val="232F3E"/>
              </a:solidFill>
              <a:prstDash val="solid"/>
              <a:miter lim="800000"/>
              <a:headEnd type="triangle" w="med" len="med"/>
              <a:tailEnd type="triangle" w="med" len="med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9" name="Freeform 68"/>
            <p:cNvSpPr/>
            <p:nvPr/>
          </p:nvSpPr>
          <p:spPr>
            <a:xfrm>
              <a:off x="5134761" y="3798116"/>
              <a:ext cx="3425505" cy="1118532"/>
            </a:xfrm>
            <a:custGeom>
              <a:avLst/>
              <a:gdLst/>
              <a:ahLst/>
              <a:cxnLst/>
              <a:rect l="l" t="t" r="r" b="b"/>
              <a:pathLst>
                <a:path w="3425505" h="1118532">
                  <a:moveTo>
                    <a:pt x="3425505" y="0"/>
                  </a:moveTo>
                  <a:lnTo>
                    <a:pt x="0" y="0"/>
                  </a:lnTo>
                  <a:lnTo>
                    <a:pt x="0" y="1118532"/>
                  </a:lnTo>
                </a:path>
              </a:pathLst>
            </a:custGeom>
            <a:noFill/>
            <a:ln w="13108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0" name="TextBox 69"/>
            <p:cNvSpPr txBox="1"/>
            <p:nvPr/>
          </p:nvSpPr>
          <p:spPr>
            <a:xfrm>
              <a:off x="5820736" y="3628588"/>
              <a:ext cx="969977" cy="136321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825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GENEVE :6081</a:t>
              </a:r>
            </a:p>
          </p:txBody>
        </p:sp>
        <p:cxnSp>
          <p:nvCxnSpPr>
            <p:cNvPr id="71" name="Connector 70"/>
            <p:cNvCxnSpPr/>
            <p:nvPr/>
          </p:nvCxnSpPr>
          <p:spPr>
            <a:xfrm>
              <a:off x="9049624" y="3798116"/>
              <a:ext cx="506835" cy="0"/>
            </a:xfrm>
            <a:prstGeom prst="line">
              <a:avLst/>
            </a:prstGeom>
            <a:ln w="13108">
              <a:solidFill>
                <a:srgbClr val="232F3E"/>
              </a:solidFill>
              <a:prstDash val="solid"/>
              <a:miter lim="800000"/>
              <a:headEnd type="triangle" w="med" len="med"/>
              <a:tailEnd type="triangle" w="med" len="med"/>
            </a:ln>
          </p:spPr>
        </p:cxnSp>
        <p:sp>
          <p:nvSpPr>
            <p:cNvPr id="72" name="Oval 71"/>
            <p:cNvSpPr/>
            <p:nvPr/>
          </p:nvSpPr>
          <p:spPr>
            <a:xfrm>
              <a:off x="3876413" y="3535960"/>
              <a:ext cx="174771" cy="174771"/>
            </a:xfrm>
            <a:prstGeom prst="ellipse">
              <a:avLst/>
            </a:prstGeom>
            <a:solidFill>
              <a:srgbClr val="232F3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3" name="TextBox 72"/>
            <p:cNvSpPr txBox="1"/>
            <p:nvPr/>
          </p:nvSpPr>
          <p:spPr>
            <a:xfrm>
              <a:off x="3875321" y="3558680"/>
              <a:ext cx="176955" cy="136321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825" b="1" lang="ko-KR">
                  <a:solidFill>
                    <a:srgbClr val="FFFFFF"/>
                  </a:solidFill>
                  <a:latin typeface="Arial"/>
                  <a:ea typeface="Malgun Gothic"/>
                  <a:cs typeface="Malgun Gothic"/>
                </a:rPr>
                <a:t>1</a:t>
              </a:r>
            </a:p>
          </p:txBody>
        </p:sp>
        <p:sp>
          <p:nvSpPr>
            <p:cNvPr id="74" name="Oval 73"/>
            <p:cNvSpPr/>
            <p:nvPr/>
          </p:nvSpPr>
          <p:spPr>
            <a:xfrm>
              <a:off x="8070908" y="3535960"/>
              <a:ext cx="174771" cy="174771"/>
            </a:xfrm>
            <a:prstGeom prst="ellipse">
              <a:avLst/>
            </a:prstGeom>
            <a:solidFill>
              <a:srgbClr val="232F3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5" name="TextBox 74"/>
            <p:cNvSpPr txBox="1"/>
            <p:nvPr/>
          </p:nvSpPr>
          <p:spPr>
            <a:xfrm>
              <a:off x="8069816" y="3558680"/>
              <a:ext cx="176955" cy="136321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825" b="1" lang="ko-KR">
                  <a:solidFill>
                    <a:srgbClr val="FFFFFF"/>
                  </a:solidFill>
                  <a:latin typeface="Arial"/>
                  <a:ea typeface="Malgun Gothic"/>
                  <a:cs typeface="Malgun Gothic"/>
                </a:rPr>
                <a:t>2</a:t>
              </a:r>
            </a:p>
          </p:txBody>
        </p:sp>
        <p:sp>
          <p:nvSpPr>
            <p:cNvPr id="76" name="Oval 75"/>
            <p:cNvSpPr/>
            <p:nvPr/>
          </p:nvSpPr>
          <p:spPr>
            <a:xfrm>
              <a:off x="9215656" y="3535960"/>
              <a:ext cx="174771" cy="174771"/>
            </a:xfrm>
            <a:prstGeom prst="ellipse">
              <a:avLst/>
            </a:prstGeom>
            <a:solidFill>
              <a:srgbClr val="232F3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7" name="TextBox 76"/>
            <p:cNvSpPr txBox="1"/>
            <p:nvPr/>
          </p:nvSpPr>
          <p:spPr>
            <a:xfrm>
              <a:off x="9214564" y="3558680"/>
              <a:ext cx="176955" cy="136321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825" b="1" lang="ko-KR">
                  <a:solidFill>
                    <a:srgbClr val="FFFFFF"/>
                  </a:solidFill>
                  <a:latin typeface="Arial"/>
                  <a:ea typeface="Malgun Gothic"/>
                  <a:cs typeface="Malgun Gothic"/>
                </a:rPr>
                <a:t>3</a:t>
              </a:r>
            </a:p>
          </p:txBody>
        </p:sp>
        <p:sp>
          <p:nvSpPr>
            <p:cNvPr id="78" name="Oval 77"/>
            <p:cNvSpPr/>
            <p:nvPr/>
          </p:nvSpPr>
          <p:spPr>
            <a:xfrm>
              <a:off x="5606642" y="2452382"/>
              <a:ext cx="174771" cy="174771"/>
            </a:xfrm>
            <a:prstGeom prst="ellipse">
              <a:avLst/>
            </a:prstGeom>
            <a:solidFill>
              <a:srgbClr val="232F3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9" name="TextBox 78"/>
            <p:cNvSpPr txBox="1"/>
            <p:nvPr/>
          </p:nvSpPr>
          <p:spPr>
            <a:xfrm>
              <a:off x="5605550" y="2475102"/>
              <a:ext cx="176955" cy="136321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825" b="1" lang="ko-KR">
                  <a:solidFill>
                    <a:srgbClr val="FFFFFF"/>
                  </a:solidFill>
                  <a:latin typeface="Arial"/>
                  <a:ea typeface="Malgun Gothic"/>
                  <a:cs typeface="Malgun Gothic"/>
                </a:rPr>
                <a:t>4</a:t>
              </a:r>
            </a:p>
          </p:txBody>
        </p:sp>
        <p:sp>
          <p:nvSpPr>
            <p:cNvPr id="80" name="Oval 79"/>
            <p:cNvSpPr/>
            <p:nvPr/>
          </p:nvSpPr>
          <p:spPr>
            <a:xfrm>
              <a:off x="5606642" y="4934125"/>
              <a:ext cx="174771" cy="174771"/>
            </a:xfrm>
            <a:prstGeom prst="ellipse">
              <a:avLst/>
            </a:prstGeom>
            <a:solidFill>
              <a:srgbClr val="232F3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1" name="TextBox 80"/>
            <p:cNvSpPr txBox="1"/>
            <p:nvPr/>
          </p:nvSpPr>
          <p:spPr>
            <a:xfrm>
              <a:off x="5605550" y="4956845"/>
              <a:ext cx="176955" cy="136321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825" b="1" lang="ko-KR">
                  <a:solidFill>
                    <a:srgbClr val="FFFFFF"/>
                  </a:solidFill>
                  <a:latin typeface="Arial"/>
                  <a:ea typeface="Malgun Gothic"/>
                  <a:cs typeface="Malgun Gothic"/>
                </a:rPr>
                <a:t>4</a:t>
              </a:r>
            </a:p>
          </p:txBody>
        </p:sp>
        <p:sp>
          <p:nvSpPr>
            <p:cNvPr id="82" name="TextBox 81"/>
            <p:cNvSpPr txBox="1"/>
            <p:nvPr/>
          </p:nvSpPr>
          <p:spPr>
            <a:xfrm>
              <a:off x="3926659" y="6110331"/>
              <a:ext cx="6835717" cy="136321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r">
                <a:lnSpc>
                  <a:spcPct val="100000"/>
                </a:lnSpc>
              </a:pPr>
              <a:r>
                <a:rPr sz="825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① IGW → GWLBe (인그레스 라우팅)  ② GWLBe → GWLB  ③ 방화벽 검사 후 같은 경로로 반환  ④ GWLBe → EC2</a:t>
              </a:r>
            </a:p>
          </p:txBody>
        </p:sp>
        <p:cxnSp>
          <p:nvCxnSpPr>
            <p:cNvPr id="83" name="Connector 82"/>
            <p:cNvCxnSpPr/>
            <p:nvPr/>
          </p:nvCxnSpPr>
          <p:spPr>
            <a:xfrm>
              <a:off x="1534486" y="3798116"/>
              <a:ext cx="1258349" cy="0"/>
            </a:xfrm>
            <a:prstGeom prst="line">
              <a:avLst/>
            </a:prstGeom>
            <a:ln w="13108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</p:cxnSp>
        <p:sp>
          <p:nvSpPr>
            <p:cNvPr id="84" name="TextBox 83"/>
            <p:cNvSpPr txBox="1"/>
            <p:nvPr/>
          </p:nvSpPr>
          <p:spPr>
            <a:xfrm>
              <a:off x="1506086" y="3619850"/>
              <a:ext cx="825791" cy="136321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825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HTTPS :443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228600" y="228600"/>
            <a:ext cx="11734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400" b="1" lang="ko-KR">
                <a:solidFill>
                  <a:srgbClr val="232F3E"/>
                </a:solidFill>
                <a:latin typeface="Arial"/>
                <a:ea typeface="Malgun Gothic"/>
                <a:cs typeface="Malgun Gothic"/>
              </a:rPr>
              <a:t>Transit Gateway hub and spoke across two Regions</a:t>
            </a:r>
          </a:p>
        </p:txBody>
      </p:sp>
      <p:grpSp>
        <p:nvGrpSpPr>
          <p:cNvPr id="3" name="Architecture diagram"/>
          <p:cNvGrpSpPr/>
          <p:nvPr/>
        </p:nvGrpSpPr>
        <p:grpSpPr>
          <a:xfrm>
            <a:off x="1304982" y="1051286"/>
            <a:ext cx="9582036" cy="5441228"/>
            <a:chOff x="1304982" y="1051286"/>
            <a:chExt cx="9582036" cy="5441228"/>
          </a:xfrm>
        </p:grpSpPr>
        <p:sp>
          <p:nvSpPr>
            <p:cNvPr id="4" name="Rectangle 3"/>
            <p:cNvSpPr/>
            <p:nvPr/>
          </p:nvSpPr>
          <p:spPr>
            <a:xfrm>
              <a:off x="1304982" y="3241466"/>
              <a:ext cx="1539970" cy="975314"/>
            </a:xfrm>
            <a:prstGeom prst="rect">
              <a:avLst/>
            </a:prstGeom>
            <a:noFill/>
            <a:ln w="17111">
              <a:solidFill>
                <a:srgbClr val="7D8998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5" name="Corporate-data-center_32" descr="Corporate data center_32"/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304982" y="3241466"/>
              <a:ext cx="205329" cy="205329"/>
            </a:xfrm>
            <a:prstGeom prst="rect">
              <a:avLst/>
            </a:prstGeom>
          </p:spPr>
        </p:pic>
        <p:sp>
          <p:nvSpPr>
            <p:cNvPr id="6" name="TextBox 5"/>
            <p:cNvSpPr txBox="1"/>
            <p:nvPr/>
          </p:nvSpPr>
          <p:spPr>
            <a:xfrm>
              <a:off x="1578754" y="3281676"/>
              <a:ext cx="1025577" cy="155708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943" b="1" lang="ko-KR">
                  <a:solidFill>
                    <a:srgbClr val="7D8998"/>
                  </a:solidFill>
                  <a:latin typeface="Arial"/>
                  <a:ea typeface="Malgun Gothic"/>
                  <a:cs typeface="Malgun Gothic"/>
                </a:rPr>
                <a:t>On-premises</a:t>
              </a:r>
            </a:p>
          </p:txBody>
        </p:sp>
        <p:pic>
          <p:nvPicPr>
            <p:cNvPr id="7" name="Amazon-VPC_Customer-Gateway" descr="Amazon VPC_Customer Gateway"/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869638" y="3532349"/>
              <a:ext cx="410659" cy="410659"/>
            </a:xfrm>
            <a:prstGeom prst="rect">
              <a:avLst/>
            </a:prstGeom>
          </p:spPr>
        </p:pic>
        <p:sp>
          <p:nvSpPr>
            <p:cNvPr id="8" name="TextBox 7"/>
            <p:cNvSpPr txBox="1"/>
            <p:nvPr/>
          </p:nvSpPr>
          <p:spPr>
            <a:xfrm>
              <a:off x="1356314" y="3983218"/>
              <a:ext cx="1437305" cy="155708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943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Customer gateway</a:t>
              </a:r>
            </a:p>
          </p:txBody>
        </p:sp>
        <p:pic>
          <p:nvPicPr>
            <p:cNvPr id="9" name="Internet" descr="Internet"/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3281277" y="3532349"/>
              <a:ext cx="410659" cy="410659"/>
            </a:xfrm>
            <a:prstGeom prst="rect">
              <a:avLst/>
            </a:prstGeom>
          </p:spPr>
        </p:pic>
        <p:sp>
          <p:nvSpPr>
            <p:cNvPr id="10" name="TextBox 9"/>
            <p:cNvSpPr txBox="1"/>
            <p:nvPr/>
          </p:nvSpPr>
          <p:spPr>
            <a:xfrm>
              <a:off x="3097336" y="3983218"/>
              <a:ext cx="778540" cy="155708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943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Internet</a:t>
              </a:r>
            </a:p>
          </p:txBody>
        </p:sp>
        <p:cxnSp>
          <p:nvCxnSpPr>
            <p:cNvPr id="11" name="Connector 10"/>
            <p:cNvCxnSpPr/>
            <p:nvPr/>
          </p:nvCxnSpPr>
          <p:spPr>
            <a:xfrm>
              <a:off x="2314518" y="3737678"/>
              <a:ext cx="932537" cy="0"/>
            </a:xfrm>
            <a:prstGeom prst="line">
              <a:avLst/>
            </a:prstGeom>
            <a:ln w="12833">
              <a:solidFill>
                <a:srgbClr val="232F3E"/>
              </a:solidFill>
              <a:prstDash val="solid"/>
              <a:miter lim="800000"/>
            </a:ln>
          </p:spPr>
        </p:cxnSp>
        <p:cxnSp>
          <p:nvCxnSpPr>
            <p:cNvPr id="12" name="Connector 11"/>
            <p:cNvCxnSpPr/>
            <p:nvPr/>
          </p:nvCxnSpPr>
          <p:spPr>
            <a:xfrm>
              <a:off x="3726157" y="3737678"/>
              <a:ext cx="461991" cy="0"/>
            </a:xfrm>
            <a:prstGeom prst="line">
              <a:avLst/>
            </a:prstGeom>
            <a:ln w="12833">
              <a:solidFill>
                <a:srgbClr val="232F3E"/>
              </a:solidFill>
              <a:prstDash val="solid"/>
              <a:miter lim="800000"/>
            </a:ln>
          </p:spPr>
        </p:cxnSp>
        <p:sp>
          <p:nvSpPr>
            <p:cNvPr id="13" name="TextBox 12"/>
            <p:cNvSpPr txBox="1"/>
            <p:nvPr/>
          </p:nvSpPr>
          <p:spPr>
            <a:xfrm>
              <a:off x="3729365" y="3563149"/>
              <a:ext cx="455574" cy="133464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808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IPsec</a:t>
              </a:r>
            </a:p>
          </p:txBody>
        </p:sp>
        <p:pic>
          <p:nvPicPr>
            <p:cNvPr id="14" name="AWS-Site-to-Site-VPN" descr="AWS Site to Site VPN"/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4222370" y="3532349"/>
              <a:ext cx="410659" cy="410659"/>
            </a:xfrm>
            <a:prstGeom prst="rect">
              <a:avLst/>
            </a:prstGeom>
          </p:spPr>
        </p:pic>
        <p:sp>
          <p:nvSpPr>
            <p:cNvPr id="15" name="TextBox 14"/>
            <p:cNvSpPr txBox="1"/>
            <p:nvPr/>
          </p:nvSpPr>
          <p:spPr>
            <a:xfrm>
              <a:off x="3709046" y="3983218"/>
              <a:ext cx="1437305" cy="155708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943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Site-to-Site VPN</a:t>
              </a:r>
            </a:p>
          </p:txBody>
        </p:sp>
        <p:cxnSp>
          <p:nvCxnSpPr>
            <p:cNvPr id="16" name="Connector 15"/>
            <p:cNvCxnSpPr/>
            <p:nvPr/>
          </p:nvCxnSpPr>
          <p:spPr>
            <a:xfrm>
              <a:off x="4667250" y="3737678"/>
              <a:ext cx="1531415" cy="0"/>
            </a:xfrm>
            <a:prstGeom prst="line">
              <a:avLst/>
            </a:prstGeom>
            <a:ln w="12833">
              <a:solidFill>
                <a:srgbClr val="232F3E"/>
              </a:solidFill>
              <a:prstDash val="solid"/>
              <a:miter lim="800000"/>
            </a:ln>
          </p:spPr>
        </p:cxnSp>
        <p:sp>
          <p:nvSpPr>
            <p:cNvPr id="17" name="Rectangle 16"/>
            <p:cNvSpPr/>
            <p:nvPr/>
          </p:nvSpPr>
          <p:spPr>
            <a:xfrm>
              <a:off x="5069353" y="1051286"/>
              <a:ext cx="5817665" cy="5441228"/>
            </a:xfrm>
            <a:prstGeom prst="rect">
              <a:avLst/>
            </a:prstGeom>
            <a:noFill/>
            <a:ln w="17111">
              <a:solidFill>
                <a:srgbClr val="232F3E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18" name="AWS-Cloud-logo_32" descr="AWS Cloud logo_32"/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5069353" y="1051286"/>
              <a:ext cx="273772" cy="273772"/>
            </a:xfrm>
            <a:prstGeom prst="rect">
              <a:avLst/>
            </a:prstGeom>
          </p:spPr>
        </p:pic>
        <p:sp>
          <p:nvSpPr>
            <p:cNvPr id="19" name="TextBox 18"/>
            <p:cNvSpPr txBox="1"/>
            <p:nvPr/>
          </p:nvSpPr>
          <p:spPr>
            <a:xfrm>
              <a:off x="5428680" y="1117590"/>
              <a:ext cx="922378" cy="16683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010" b="1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AWS Cloud</a:t>
              </a:r>
            </a:p>
          </p:txBody>
        </p:sp>
        <p:sp>
          <p:nvSpPr>
            <p:cNvPr id="20" name="Rectangle 19"/>
            <p:cNvSpPr/>
            <p:nvPr/>
          </p:nvSpPr>
          <p:spPr>
            <a:xfrm>
              <a:off x="5240461" y="1393502"/>
              <a:ext cx="2566617" cy="4688353"/>
            </a:xfrm>
            <a:prstGeom prst="rect">
              <a:avLst/>
            </a:prstGeom>
            <a:noFill/>
            <a:ln w="17111">
              <a:solidFill>
                <a:srgbClr val="00A4A6"/>
              </a:solidFill>
              <a:custDash>
                <a:ds d="150000" sp="150000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21" name="Region_32" descr="Region_32"/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5240461" y="1393502"/>
              <a:ext cx="205329" cy="205329"/>
            </a:xfrm>
            <a:prstGeom prst="rect">
              <a:avLst/>
            </a:prstGeom>
          </p:spPr>
        </p:pic>
        <p:sp>
          <p:nvSpPr>
            <p:cNvPr id="22" name="TextBox 21"/>
            <p:cNvSpPr txBox="1"/>
            <p:nvPr/>
          </p:nvSpPr>
          <p:spPr>
            <a:xfrm>
              <a:off x="5514234" y="1433712"/>
              <a:ext cx="1849033" cy="155708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943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Region ap-northeast-2</a:t>
              </a:r>
            </a:p>
          </p:txBody>
        </p:sp>
        <p:pic>
          <p:nvPicPr>
            <p:cNvPr id="23" name="AWS-Transit-Gateway" descr="AWS Transit Gateway"/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6232886" y="3532349"/>
              <a:ext cx="410659" cy="410659"/>
            </a:xfrm>
            <a:prstGeom prst="rect">
              <a:avLst/>
            </a:prstGeom>
          </p:spPr>
        </p:pic>
        <p:sp>
          <p:nvSpPr>
            <p:cNvPr id="24" name="TextBox 23"/>
            <p:cNvSpPr txBox="1"/>
            <p:nvPr/>
          </p:nvSpPr>
          <p:spPr>
            <a:xfrm>
              <a:off x="5760736" y="3983218"/>
              <a:ext cx="1354960" cy="155708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943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Transit Gateway</a:t>
              </a:r>
            </a:p>
          </p:txBody>
        </p:sp>
        <p:pic>
          <p:nvPicPr>
            <p:cNvPr id="25" name="Amazon-Virtual-Private-Cloud" descr="Amazon Virtual Private Cloud"/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5634009" y="1906825"/>
              <a:ext cx="410659" cy="410659"/>
            </a:xfrm>
            <a:prstGeom prst="rect">
              <a:avLst/>
            </a:prstGeom>
          </p:spPr>
        </p:pic>
        <p:sp>
          <p:nvSpPr>
            <p:cNvPr id="26" name="TextBox 25"/>
            <p:cNvSpPr txBox="1"/>
            <p:nvPr/>
          </p:nvSpPr>
          <p:spPr>
            <a:xfrm>
              <a:off x="5367722" y="2357694"/>
              <a:ext cx="943232" cy="155708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943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Shared VPC</a:t>
              </a:r>
            </a:p>
          </p:txBody>
        </p:sp>
        <p:pic>
          <p:nvPicPr>
            <p:cNvPr id="27" name="Amazon-Virtual-Private-Cloud" descr="Amazon Virtual Private Cloud"/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6831763" y="1906825"/>
              <a:ext cx="410659" cy="410659"/>
            </a:xfrm>
            <a:prstGeom prst="rect">
              <a:avLst/>
            </a:prstGeom>
          </p:spPr>
        </p:pic>
        <p:sp>
          <p:nvSpPr>
            <p:cNvPr id="28" name="TextBox 27"/>
            <p:cNvSpPr txBox="1"/>
            <p:nvPr/>
          </p:nvSpPr>
          <p:spPr>
            <a:xfrm>
              <a:off x="6647823" y="2357694"/>
              <a:ext cx="778540" cy="155708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943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Prod VPC</a:t>
              </a:r>
            </a:p>
          </p:txBody>
        </p:sp>
        <p:pic>
          <p:nvPicPr>
            <p:cNvPr id="29" name="Amazon-Virtual-Private-Cloud" descr="Amazon Virtual Private Cloud"/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5634009" y="5157873"/>
              <a:ext cx="410659" cy="410659"/>
            </a:xfrm>
            <a:prstGeom prst="rect">
              <a:avLst/>
            </a:prstGeom>
          </p:spPr>
        </p:pic>
        <p:sp>
          <p:nvSpPr>
            <p:cNvPr id="30" name="TextBox 29"/>
            <p:cNvSpPr txBox="1"/>
            <p:nvPr/>
          </p:nvSpPr>
          <p:spPr>
            <a:xfrm>
              <a:off x="5491241" y="5608742"/>
              <a:ext cx="696195" cy="155708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943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Dev VPC</a:t>
              </a:r>
            </a:p>
          </p:txBody>
        </p:sp>
        <p:pic>
          <p:nvPicPr>
            <p:cNvPr id="31" name="Amazon-Virtual-Private-Cloud" descr="Amazon Virtual Private Cloud"/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6831763" y="5157873"/>
              <a:ext cx="410659" cy="410659"/>
            </a:xfrm>
            <a:prstGeom prst="rect">
              <a:avLst/>
            </a:prstGeom>
          </p:spPr>
        </p:pic>
        <p:sp>
          <p:nvSpPr>
            <p:cNvPr id="32" name="TextBox 31"/>
            <p:cNvSpPr txBox="1"/>
            <p:nvPr/>
          </p:nvSpPr>
          <p:spPr>
            <a:xfrm>
              <a:off x="6647823" y="5608742"/>
              <a:ext cx="778540" cy="155708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943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Test VPC</a:t>
              </a:r>
            </a:p>
          </p:txBody>
        </p:sp>
        <p:sp>
          <p:nvSpPr>
            <p:cNvPr id="33" name="Freeform 32"/>
            <p:cNvSpPr/>
            <p:nvPr/>
          </p:nvSpPr>
          <p:spPr>
            <a:xfrm>
              <a:off x="5839338" y="2539924"/>
              <a:ext cx="513324" cy="958204"/>
            </a:xfrm>
            <a:custGeom>
              <a:avLst/>
              <a:gdLst/>
              <a:ahLst/>
              <a:cxnLst/>
              <a:rect l="l" t="t" r="r" b="b"/>
              <a:pathLst>
                <a:path w="513324" h="958204">
                  <a:moveTo>
                    <a:pt x="513324" y="958204"/>
                  </a:moveTo>
                  <a:lnTo>
                    <a:pt x="513324" y="427769"/>
                  </a:lnTo>
                  <a:lnTo>
                    <a:pt x="0" y="427769"/>
                  </a:lnTo>
                  <a:lnTo>
                    <a:pt x="0" y="0"/>
                  </a:lnTo>
                </a:path>
              </a:pathLst>
            </a:custGeom>
            <a:noFill/>
            <a:ln w="12833">
              <a:solidFill>
                <a:srgbClr val="232F3E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" name="Freeform 33"/>
            <p:cNvSpPr/>
            <p:nvPr/>
          </p:nvSpPr>
          <p:spPr>
            <a:xfrm>
              <a:off x="6523769" y="2539924"/>
              <a:ext cx="513324" cy="958204"/>
            </a:xfrm>
            <a:custGeom>
              <a:avLst/>
              <a:gdLst/>
              <a:ahLst/>
              <a:cxnLst/>
              <a:rect l="l" t="t" r="r" b="b"/>
              <a:pathLst>
                <a:path w="513324" h="958204">
                  <a:moveTo>
                    <a:pt x="0" y="958204"/>
                  </a:moveTo>
                  <a:lnTo>
                    <a:pt x="0" y="427769"/>
                  </a:lnTo>
                  <a:lnTo>
                    <a:pt x="513324" y="427769"/>
                  </a:lnTo>
                  <a:lnTo>
                    <a:pt x="513324" y="0"/>
                  </a:lnTo>
                </a:path>
              </a:pathLst>
            </a:custGeom>
            <a:noFill/>
            <a:ln w="12833">
              <a:solidFill>
                <a:srgbClr val="232F3E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" name="Freeform 34"/>
            <p:cNvSpPr/>
            <p:nvPr/>
          </p:nvSpPr>
          <p:spPr>
            <a:xfrm>
              <a:off x="5839338" y="4165448"/>
              <a:ext cx="513324" cy="958203"/>
            </a:xfrm>
            <a:custGeom>
              <a:avLst/>
              <a:gdLst/>
              <a:ahLst/>
              <a:cxnLst/>
              <a:rect l="l" t="t" r="r" b="b"/>
              <a:pathLst>
                <a:path w="513324" h="958203">
                  <a:moveTo>
                    <a:pt x="513324" y="0"/>
                  </a:moveTo>
                  <a:lnTo>
                    <a:pt x="513324" y="513323"/>
                  </a:lnTo>
                  <a:lnTo>
                    <a:pt x="0" y="513323"/>
                  </a:lnTo>
                  <a:lnTo>
                    <a:pt x="0" y="958203"/>
                  </a:lnTo>
                </a:path>
              </a:pathLst>
            </a:custGeom>
            <a:noFill/>
            <a:ln w="12833">
              <a:solidFill>
                <a:srgbClr val="232F3E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" name="Freeform 35"/>
            <p:cNvSpPr/>
            <p:nvPr/>
          </p:nvSpPr>
          <p:spPr>
            <a:xfrm>
              <a:off x="6523769" y="4165448"/>
              <a:ext cx="513324" cy="958203"/>
            </a:xfrm>
            <a:custGeom>
              <a:avLst/>
              <a:gdLst/>
              <a:ahLst/>
              <a:cxnLst/>
              <a:rect l="l" t="t" r="r" b="b"/>
              <a:pathLst>
                <a:path w="513324" h="958203">
                  <a:moveTo>
                    <a:pt x="0" y="0"/>
                  </a:moveTo>
                  <a:lnTo>
                    <a:pt x="0" y="513323"/>
                  </a:lnTo>
                  <a:lnTo>
                    <a:pt x="513324" y="513323"/>
                  </a:lnTo>
                  <a:lnTo>
                    <a:pt x="513324" y="958203"/>
                  </a:lnTo>
                </a:path>
              </a:pathLst>
            </a:custGeom>
            <a:noFill/>
            <a:ln w="12833">
              <a:solidFill>
                <a:srgbClr val="232F3E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" name="Rectangle 36"/>
            <p:cNvSpPr/>
            <p:nvPr/>
          </p:nvSpPr>
          <p:spPr>
            <a:xfrm>
              <a:off x="8149293" y="1393502"/>
              <a:ext cx="2566617" cy="4688353"/>
            </a:xfrm>
            <a:prstGeom prst="rect">
              <a:avLst/>
            </a:prstGeom>
            <a:noFill/>
            <a:ln w="17111">
              <a:solidFill>
                <a:srgbClr val="00A4A6"/>
              </a:solidFill>
              <a:custDash>
                <a:ds d="150000" sp="150000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38" name="Region_32" descr="Region_32"/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8149293" y="1393502"/>
              <a:ext cx="205329" cy="205329"/>
            </a:xfrm>
            <a:prstGeom prst="rect">
              <a:avLst/>
            </a:prstGeom>
          </p:spPr>
        </p:pic>
        <p:sp>
          <p:nvSpPr>
            <p:cNvPr id="39" name="TextBox 38"/>
            <p:cNvSpPr txBox="1"/>
            <p:nvPr/>
          </p:nvSpPr>
          <p:spPr>
            <a:xfrm>
              <a:off x="8423066" y="1433712"/>
              <a:ext cx="1849033" cy="155708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943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Region ap-northeast-1</a:t>
              </a:r>
            </a:p>
          </p:txBody>
        </p:sp>
        <p:pic>
          <p:nvPicPr>
            <p:cNvPr id="40" name="AWS-Transit-Gateway" descr="AWS Transit Gateway"/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9227272" y="3532349"/>
              <a:ext cx="410659" cy="410659"/>
            </a:xfrm>
            <a:prstGeom prst="rect">
              <a:avLst/>
            </a:prstGeom>
          </p:spPr>
        </p:pic>
        <p:sp>
          <p:nvSpPr>
            <p:cNvPr id="41" name="TextBox 40"/>
            <p:cNvSpPr txBox="1"/>
            <p:nvPr/>
          </p:nvSpPr>
          <p:spPr>
            <a:xfrm>
              <a:off x="8755122" y="3983218"/>
              <a:ext cx="1354960" cy="155708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943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Transit Gateway</a:t>
              </a:r>
            </a:p>
          </p:txBody>
        </p:sp>
        <p:pic>
          <p:nvPicPr>
            <p:cNvPr id="42" name="Amazon-Virtual-Private-Cloud" descr="Amazon Virtual Private Cloud"/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9227272" y="1906825"/>
              <a:ext cx="410659" cy="410659"/>
            </a:xfrm>
            <a:prstGeom prst="rect">
              <a:avLst/>
            </a:prstGeom>
          </p:spPr>
        </p:pic>
        <p:sp>
          <p:nvSpPr>
            <p:cNvPr id="43" name="TextBox 42"/>
            <p:cNvSpPr txBox="1"/>
            <p:nvPr/>
          </p:nvSpPr>
          <p:spPr>
            <a:xfrm>
              <a:off x="9125677" y="2357694"/>
              <a:ext cx="613849" cy="155708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943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DR VPC</a:t>
              </a:r>
            </a:p>
          </p:txBody>
        </p:sp>
        <p:pic>
          <p:nvPicPr>
            <p:cNvPr id="44" name="Amazon-Virtual-Private-Cloud" descr="Amazon Virtual Private Cloud"/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9227272" y="5157873"/>
              <a:ext cx="410659" cy="410659"/>
            </a:xfrm>
            <a:prstGeom prst="rect">
              <a:avLst/>
            </a:prstGeom>
          </p:spPr>
        </p:pic>
        <p:sp>
          <p:nvSpPr>
            <p:cNvPr id="45" name="TextBox 44"/>
            <p:cNvSpPr txBox="1"/>
            <p:nvPr/>
          </p:nvSpPr>
          <p:spPr>
            <a:xfrm>
              <a:off x="8837468" y="5608742"/>
              <a:ext cx="1190269" cy="155708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943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Analytics VPC</a:t>
              </a:r>
            </a:p>
          </p:txBody>
        </p:sp>
        <p:cxnSp>
          <p:nvCxnSpPr>
            <p:cNvPr id="46" name="Connector 45"/>
            <p:cNvCxnSpPr/>
            <p:nvPr/>
          </p:nvCxnSpPr>
          <p:spPr>
            <a:xfrm flipV="1">
              <a:off x="9432602" y="2539924"/>
              <a:ext cx="0" cy="958204"/>
            </a:xfrm>
            <a:prstGeom prst="line">
              <a:avLst/>
            </a:prstGeom>
            <a:ln w="12833">
              <a:solidFill>
                <a:srgbClr val="232F3E"/>
              </a:solidFill>
              <a:prstDash val="solid"/>
              <a:miter lim="800000"/>
            </a:ln>
          </p:spPr>
        </p:cxnSp>
        <p:cxnSp>
          <p:nvCxnSpPr>
            <p:cNvPr id="47" name="Connector 46"/>
            <p:cNvCxnSpPr/>
            <p:nvPr/>
          </p:nvCxnSpPr>
          <p:spPr>
            <a:xfrm>
              <a:off x="9432602" y="4165448"/>
              <a:ext cx="0" cy="958203"/>
            </a:xfrm>
            <a:prstGeom prst="line">
              <a:avLst/>
            </a:prstGeom>
            <a:ln w="12833">
              <a:solidFill>
                <a:srgbClr val="232F3E"/>
              </a:solidFill>
              <a:prstDash val="solid"/>
              <a:miter lim="800000"/>
            </a:ln>
          </p:spPr>
        </p:cxnSp>
        <p:cxnSp>
          <p:nvCxnSpPr>
            <p:cNvPr id="48" name="Connector 47"/>
            <p:cNvCxnSpPr/>
            <p:nvPr/>
          </p:nvCxnSpPr>
          <p:spPr>
            <a:xfrm>
              <a:off x="6677766" y="3737678"/>
              <a:ext cx="2515285" cy="0"/>
            </a:xfrm>
            <a:prstGeom prst="line">
              <a:avLst/>
            </a:prstGeom>
            <a:ln w="21388">
              <a:solidFill>
                <a:srgbClr val="232F3E"/>
              </a:solidFill>
              <a:prstDash val="solid"/>
              <a:miter lim="800000"/>
            </a:ln>
          </p:spPr>
        </p:cxnSp>
        <p:sp>
          <p:nvSpPr>
            <p:cNvPr id="49" name="TextBox 48"/>
            <p:cNvSpPr txBox="1"/>
            <p:nvPr/>
          </p:nvSpPr>
          <p:spPr>
            <a:xfrm>
              <a:off x="6802889" y="3563149"/>
              <a:ext cx="879066" cy="133464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808" b="1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TGW peering</a:t>
              </a:r>
            </a:p>
          </p:txBody>
        </p:sp>
        <p:sp>
          <p:nvSpPr>
            <p:cNvPr id="50" name="TextBox 49"/>
            <p:cNvSpPr txBox="1"/>
            <p:nvPr/>
          </p:nvSpPr>
          <p:spPr>
            <a:xfrm>
              <a:off x="6587935" y="3794144"/>
              <a:ext cx="1308975" cy="133464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808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리전 간 · AWS 백본</a:t>
              </a:r>
            </a:p>
          </p:txBody>
        </p:sp>
        <p:sp>
          <p:nvSpPr>
            <p:cNvPr id="51" name="TextBox 50"/>
            <p:cNvSpPr txBox="1"/>
            <p:nvPr/>
          </p:nvSpPr>
          <p:spPr>
            <a:xfrm>
              <a:off x="4562446" y="6223875"/>
              <a:ext cx="6153464" cy="133464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r">
                <a:lnSpc>
                  <a:spcPct val="100000"/>
                </a:lnSpc>
              </a:pPr>
              <a:r>
                <a:rPr sz="808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Hub &amp; spoke: VPC는 리전의 TGW에 attachment로 연결 · 리전 간에는 TGW peering (정적 라우팅)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228600" y="228600"/>
            <a:ext cx="11734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400" b="1" lang="ko-KR">
                <a:solidFill>
                  <a:srgbClr val="232F3E"/>
                </a:solidFill>
                <a:latin typeface="Arial"/>
                <a:ea typeface="Malgun Gothic"/>
                <a:cs typeface="Malgun Gothic"/>
              </a:rPr>
              <a:t>AWS Cloud WAN global core network</a:t>
            </a:r>
          </a:p>
        </p:txBody>
      </p:sp>
      <p:grpSp>
        <p:nvGrpSpPr>
          <p:cNvPr id="3" name="Architecture diagram"/>
          <p:cNvGrpSpPr/>
          <p:nvPr/>
        </p:nvGrpSpPr>
        <p:grpSpPr>
          <a:xfrm>
            <a:off x="1299482" y="1050471"/>
            <a:ext cx="9593035" cy="5442857"/>
            <a:chOff x="1299482" y="1050471"/>
            <a:chExt cx="9593035" cy="5442857"/>
          </a:xfrm>
        </p:grpSpPr>
        <p:sp>
          <p:nvSpPr>
            <p:cNvPr id="4" name="Rectangle 3"/>
            <p:cNvSpPr/>
            <p:nvPr/>
          </p:nvSpPr>
          <p:spPr>
            <a:xfrm>
              <a:off x="1299482" y="3363686"/>
              <a:ext cx="1530804" cy="969509"/>
            </a:xfrm>
            <a:prstGeom prst="rect">
              <a:avLst/>
            </a:prstGeom>
            <a:noFill/>
            <a:ln w="17009">
              <a:solidFill>
                <a:srgbClr val="7D8998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5" name="Corporate-data-center_32" descr="Corporate data center_32"/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299482" y="3363686"/>
              <a:ext cx="204107" cy="204107"/>
            </a:xfrm>
            <a:prstGeom prst="rect">
              <a:avLst/>
            </a:prstGeom>
          </p:spPr>
        </p:pic>
        <p:sp>
          <p:nvSpPr>
            <p:cNvPr id="6" name="TextBox 5"/>
            <p:cNvSpPr txBox="1"/>
            <p:nvPr/>
          </p:nvSpPr>
          <p:spPr>
            <a:xfrm>
              <a:off x="1571625" y="3403657"/>
              <a:ext cx="1019473" cy="154781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937" b="1" lang="ko-KR">
                  <a:solidFill>
                    <a:srgbClr val="7D8998"/>
                  </a:solidFill>
                  <a:latin typeface="Arial"/>
                  <a:ea typeface="Malgun Gothic"/>
                  <a:cs typeface="Malgun Gothic"/>
                </a:rPr>
                <a:t>On-premises</a:t>
              </a:r>
            </a:p>
          </p:txBody>
        </p:sp>
        <p:pic>
          <p:nvPicPr>
            <p:cNvPr id="7" name="Amazon-VPC_Customer-Gateway" descr="Amazon VPC_Customer Gateway"/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860777" y="3652838"/>
              <a:ext cx="408214" cy="408214"/>
            </a:xfrm>
            <a:prstGeom prst="rect">
              <a:avLst/>
            </a:prstGeom>
          </p:spPr>
        </p:pic>
        <p:sp>
          <p:nvSpPr>
            <p:cNvPr id="8" name="TextBox 7"/>
            <p:cNvSpPr txBox="1"/>
            <p:nvPr/>
          </p:nvSpPr>
          <p:spPr>
            <a:xfrm>
              <a:off x="1350509" y="4101023"/>
              <a:ext cx="1428750" cy="154781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937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Customer gateway</a:t>
              </a:r>
            </a:p>
          </p:txBody>
        </p:sp>
        <p:pic>
          <p:nvPicPr>
            <p:cNvPr id="9" name="Internet" descr="Internet"/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3264013" y="3652838"/>
              <a:ext cx="408214" cy="408214"/>
            </a:xfrm>
            <a:prstGeom prst="rect">
              <a:avLst/>
            </a:prstGeom>
          </p:spPr>
        </p:pic>
        <p:sp>
          <p:nvSpPr>
            <p:cNvPr id="10" name="TextBox 9"/>
            <p:cNvSpPr txBox="1"/>
            <p:nvPr/>
          </p:nvSpPr>
          <p:spPr>
            <a:xfrm>
              <a:off x="3081167" y="4101023"/>
              <a:ext cx="773906" cy="154781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937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Internet</a:t>
              </a:r>
            </a:p>
          </p:txBody>
        </p:sp>
        <p:pic>
          <p:nvPicPr>
            <p:cNvPr id="11" name="AWS-Site-to-Site-VPN" descr="AWS Site to Site VPN"/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4199504" y="3652838"/>
              <a:ext cx="408214" cy="408214"/>
            </a:xfrm>
            <a:prstGeom prst="rect">
              <a:avLst/>
            </a:prstGeom>
          </p:spPr>
        </p:pic>
        <p:sp>
          <p:nvSpPr>
            <p:cNvPr id="12" name="TextBox 11"/>
            <p:cNvSpPr txBox="1"/>
            <p:nvPr/>
          </p:nvSpPr>
          <p:spPr>
            <a:xfrm>
              <a:off x="3689237" y="4101023"/>
              <a:ext cx="1428750" cy="154781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937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Site-to-Site VPN</a:t>
              </a:r>
            </a:p>
          </p:txBody>
        </p:sp>
        <p:cxnSp>
          <p:nvCxnSpPr>
            <p:cNvPr id="13" name="Connector 12"/>
            <p:cNvCxnSpPr/>
            <p:nvPr/>
          </p:nvCxnSpPr>
          <p:spPr>
            <a:xfrm>
              <a:off x="2303009" y="3856945"/>
              <a:ext cx="926987" cy="0"/>
            </a:xfrm>
            <a:prstGeom prst="line">
              <a:avLst/>
            </a:prstGeom>
            <a:ln w="12757">
              <a:solidFill>
                <a:srgbClr val="232F3E"/>
              </a:solidFill>
              <a:prstDash val="solid"/>
              <a:miter lim="800000"/>
            </a:ln>
          </p:spPr>
        </p:cxnSp>
        <p:cxnSp>
          <p:nvCxnSpPr>
            <p:cNvPr id="14" name="Connector 13"/>
            <p:cNvCxnSpPr/>
            <p:nvPr/>
          </p:nvCxnSpPr>
          <p:spPr>
            <a:xfrm>
              <a:off x="3706246" y="3856945"/>
              <a:ext cx="459241" cy="0"/>
            </a:xfrm>
            <a:prstGeom prst="line">
              <a:avLst/>
            </a:prstGeom>
            <a:ln w="12757">
              <a:solidFill>
                <a:srgbClr val="232F3E"/>
              </a:solidFill>
              <a:prstDash val="solid"/>
              <a:miter lim="800000"/>
            </a:ln>
          </p:spPr>
        </p:cxnSp>
        <p:sp>
          <p:nvSpPr>
            <p:cNvPr id="15" name="TextBox 14"/>
            <p:cNvSpPr txBox="1"/>
            <p:nvPr/>
          </p:nvSpPr>
          <p:spPr>
            <a:xfrm>
              <a:off x="3709435" y="3683454"/>
              <a:ext cx="452863" cy="13267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803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IPsec</a:t>
              </a:r>
            </a:p>
          </p:txBody>
        </p:sp>
        <p:cxnSp>
          <p:nvCxnSpPr>
            <p:cNvPr id="16" name="Connector 15"/>
            <p:cNvCxnSpPr/>
            <p:nvPr/>
          </p:nvCxnSpPr>
          <p:spPr>
            <a:xfrm>
              <a:off x="4641737" y="3856945"/>
              <a:ext cx="2406763" cy="0"/>
            </a:xfrm>
            <a:prstGeom prst="line">
              <a:avLst/>
            </a:prstGeom>
            <a:ln w="12757">
              <a:solidFill>
                <a:srgbClr val="232F3E"/>
              </a:solidFill>
              <a:prstDash val="solid"/>
              <a:miter lim="800000"/>
            </a:ln>
          </p:spPr>
        </p:cxnSp>
        <p:sp>
          <p:nvSpPr>
            <p:cNvPr id="17" name="Rectangle 16"/>
            <p:cNvSpPr/>
            <p:nvPr/>
          </p:nvSpPr>
          <p:spPr>
            <a:xfrm>
              <a:off x="5041446" y="1050471"/>
              <a:ext cx="5851071" cy="5442857"/>
            </a:xfrm>
            <a:prstGeom prst="rect">
              <a:avLst/>
            </a:prstGeom>
            <a:noFill/>
            <a:ln w="17009">
              <a:solidFill>
                <a:srgbClr val="232F3E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18" name="AWS-Cloud-logo_32" descr="AWS Cloud logo_32"/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5041446" y="1050471"/>
              <a:ext cx="272143" cy="272143"/>
            </a:xfrm>
            <a:prstGeom prst="rect">
              <a:avLst/>
            </a:prstGeom>
          </p:spPr>
        </p:pic>
        <p:sp>
          <p:nvSpPr>
            <p:cNvPr id="19" name="TextBox 18"/>
            <p:cNvSpPr txBox="1"/>
            <p:nvPr/>
          </p:nvSpPr>
          <p:spPr>
            <a:xfrm>
              <a:off x="5398634" y="1116381"/>
              <a:ext cx="916888" cy="16583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004" b="1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AWS Cloud</a:t>
              </a:r>
            </a:p>
          </p:txBody>
        </p:sp>
        <p:sp>
          <p:nvSpPr>
            <p:cNvPr id="20" name="Rectangle 19"/>
            <p:cNvSpPr/>
            <p:nvPr/>
          </p:nvSpPr>
          <p:spPr>
            <a:xfrm>
              <a:off x="6436179" y="1458686"/>
              <a:ext cx="1700893" cy="4643438"/>
            </a:xfrm>
            <a:prstGeom prst="rect">
              <a:avLst/>
            </a:prstGeom>
            <a:noFill/>
            <a:ln w="17009">
              <a:solidFill>
                <a:srgbClr val="00A4A6"/>
              </a:solidFill>
              <a:custDash>
                <a:ds d="150000" sp="150000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21" name="Region_32" descr="Region_32"/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6436179" y="1458686"/>
              <a:ext cx="204107" cy="204107"/>
            </a:xfrm>
            <a:prstGeom prst="rect">
              <a:avLst/>
            </a:prstGeom>
          </p:spPr>
        </p:pic>
        <p:sp>
          <p:nvSpPr>
            <p:cNvPr id="22" name="TextBox 21"/>
            <p:cNvSpPr txBox="1"/>
            <p:nvPr/>
          </p:nvSpPr>
          <p:spPr>
            <a:xfrm>
              <a:off x="6708321" y="1498657"/>
              <a:ext cx="1265039" cy="154781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937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ap-northeast-2</a:t>
              </a:r>
            </a:p>
          </p:txBody>
        </p:sp>
        <p:sp>
          <p:nvSpPr>
            <p:cNvPr id="23" name="Rectangle 22"/>
            <p:cNvSpPr/>
            <p:nvPr/>
          </p:nvSpPr>
          <p:spPr>
            <a:xfrm>
              <a:off x="8987518" y="1458686"/>
              <a:ext cx="1700893" cy="4643438"/>
            </a:xfrm>
            <a:prstGeom prst="rect">
              <a:avLst/>
            </a:prstGeom>
            <a:noFill/>
            <a:ln w="17009">
              <a:solidFill>
                <a:srgbClr val="00A4A6"/>
              </a:solidFill>
              <a:custDash>
                <a:ds d="150000" sp="150000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24" name="Region_32" descr="Region_32"/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8987518" y="1458686"/>
              <a:ext cx="204107" cy="204107"/>
            </a:xfrm>
            <a:prstGeom prst="rect">
              <a:avLst/>
            </a:prstGeom>
          </p:spPr>
        </p:pic>
        <p:sp>
          <p:nvSpPr>
            <p:cNvPr id="25" name="TextBox 24"/>
            <p:cNvSpPr txBox="1"/>
            <p:nvPr/>
          </p:nvSpPr>
          <p:spPr>
            <a:xfrm>
              <a:off x="9259661" y="1498657"/>
              <a:ext cx="855762" cy="154781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937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us-east-1</a:t>
              </a:r>
            </a:p>
          </p:txBody>
        </p:sp>
        <p:sp>
          <p:nvSpPr>
            <p:cNvPr id="26" name="Rectangle 25"/>
            <p:cNvSpPr/>
            <p:nvPr/>
          </p:nvSpPr>
          <p:spPr>
            <a:xfrm>
              <a:off x="5245554" y="2445204"/>
              <a:ext cx="5340804" cy="2789464"/>
            </a:xfrm>
            <a:prstGeom prst="rect">
              <a:avLst/>
            </a:prstGeom>
            <a:noFill/>
            <a:ln w="17009">
              <a:solidFill>
                <a:srgbClr val="8C4FFF"/>
              </a:solidFill>
              <a:custDash>
                <a:ds d="400000" sp="200000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27" name="AWS-Cloud-WAN" descr="AWS Cloud WAN"/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5245554" y="2445204"/>
              <a:ext cx="204107" cy="204107"/>
            </a:xfrm>
            <a:prstGeom prst="rect">
              <a:avLst/>
            </a:prstGeom>
          </p:spPr>
        </p:pic>
        <p:sp>
          <p:nvSpPr>
            <p:cNvPr id="28" name="TextBox 27"/>
            <p:cNvSpPr txBox="1"/>
            <p:nvPr/>
          </p:nvSpPr>
          <p:spPr>
            <a:xfrm>
              <a:off x="5517696" y="2485175"/>
              <a:ext cx="1101328" cy="154781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937" b="1" lang="ko-KR">
                  <a:solidFill>
                    <a:srgbClr val="8C4FFF"/>
                  </a:solidFill>
                  <a:latin typeface="Arial"/>
                  <a:ea typeface="Malgun Gothic"/>
                  <a:cs typeface="Malgun Gothic"/>
                </a:rPr>
                <a:t>Core network</a:t>
              </a:r>
            </a:p>
          </p:txBody>
        </p:sp>
        <p:sp>
          <p:nvSpPr>
            <p:cNvPr id="29" name="Rectangle 28"/>
            <p:cNvSpPr/>
            <p:nvPr/>
          </p:nvSpPr>
          <p:spPr>
            <a:xfrm>
              <a:off x="5347607" y="2717346"/>
              <a:ext cx="5136696" cy="799420"/>
            </a:xfrm>
            <a:prstGeom prst="rect">
              <a:avLst/>
            </a:prstGeom>
            <a:noFill/>
            <a:ln w="12757">
              <a:solidFill>
                <a:srgbClr val="7D8998"/>
              </a:solidFill>
              <a:custDash>
                <a:ds d="400000" sp="266667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30" name="AWS-Cloud-WAN_Segment-Network" descr="AWS Cloud WAN_Segment Network"/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5551714" y="2836409"/>
              <a:ext cx="408214" cy="408214"/>
            </a:xfrm>
            <a:prstGeom prst="rect">
              <a:avLst/>
            </a:prstGeom>
          </p:spPr>
        </p:pic>
        <p:sp>
          <p:nvSpPr>
            <p:cNvPr id="31" name="TextBox 30"/>
            <p:cNvSpPr txBox="1"/>
            <p:nvPr/>
          </p:nvSpPr>
          <p:spPr>
            <a:xfrm>
              <a:off x="5287013" y="3284594"/>
              <a:ext cx="937617" cy="154781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937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Production</a:t>
              </a:r>
            </a:p>
          </p:txBody>
        </p:sp>
        <p:pic>
          <p:nvPicPr>
            <p:cNvPr id="32" name="AWS-Cloud-WAN_Core-Network-Edge" descr="AWS Cloud WAN_Core Network Edge"/>
            <p:cNvPicPr>
              <a:picLocks noChangeAspect="1"/>
            </p:cNvPicPr>
            <p:nvPr/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7082518" y="3652838"/>
              <a:ext cx="408214" cy="408214"/>
            </a:xfrm>
            <a:prstGeom prst="rect">
              <a:avLst/>
            </a:prstGeom>
          </p:spPr>
        </p:pic>
        <p:sp>
          <p:nvSpPr>
            <p:cNvPr id="33" name="TextBox 32"/>
            <p:cNvSpPr txBox="1"/>
            <p:nvPr/>
          </p:nvSpPr>
          <p:spPr>
            <a:xfrm>
              <a:off x="6531322" y="4101023"/>
              <a:ext cx="1510605" cy="154781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937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Core network edge</a:t>
              </a:r>
            </a:p>
          </p:txBody>
        </p:sp>
        <p:pic>
          <p:nvPicPr>
            <p:cNvPr id="34" name="AWS-Cloud-WAN_Core-Network-Edge" descr="AWS Cloud WAN_Core Network Edge"/>
            <p:cNvPicPr>
              <a:picLocks noChangeAspect="1"/>
            </p:cNvPicPr>
            <p:nvPr/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9633857" y="3652838"/>
              <a:ext cx="408214" cy="408214"/>
            </a:xfrm>
            <a:prstGeom prst="rect">
              <a:avLst/>
            </a:prstGeom>
          </p:spPr>
        </p:pic>
        <p:sp>
          <p:nvSpPr>
            <p:cNvPr id="35" name="TextBox 34"/>
            <p:cNvSpPr txBox="1"/>
            <p:nvPr/>
          </p:nvSpPr>
          <p:spPr>
            <a:xfrm>
              <a:off x="9082662" y="4101023"/>
              <a:ext cx="1510605" cy="154781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937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Core network edge</a:t>
              </a:r>
            </a:p>
          </p:txBody>
        </p:sp>
        <p:cxnSp>
          <p:nvCxnSpPr>
            <p:cNvPr id="36" name="Connector 35"/>
            <p:cNvCxnSpPr/>
            <p:nvPr/>
          </p:nvCxnSpPr>
          <p:spPr>
            <a:xfrm>
              <a:off x="7524750" y="3856945"/>
              <a:ext cx="2075089" cy="0"/>
            </a:xfrm>
            <a:prstGeom prst="line">
              <a:avLst/>
            </a:prstGeom>
            <a:ln w="21261">
              <a:solidFill>
                <a:srgbClr val="232F3E"/>
              </a:solidFill>
              <a:prstDash val="solid"/>
              <a:miter lim="800000"/>
            </a:ln>
          </p:spPr>
        </p:cxnSp>
        <p:sp>
          <p:nvSpPr>
            <p:cNvPr id="37" name="TextBox 36"/>
            <p:cNvSpPr txBox="1"/>
            <p:nvPr/>
          </p:nvSpPr>
          <p:spPr>
            <a:xfrm>
              <a:off x="8243377" y="3683454"/>
              <a:ext cx="637835" cy="13267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803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AWS 백본</a:t>
              </a:r>
            </a:p>
          </p:txBody>
        </p:sp>
        <p:sp>
          <p:nvSpPr>
            <p:cNvPr id="38" name="Rectangle 37"/>
            <p:cNvSpPr/>
            <p:nvPr/>
          </p:nvSpPr>
          <p:spPr>
            <a:xfrm>
              <a:off x="5347607" y="4333195"/>
              <a:ext cx="5136696" cy="799420"/>
            </a:xfrm>
            <a:prstGeom prst="rect">
              <a:avLst/>
            </a:prstGeom>
            <a:noFill/>
            <a:ln w="12757">
              <a:solidFill>
                <a:srgbClr val="7D8998"/>
              </a:solidFill>
              <a:custDash>
                <a:ds d="400000" sp="266667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39" name="AWS-Cloud-WAN_Segment-Network" descr="AWS Cloud WAN_Segment Network"/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5551714" y="4452257"/>
              <a:ext cx="408214" cy="408214"/>
            </a:xfrm>
            <a:prstGeom prst="rect">
              <a:avLst/>
            </a:prstGeom>
          </p:spPr>
        </p:pic>
        <p:sp>
          <p:nvSpPr>
            <p:cNvPr id="40" name="TextBox 39"/>
            <p:cNvSpPr txBox="1"/>
            <p:nvPr/>
          </p:nvSpPr>
          <p:spPr>
            <a:xfrm>
              <a:off x="5246085" y="4900442"/>
              <a:ext cx="1019473" cy="154781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937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Development</a:t>
              </a:r>
            </a:p>
          </p:txBody>
        </p:sp>
        <p:pic>
          <p:nvPicPr>
            <p:cNvPr id="41" name="Amazon-Virtual-Private-Cloud" descr="Amazon Virtual Private Cloud"/>
            <p:cNvPicPr>
              <a:picLocks noChangeAspect="1"/>
            </p:cNvPicPr>
            <p:nvPr/>
          </p:nvPicPr>
          <p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7082518" y="1730829"/>
              <a:ext cx="408214" cy="408214"/>
            </a:xfrm>
            <a:prstGeom prst="rect">
              <a:avLst/>
            </a:prstGeom>
          </p:spPr>
        </p:pic>
        <p:sp>
          <p:nvSpPr>
            <p:cNvPr id="42" name="TextBox 41"/>
            <p:cNvSpPr txBox="1"/>
            <p:nvPr/>
          </p:nvSpPr>
          <p:spPr>
            <a:xfrm>
              <a:off x="6899672" y="2179014"/>
              <a:ext cx="773906" cy="154781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937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Prod VPC</a:t>
              </a:r>
            </a:p>
          </p:txBody>
        </p:sp>
        <p:pic>
          <p:nvPicPr>
            <p:cNvPr id="43" name="Amazon-Virtual-Private-Cloud" descr="Amazon Virtual Private Cloud"/>
            <p:cNvPicPr>
              <a:picLocks noChangeAspect="1"/>
            </p:cNvPicPr>
            <p:nvPr/>
          </p:nvPicPr>
          <p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9633857" y="1730829"/>
              <a:ext cx="408214" cy="408214"/>
            </a:xfrm>
            <a:prstGeom prst="rect">
              <a:avLst/>
            </a:prstGeom>
          </p:spPr>
        </p:pic>
        <p:sp>
          <p:nvSpPr>
            <p:cNvPr id="44" name="TextBox 43"/>
            <p:cNvSpPr txBox="1"/>
            <p:nvPr/>
          </p:nvSpPr>
          <p:spPr>
            <a:xfrm>
              <a:off x="9451011" y="2179014"/>
              <a:ext cx="773906" cy="154781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937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Prod VPC</a:t>
              </a:r>
            </a:p>
          </p:txBody>
        </p:sp>
        <p:pic>
          <p:nvPicPr>
            <p:cNvPr id="45" name="Amazon-Virtual-Private-Cloud" descr="Amazon Virtual Private Cloud"/>
            <p:cNvPicPr>
              <a:picLocks noChangeAspect="1"/>
            </p:cNvPicPr>
            <p:nvPr/>
          </p:nvPicPr>
          <p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7082518" y="5404757"/>
              <a:ext cx="408214" cy="408214"/>
            </a:xfrm>
            <a:prstGeom prst="rect">
              <a:avLst/>
            </a:prstGeom>
          </p:spPr>
        </p:pic>
        <p:sp>
          <p:nvSpPr>
            <p:cNvPr id="46" name="TextBox 45"/>
            <p:cNvSpPr txBox="1"/>
            <p:nvPr/>
          </p:nvSpPr>
          <p:spPr>
            <a:xfrm>
              <a:off x="6940600" y="5852942"/>
              <a:ext cx="692051" cy="154781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937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Dev VPC</a:t>
              </a:r>
            </a:p>
          </p:txBody>
        </p:sp>
        <p:pic>
          <p:nvPicPr>
            <p:cNvPr id="47" name="Amazon-Virtual-Private-Cloud" descr="Amazon Virtual Private Cloud"/>
            <p:cNvPicPr>
              <a:picLocks noChangeAspect="1"/>
            </p:cNvPicPr>
            <p:nvPr/>
          </p:nvPicPr>
          <p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9633857" y="5404757"/>
              <a:ext cx="408214" cy="408214"/>
            </a:xfrm>
            <a:prstGeom prst="rect">
              <a:avLst/>
            </a:prstGeom>
          </p:spPr>
        </p:pic>
        <p:sp>
          <p:nvSpPr>
            <p:cNvPr id="48" name="TextBox 47"/>
            <p:cNvSpPr txBox="1"/>
            <p:nvPr/>
          </p:nvSpPr>
          <p:spPr>
            <a:xfrm>
              <a:off x="9491939" y="5852942"/>
              <a:ext cx="692051" cy="154781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937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Dev VPC</a:t>
              </a:r>
            </a:p>
          </p:txBody>
        </p:sp>
        <p:cxnSp>
          <p:nvCxnSpPr>
            <p:cNvPr id="49" name="Connector 48"/>
            <p:cNvCxnSpPr/>
            <p:nvPr/>
          </p:nvCxnSpPr>
          <p:spPr>
            <a:xfrm>
              <a:off x="7286625" y="2360159"/>
              <a:ext cx="0" cy="1258661"/>
            </a:xfrm>
            <a:prstGeom prst="line">
              <a:avLst/>
            </a:prstGeom>
            <a:ln w="12757">
              <a:solidFill>
                <a:srgbClr val="232F3E"/>
              </a:solidFill>
              <a:prstDash val="solid"/>
              <a:miter lim="800000"/>
            </a:ln>
          </p:spPr>
        </p:cxnSp>
        <p:cxnSp>
          <p:nvCxnSpPr>
            <p:cNvPr id="50" name="Connector 49"/>
            <p:cNvCxnSpPr/>
            <p:nvPr/>
          </p:nvCxnSpPr>
          <p:spPr>
            <a:xfrm>
              <a:off x="9837964" y="2360159"/>
              <a:ext cx="0" cy="1258661"/>
            </a:xfrm>
            <a:prstGeom prst="line">
              <a:avLst/>
            </a:prstGeom>
            <a:ln w="12757">
              <a:solidFill>
                <a:srgbClr val="232F3E"/>
              </a:solidFill>
              <a:prstDash val="solid"/>
              <a:miter lim="800000"/>
            </a:ln>
          </p:spPr>
        </p:cxnSp>
        <p:cxnSp>
          <p:nvCxnSpPr>
            <p:cNvPr id="51" name="Connector 50"/>
            <p:cNvCxnSpPr/>
            <p:nvPr/>
          </p:nvCxnSpPr>
          <p:spPr>
            <a:xfrm>
              <a:off x="7286625" y="4282168"/>
              <a:ext cx="0" cy="1088571"/>
            </a:xfrm>
            <a:prstGeom prst="line">
              <a:avLst/>
            </a:prstGeom>
            <a:ln w="12757">
              <a:solidFill>
                <a:srgbClr val="232F3E"/>
              </a:solidFill>
              <a:prstDash val="solid"/>
              <a:miter lim="800000"/>
            </a:ln>
          </p:spPr>
        </p:cxnSp>
        <p:cxnSp>
          <p:nvCxnSpPr>
            <p:cNvPr id="52" name="Connector 51"/>
            <p:cNvCxnSpPr/>
            <p:nvPr/>
          </p:nvCxnSpPr>
          <p:spPr>
            <a:xfrm>
              <a:off x="9837964" y="4282168"/>
              <a:ext cx="0" cy="1088571"/>
            </a:xfrm>
            <a:prstGeom prst="line">
              <a:avLst/>
            </a:prstGeom>
            <a:ln w="12757">
              <a:solidFill>
                <a:srgbClr val="232F3E"/>
              </a:solidFill>
              <a:prstDash val="solid"/>
              <a:miter lim="800000"/>
            </a:ln>
          </p:spPr>
        </p:cxnSp>
        <p:sp>
          <p:nvSpPr>
            <p:cNvPr id="53" name="Oval 52"/>
            <p:cNvSpPr/>
            <p:nvPr/>
          </p:nvSpPr>
          <p:spPr>
            <a:xfrm>
              <a:off x="7244103" y="3074534"/>
              <a:ext cx="85045" cy="85045"/>
            </a:xfrm>
            <a:prstGeom prst="ellipse">
              <a:avLst/>
            </a:prstGeom>
            <a:solidFill>
              <a:srgbClr val="7D899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" name="Oval 53"/>
            <p:cNvSpPr/>
            <p:nvPr/>
          </p:nvSpPr>
          <p:spPr>
            <a:xfrm>
              <a:off x="9795442" y="3074534"/>
              <a:ext cx="85045" cy="85045"/>
            </a:xfrm>
            <a:prstGeom prst="ellipse">
              <a:avLst/>
            </a:prstGeom>
            <a:solidFill>
              <a:srgbClr val="7D899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" name="Oval 54"/>
            <p:cNvSpPr/>
            <p:nvPr/>
          </p:nvSpPr>
          <p:spPr>
            <a:xfrm>
              <a:off x="7244103" y="4690382"/>
              <a:ext cx="85045" cy="85045"/>
            </a:xfrm>
            <a:prstGeom prst="ellipse">
              <a:avLst/>
            </a:prstGeom>
            <a:solidFill>
              <a:srgbClr val="7D899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6" name="Oval 55"/>
            <p:cNvSpPr/>
            <p:nvPr/>
          </p:nvSpPr>
          <p:spPr>
            <a:xfrm>
              <a:off x="9795442" y="4690382"/>
              <a:ext cx="85045" cy="85045"/>
            </a:xfrm>
            <a:prstGeom prst="ellipse">
              <a:avLst/>
            </a:prstGeom>
            <a:solidFill>
              <a:srgbClr val="7D899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7" name="TextBox 56"/>
            <p:cNvSpPr txBox="1"/>
            <p:nvPr/>
          </p:nvSpPr>
          <p:spPr>
            <a:xfrm>
              <a:off x="3684984" y="6260306"/>
              <a:ext cx="7003426" cy="13267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r">
                <a:lnSpc>
                  <a:spcPct val="100000"/>
                </a:lnSpc>
              </a:pPr>
              <a:r>
                <a:rPr sz="803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segment는 core network 안의 라우팅 도메인 · ● = attachment가 속한 segment · segment 간은 정책으로 격리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Internet-facing NLB</dc:title>
  <dc:subject/>
  <dc:creator/>
  <cp:keywords/>
  <dc:description>Generated by skill-aws-arch-diagram</dc:description>
  <cp:lastModifiedBy/>
  <cp:revision>1</cp:revision>
  <dcterms:created xsi:type="dcterms:W3CDTF">2026-10-23T00:57:00Z</dcterms:created>
  <dcterms:modified xsi:type="dcterms:W3CDTF">2026-10-23T00:57:00Z</dcterms:modified>
  <cp:category/>
</cp:coreProperties>
</file>