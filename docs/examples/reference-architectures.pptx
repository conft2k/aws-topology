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31.png"/><Relationship Id="rId13" Type="http://schemas.openxmlformats.org/officeDocument/2006/relationships/image" Target="../media/image32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Relationship Id="rId16" Type="http://schemas.openxmlformats.org/officeDocument/2006/relationships/image" Target="../media/image13.png"/><Relationship Id="rId17" Type="http://schemas.openxmlformats.org/officeDocument/2006/relationships/image" Target="../media/image14.svg"/><Relationship Id="rId18" Type="http://schemas.openxmlformats.org/officeDocument/2006/relationships/image" Target="../media/image15.png"/><Relationship Id="rId19" Type="http://schemas.openxmlformats.org/officeDocument/2006/relationships/image" Target="../media/image16.svg"/><Relationship Id="rId20" Type="http://schemas.openxmlformats.org/officeDocument/2006/relationships/image" Target="../media/image17.png"/><Relationship Id="rId21" Type="http://schemas.openxmlformats.org/officeDocument/2006/relationships/image" Target="../media/image18.svg"/><Relationship Id="rId22" Type="http://schemas.openxmlformats.org/officeDocument/2006/relationships/image" Target="../media/image19.png"/><Relationship Id="rId23" Type="http://schemas.openxmlformats.org/officeDocument/2006/relationships/image" Target="../media/image20.svg"/><Relationship Id="rId24" Type="http://schemas.openxmlformats.org/officeDocument/2006/relationships/image" Target="../media/image21.png"/><Relationship Id="rId25" Type="http://schemas.openxmlformats.org/officeDocument/2006/relationships/image" Target="../media/image22.svg"/><Relationship Id="rId26" Type="http://schemas.openxmlformats.org/officeDocument/2006/relationships/image" Target="../media/image23.png"/><Relationship Id="rId27" Type="http://schemas.openxmlformats.org/officeDocument/2006/relationships/image" Target="../media/image24.svg"/><Relationship Id="rId28" Type="http://schemas.openxmlformats.org/officeDocument/2006/relationships/image" Target="../media/image25.png"/><Relationship Id="rId29" Type="http://schemas.openxmlformats.org/officeDocument/2006/relationships/image" Target="../media/image26.svg"/><Relationship Id="rId30" Type="http://schemas.openxmlformats.org/officeDocument/2006/relationships/image" Target="../media/image33.png"/><Relationship Id="rId31" Type="http://schemas.openxmlformats.org/officeDocument/2006/relationships/image" Target="../media/image34.svg"/><Relationship Id="rId32" Type="http://schemas.openxmlformats.org/officeDocument/2006/relationships/image" Target="../media/image35.png"/><Relationship Id="rId33" Type="http://schemas.openxmlformats.org/officeDocument/2006/relationships/image" Target="../media/image36.svg"/><Relationship Id="rId34" Type="http://schemas.openxmlformats.org/officeDocument/2006/relationships/image" Target="../media/image29.png"/><Relationship Id="rId35" Type="http://schemas.openxmlformats.org/officeDocument/2006/relationships/image" Target="../media/image3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Relationship Id="rId12" Type="http://schemas.openxmlformats.org/officeDocument/2006/relationships/image" Target="../media/image19.png"/><Relationship Id="rId13" Type="http://schemas.openxmlformats.org/officeDocument/2006/relationships/image" Target="../media/image20.svg"/><Relationship Id="rId14" Type="http://schemas.openxmlformats.org/officeDocument/2006/relationships/image" Target="../media/image37.png"/><Relationship Id="rId15" Type="http://schemas.openxmlformats.org/officeDocument/2006/relationships/image" Target="../media/image38.svg"/><Relationship Id="rId16" Type="http://schemas.openxmlformats.org/officeDocument/2006/relationships/image" Target="../media/image25.png"/><Relationship Id="rId17" Type="http://schemas.openxmlformats.org/officeDocument/2006/relationships/image" Target="../media/image26.svg"/><Relationship Id="rId18" Type="http://schemas.openxmlformats.org/officeDocument/2006/relationships/image" Target="../media/image29.png"/><Relationship Id="rId19" Type="http://schemas.openxmlformats.org/officeDocument/2006/relationships/image" Target="../media/image30.svg"/><Relationship Id="rId20" Type="http://schemas.openxmlformats.org/officeDocument/2006/relationships/image" Target="../media/image23.png"/><Relationship Id="rId21" Type="http://schemas.openxmlformats.org/officeDocument/2006/relationships/image" Target="../media/image24.svg"/><Relationship Id="rId22" Type="http://schemas.openxmlformats.org/officeDocument/2006/relationships/image" Target="../media/image39.png"/><Relationship Id="rId23" Type="http://schemas.openxmlformats.org/officeDocument/2006/relationships/image" Target="../media/image4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image" Target="../media/image43.png"/><Relationship Id="rId5" Type="http://schemas.openxmlformats.org/officeDocument/2006/relationships/image" Target="../media/image44.svg"/><Relationship Id="rId6" Type="http://schemas.openxmlformats.org/officeDocument/2006/relationships/image" Target="../media/image45.png"/><Relationship Id="rId7" Type="http://schemas.openxmlformats.org/officeDocument/2006/relationships/image" Target="../media/image46.svg"/><Relationship Id="rId8" Type="http://schemas.openxmlformats.org/officeDocument/2006/relationships/image" Target="../media/image47.png"/><Relationship Id="rId9" Type="http://schemas.openxmlformats.org/officeDocument/2006/relationships/image" Target="../media/image48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7.png"/><Relationship Id="rId13" Type="http://schemas.openxmlformats.org/officeDocument/2006/relationships/image" Target="../media/image8.svg"/><Relationship Id="rId14" Type="http://schemas.openxmlformats.org/officeDocument/2006/relationships/image" Target="../media/image49.png"/><Relationship Id="rId15" Type="http://schemas.openxmlformats.org/officeDocument/2006/relationships/image" Target="../media/image50.svg"/><Relationship Id="rId16" Type="http://schemas.openxmlformats.org/officeDocument/2006/relationships/image" Target="../media/image51.png"/><Relationship Id="rId17" Type="http://schemas.openxmlformats.org/officeDocument/2006/relationships/image" Target="../media/image52.svg"/><Relationship Id="rId18" Type="http://schemas.openxmlformats.org/officeDocument/2006/relationships/image" Target="../media/image53.png"/><Relationship Id="rId19" Type="http://schemas.openxmlformats.org/officeDocument/2006/relationships/image" Target="../media/image5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25.png"/><Relationship Id="rId11" Type="http://schemas.openxmlformats.org/officeDocument/2006/relationships/image" Target="../media/image26.svg"/><Relationship Id="rId12" Type="http://schemas.openxmlformats.org/officeDocument/2006/relationships/image" Target="../media/image49.png"/><Relationship Id="rId13" Type="http://schemas.openxmlformats.org/officeDocument/2006/relationships/image" Target="../media/image50.svg"/><Relationship Id="rId14" Type="http://schemas.openxmlformats.org/officeDocument/2006/relationships/image" Target="../media/image55.png"/><Relationship Id="rId15" Type="http://schemas.openxmlformats.org/officeDocument/2006/relationships/image" Target="../media/image56.sv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57.png"/><Relationship Id="rId19" Type="http://schemas.openxmlformats.org/officeDocument/2006/relationships/image" Target="../media/image58.svg"/><Relationship Id="rId20" Type="http://schemas.openxmlformats.org/officeDocument/2006/relationships/image" Target="../media/image59.png"/><Relationship Id="rId21" Type="http://schemas.openxmlformats.org/officeDocument/2006/relationships/image" Target="../media/image6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61.png"/><Relationship Id="rId25" Type="http://schemas.openxmlformats.org/officeDocument/2006/relationships/image" Target="../media/image62.svg"/><Relationship Id="rId26" Type="http://schemas.openxmlformats.org/officeDocument/2006/relationships/image" Target="../media/image29.png"/><Relationship Id="rId27" Type="http://schemas.openxmlformats.org/officeDocument/2006/relationships/image" Target="../media/image30.svg"/><Relationship Id="rId28" Type="http://schemas.openxmlformats.org/officeDocument/2006/relationships/image" Target="../media/image45.png"/><Relationship Id="rId29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Internet-facing NLB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750755" y="956733"/>
            <a:ext cx="10658078" cy="5674784"/>
            <a:chOff x="750755" y="956733"/>
            <a:chExt cx="10658078" cy="5674784"/>
          </a:xfrm>
        </p:grpSpPr>
        <p:pic>
          <p:nvPicPr>
            <p:cNvPr id="4" name="Users" descr="Users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5500" y="3666067"/>
              <a:ext cx="508000" cy="50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50755" y="4223808"/>
              <a:ext cx="65749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Users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137833" y="956733"/>
              <a:ext cx="9271000" cy="5439833"/>
            </a:xfrm>
            <a:prstGeom prst="rect">
              <a:avLst/>
            </a:prstGeom>
            <a:noFill/>
            <a:ln w="21167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" name="AWS-Cloud-logo_32" descr="AWS Cloud logo_3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7833" y="956733"/>
              <a:ext cx="338667" cy="338667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582333" y="1038754"/>
              <a:ext cx="1141016" cy="206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9" name="Amazon-Route-53" descr="Amazon Route 5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55333" y="2671233"/>
              <a:ext cx="508000" cy="5080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227792" y="3228975"/>
              <a:ext cx="96308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Route 53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65615" y="3418417"/>
              <a:ext cx="108743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Alias → NLB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23167" y="1316567"/>
              <a:ext cx="7916333" cy="4995333"/>
            </a:xfrm>
            <a:prstGeom prst="rect">
              <a:avLst/>
            </a:prstGeom>
            <a:noFill/>
            <a:ln w="21167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Region_32" descr="Region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23167" y="1316567"/>
              <a:ext cx="254000" cy="254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661833" y="1366308"/>
              <a:ext cx="75935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</a:t>
              </a:r>
            </a:p>
          </p:txBody>
        </p:sp>
        <p:pic>
          <p:nvPicPr>
            <p:cNvPr id="15" name="AWS-Certificate-Manager" descr="AWS Certificate Manag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160000" y="2671233"/>
              <a:ext cx="508000" cy="5080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0187120" y="3228975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ACM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5969" y="3418417"/>
              <a:ext cx="151606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TLS 리스너 인증서</a:t>
              </a:r>
            </a:p>
          </p:txBody>
        </p:sp>
        <p:pic>
          <p:nvPicPr>
            <p:cNvPr id="18" name="Amazon-CloudWatch" descr="Amazon CloudWatch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160000" y="3666067"/>
              <a:ext cx="508000" cy="5080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9830594" y="42238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CloudWatch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02031" y="4413250"/>
              <a:ext cx="102393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지표 · 경보</a:t>
              </a:r>
            </a:p>
          </p:txBody>
        </p:sp>
        <p:pic>
          <p:nvPicPr>
            <p:cNvPr id="21" name="Amazon-Simple-Storage-Service" descr="Amazon Simple Storage Service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60000" y="5105400"/>
              <a:ext cx="508000" cy="5080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0238052" y="5663142"/>
              <a:ext cx="35189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35344" y="5852583"/>
              <a:ext cx="1357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NLB 액세스 로그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661833" y="1634067"/>
              <a:ext cx="5926667" cy="4550833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5" name="Virtual-private-cloud-VPC_32" descr="Virtual private cloud VPC_3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661833" y="1634067"/>
              <a:ext cx="254000" cy="254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000500" y="1683808"/>
              <a:ext cx="167613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10.0.0.0/16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788833" y="1951567"/>
              <a:ext cx="5672667" cy="1629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15833" y="2001308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788833" y="4491567"/>
              <a:ext cx="5672667" cy="1608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15833" y="4541308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915833" y="2269067"/>
              <a:ext cx="1693333" cy="1227667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ublic-subnet_32" descr="Public subnet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915833" y="2269067"/>
              <a:ext cx="254000" cy="2540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4254500" y="2318808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863167" y="2269067"/>
              <a:ext cx="3471333" cy="1227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863167" y="2269067"/>
              <a:ext cx="254000" cy="25400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201833" y="23188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915833" y="4809067"/>
              <a:ext cx="1693333" cy="1206500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ublic-subnet_32" descr="Public subnet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915833" y="4809067"/>
              <a:ext cx="254000" cy="25400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4254500" y="4858808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3167" y="4809067"/>
              <a:ext cx="3471333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rivate-subnet_32" descr="Private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863167" y="4809067"/>
              <a:ext cx="254000" cy="25400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201833" y="48588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pic>
          <p:nvPicPr>
            <p:cNvPr id="43" name="Amazon-VPC_NAT-Gateway" descr="Amazon VPC_NAT Gateway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508500" y="2671233"/>
              <a:ext cx="508000" cy="508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4128161" y="3228975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pic>
          <p:nvPicPr>
            <p:cNvPr id="45" name="Amazon-VPC_NAT-Gateway" descr="Amazon VPC_NAT Gateway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508500" y="5105400"/>
              <a:ext cx="508000" cy="508000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4128161" y="5663142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175500" y="2353733"/>
              <a:ext cx="2032000" cy="3577167"/>
            </a:xfrm>
            <a:prstGeom prst="rect">
              <a:avLst/>
            </a:prstGeom>
            <a:noFill/>
            <a:ln w="15875">
              <a:solidFill>
                <a:srgbClr val="ED7100"/>
              </a:solidFill>
              <a:custDash>
                <a:ds d="400000" sp="20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8" name="Auto-Scaling-group_32" descr="Auto Scaling group_32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175500" y="2353733"/>
              <a:ext cx="254000" cy="254000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7514167" y="2403475"/>
              <a:ext cx="1981729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ED7100"/>
                  </a:solidFill>
                  <a:latin typeface="Arial"/>
                  <a:ea typeface="Malgun Gothic"/>
                  <a:cs typeface="Malgun Gothic"/>
                </a:rPr>
                <a:t>ASG · target group</a:t>
              </a:r>
            </a:p>
          </p:txBody>
        </p:sp>
        <p:pic>
          <p:nvPicPr>
            <p:cNvPr id="50" name="Amazon-EC2" descr="Amazon EC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514167" y="2671233"/>
              <a:ext cx="508000" cy="5080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7541286" y="3228975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52" name="Amazon-EC2" descr="Amazon EC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487833" y="2671233"/>
              <a:ext cx="508000" cy="50800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8514953" y="3228975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54" name="Amazon-EC2" descr="Amazon EC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514167" y="5105400"/>
              <a:ext cx="508000" cy="50800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7541286" y="56631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56" name="Amazon-EC2" descr="Amazon EC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487833" y="5105400"/>
              <a:ext cx="508000" cy="50800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8514953" y="56631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58" name="Elastic-Load-Balancing_Network-Load-Balancer" descr="Elastic Load Balancing_Network Load Balancer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508500" y="3666067"/>
              <a:ext cx="508000" cy="50800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4535620" y="42238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NLB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407833" y="3666067"/>
              <a:ext cx="508000" cy="740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1" name="Amazon-VPC_Internet-Gateway" descr="Amazon VPC_Internet Gateway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407833" y="3666067"/>
              <a:ext cx="508000" cy="50800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3434953" y="42238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IGW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1375833" y="3920067"/>
              <a:ext cx="1989667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64" name="TextBox 63"/>
            <p:cNvSpPr txBox="1"/>
            <p:nvPr/>
          </p:nvSpPr>
          <p:spPr>
            <a:xfrm>
              <a:off x="1322917" y="3704167"/>
              <a:ext cx="82550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TLS :443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3958167" y="3920067"/>
              <a:ext cx="50800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66" name="Connector 65"/>
            <p:cNvCxnSpPr/>
            <p:nvPr/>
          </p:nvCxnSpPr>
          <p:spPr>
            <a:xfrm>
              <a:off x="5058833" y="3920067"/>
              <a:ext cx="2074334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67" name="TextBox 66"/>
            <p:cNvSpPr txBox="1"/>
            <p:nvPr/>
          </p:nvSpPr>
          <p:spPr>
            <a:xfrm>
              <a:off x="5639594" y="3704167"/>
              <a:ext cx="9128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TCP :8080</a:t>
              </a:r>
            </a:p>
          </p:txBody>
        </p:sp>
        <p:sp>
          <p:nvSpPr>
            <p:cNvPr id="68" name="Freeform 67"/>
            <p:cNvSpPr/>
            <p:nvPr/>
          </p:nvSpPr>
          <p:spPr>
            <a:xfrm>
              <a:off x="1079500" y="2925233"/>
              <a:ext cx="1333500" cy="698500"/>
            </a:xfrm>
            <a:custGeom>
              <a:avLst/>
              <a:gdLst/>
              <a:ahLst/>
              <a:cxnLst/>
              <a:rect l="l" t="t" r="r" b="b"/>
              <a:pathLst>
                <a:path w="1333500" h="698500">
                  <a:moveTo>
                    <a:pt x="0" y="698500"/>
                  </a:moveTo>
                  <a:lnTo>
                    <a:pt x="0" y="0"/>
                  </a:lnTo>
                  <a:lnTo>
                    <a:pt x="1333500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338792" y="2719917"/>
              <a:ext cx="793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DNS 조회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 flipH="1">
              <a:off x="5058833" y="2925233"/>
              <a:ext cx="2074334" cy="0"/>
            </a:xfrm>
            <a:prstGeom prst="line">
              <a:avLst/>
            </a:prstGeom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</p:cxnSp>
        <p:sp>
          <p:nvSpPr>
            <p:cNvPr id="71" name="TextBox 70"/>
            <p:cNvSpPr txBox="1"/>
            <p:nvPr/>
          </p:nvSpPr>
          <p:spPr>
            <a:xfrm>
              <a:off x="6037792" y="2719917"/>
              <a:ext cx="920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아웃바운드</a:t>
              </a:r>
            </a:p>
          </p:txBody>
        </p:sp>
        <p:cxnSp>
          <p:nvCxnSpPr>
            <p:cNvPr id="72" name="Connector 71"/>
            <p:cNvCxnSpPr/>
            <p:nvPr/>
          </p:nvCxnSpPr>
          <p:spPr>
            <a:xfrm flipH="1">
              <a:off x="5058833" y="5359400"/>
              <a:ext cx="2074334" cy="0"/>
            </a:xfrm>
            <a:prstGeom prst="line">
              <a:avLst/>
            </a:prstGeom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</p:cxnSp>
        <p:sp>
          <p:nvSpPr>
            <p:cNvPr id="73" name="TextBox 72"/>
            <p:cNvSpPr txBox="1"/>
            <p:nvPr/>
          </p:nvSpPr>
          <p:spPr>
            <a:xfrm>
              <a:off x="6037792" y="5154083"/>
              <a:ext cx="920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아웃바운드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25500" y="6466417"/>
              <a:ext cx="10144125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Internet-facing NLB · TLS 종료 · 라우팅: Public subnet 0.0.0.0/0 → IGW, App subnet 0.0.0.0/0 → NAT gateway (같은 AZ)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3-tier web app with ALB, AWS WAF and RDS Multi-AZ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327422" y="935567"/>
            <a:ext cx="11590735" cy="5643033"/>
            <a:chOff x="327422" y="935567"/>
            <a:chExt cx="11590735" cy="5643033"/>
          </a:xfrm>
        </p:grpSpPr>
        <p:pic>
          <p:nvPicPr>
            <p:cNvPr id="4" name="Users" descr="Users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2167" y="3623733"/>
              <a:ext cx="508000" cy="50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27422" y="4160308"/>
              <a:ext cx="65749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Users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78000" y="935567"/>
              <a:ext cx="10138833" cy="5418667"/>
            </a:xfrm>
            <a:prstGeom prst="rect">
              <a:avLst/>
            </a:prstGeom>
            <a:noFill/>
            <a:ln w="21167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" name="AWS-Cloud-logo_32" descr="AWS Cloud logo_3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78000" y="935567"/>
              <a:ext cx="338667" cy="338667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222500" y="1017588"/>
              <a:ext cx="1141016" cy="206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pic>
          <p:nvPicPr>
            <p:cNvPr id="9" name="Amazon-Route-53" descr="Amazon Route 5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21417" y="1358900"/>
              <a:ext cx="508000" cy="5080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793875" y="1895475"/>
              <a:ext cx="96308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Route 53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31698" y="2084917"/>
              <a:ext cx="108743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alias → ALB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772833" y="1295400"/>
              <a:ext cx="9059333" cy="4974167"/>
            </a:xfrm>
            <a:prstGeom prst="rect">
              <a:avLst/>
            </a:prstGeom>
            <a:noFill/>
            <a:ln w="21167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Region_32" descr="Region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72833" y="1295400"/>
              <a:ext cx="254000" cy="254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111500" y="1345142"/>
              <a:ext cx="75935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</a:t>
              </a:r>
            </a:p>
          </p:txBody>
        </p:sp>
        <p:pic>
          <p:nvPicPr>
            <p:cNvPr id="15" name="AWS-Certificate-Manager" descr="AWS Certificate Manag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64750" y="2650067"/>
              <a:ext cx="508000" cy="5080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0091870" y="31866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ACM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17125" y="3376083"/>
              <a:ext cx="6032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인증서</a:t>
              </a:r>
            </a:p>
          </p:txBody>
        </p:sp>
        <p:pic>
          <p:nvPicPr>
            <p:cNvPr id="18" name="AWS-WAF" descr="AWS WAF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064750" y="5084233"/>
              <a:ext cx="508000" cy="5080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9888141" y="5620808"/>
              <a:ext cx="861219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WAF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49656" y="5810250"/>
              <a:ext cx="73818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Web ACL</a:t>
              </a:r>
            </a:p>
          </p:txBody>
        </p:sp>
        <p:pic>
          <p:nvPicPr>
            <p:cNvPr id="21" name="Amazon-CloudWatch" descr="Amazon CloudWatch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80750" y="2650067"/>
              <a:ext cx="508000" cy="5080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0751344" y="3186642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CloudWatch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822781" y="3376083"/>
              <a:ext cx="102393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지표 · 경보</a:t>
              </a:r>
            </a:p>
          </p:txBody>
        </p:sp>
        <p:pic>
          <p:nvPicPr>
            <p:cNvPr id="24" name="Amazon-Simple-Storage-Service" descr="Amazon Simple Storage Service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080750" y="5084233"/>
              <a:ext cx="508000" cy="50800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1158802" y="5620808"/>
              <a:ext cx="35189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830719" y="5810250"/>
              <a:ext cx="100806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액세스 로그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11500" y="1612900"/>
              <a:ext cx="6815667" cy="4529667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8" name="Virtual-private-cloud-VPC_32" descr="Virtual private cloud VPC_32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111500" y="1612900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450167" y="1662642"/>
              <a:ext cx="167613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10.0.0.0/16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217333" y="1930400"/>
              <a:ext cx="6604000" cy="1608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344333" y="1980142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17333" y="4449233"/>
              <a:ext cx="6604000" cy="1608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44333" y="4498975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2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44333" y="2247900"/>
              <a:ext cx="1545167" cy="1206500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ublic-subnet_32" descr="Public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344333" y="2247900"/>
              <a:ext cx="254000" cy="25400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3683000" y="2297642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016500" y="2247900"/>
              <a:ext cx="33020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rivate-subnet_32" descr="Private subnet_32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016500" y="2247900"/>
              <a:ext cx="254000" cy="25400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5355167" y="2297642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445500" y="2247900"/>
              <a:ext cx="12700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rivate-subnet_32" descr="Private subnet_32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445500" y="2247900"/>
              <a:ext cx="254000" cy="25400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8784167" y="2297642"/>
              <a:ext cx="1064948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DB subnet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344333" y="4766733"/>
              <a:ext cx="1545167" cy="1206500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ublic-subnet_32" descr="Public subnet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344333" y="4766733"/>
              <a:ext cx="254000" cy="25400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3683000" y="4816475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16500" y="4766733"/>
              <a:ext cx="33020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rivate-subnet_32" descr="Private subnet_32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016500" y="4766733"/>
              <a:ext cx="254000" cy="25400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355167" y="4816475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445500" y="4766733"/>
              <a:ext cx="12700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rivate-subnet_32" descr="Private subnet_32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445500" y="4766733"/>
              <a:ext cx="254000" cy="2540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84167" y="4816475"/>
              <a:ext cx="1064948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DB subnet</a:t>
              </a:r>
            </a:p>
          </p:txBody>
        </p:sp>
        <p:pic>
          <p:nvPicPr>
            <p:cNvPr id="52" name="Amazon-VPC_NAT-Gateway" descr="Amazon VPC_NAT Gateway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862917" y="2650067"/>
              <a:ext cx="508000" cy="50800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3482578" y="3186642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pic>
          <p:nvPicPr>
            <p:cNvPr id="54" name="Amazon-VPC_NAT-Gateway" descr="Amazon VPC_NAT Gateway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862917" y="5084233"/>
              <a:ext cx="508000" cy="50800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482578" y="5620808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286500" y="2332567"/>
              <a:ext cx="1947333" cy="3556000"/>
            </a:xfrm>
            <a:prstGeom prst="rect">
              <a:avLst/>
            </a:prstGeom>
            <a:noFill/>
            <a:ln w="15875">
              <a:solidFill>
                <a:srgbClr val="ED7100"/>
              </a:solidFill>
              <a:custDash>
                <a:ds d="400000" sp="20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7" name="Auto-Scaling-group_32" descr="Auto Scaling group_32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286500" y="2332567"/>
              <a:ext cx="254000" cy="254000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6625167" y="2382308"/>
              <a:ext cx="1981729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ED7100"/>
                  </a:solidFill>
                  <a:latin typeface="Arial"/>
                  <a:ea typeface="Malgun Gothic"/>
                  <a:cs typeface="Malgun Gothic"/>
                </a:rPr>
                <a:t>ASG · target group</a:t>
              </a:r>
            </a:p>
          </p:txBody>
        </p:sp>
        <p:pic>
          <p:nvPicPr>
            <p:cNvPr id="59" name="Amazon-EC2" descr="Amazon EC2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625167" y="2650067"/>
              <a:ext cx="508000" cy="50800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6652286" y="31866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61" name="Amazon-EC2" descr="Amazon EC2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641167" y="2650067"/>
              <a:ext cx="508000" cy="50800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7668286" y="31866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63" name="Amazon-EC2" descr="Amazon EC2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625167" y="5084233"/>
              <a:ext cx="508000" cy="508000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6652286" y="56208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65" name="Amazon-EC2" descr="Amazon EC2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641167" y="5084233"/>
              <a:ext cx="508000" cy="50800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668286" y="56208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67" name="Amazon-RDS" descr="Amazon RDS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826500" y="2650067"/>
              <a:ext cx="508000" cy="50800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8446161" y="3186642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RDS Primary</a:t>
              </a:r>
            </a:p>
          </p:txBody>
        </p:sp>
        <p:pic>
          <p:nvPicPr>
            <p:cNvPr id="69" name="Amazon-RDS" descr="Amazon RDS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826500" y="5084233"/>
              <a:ext cx="508000" cy="508000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8446161" y="5620808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RDS Standby</a:t>
              </a:r>
            </a:p>
          </p:txBody>
        </p:sp>
        <p:pic>
          <p:nvPicPr>
            <p:cNvPr id="71" name="Elastic-Load-Balancing_Application-Load-Balancer" descr="Elastic Load Balancing_Application Load Balancer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862917" y="3623733"/>
              <a:ext cx="508000" cy="50800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3890036" y="41603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ALB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857500" y="3623733"/>
              <a:ext cx="508000" cy="740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4" name="Amazon-VPC_Internet-Gateway" descr="Amazon VPC_Internet Gateway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2857500" y="3623733"/>
              <a:ext cx="508000" cy="50800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2884620" y="41603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IGW</a:t>
              </a:r>
            </a:p>
          </p:txBody>
        </p:sp>
        <p:cxnSp>
          <p:nvCxnSpPr>
            <p:cNvPr id="76" name="Connector 75"/>
            <p:cNvCxnSpPr/>
            <p:nvPr/>
          </p:nvCxnSpPr>
          <p:spPr>
            <a:xfrm>
              <a:off x="952500" y="3877733"/>
              <a:ext cx="1862667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77" name="TextBox 76"/>
            <p:cNvSpPr txBox="1"/>
            <p:nvPr/>
          </p:nvSpPr>
          <p:spPr>
            <a:xfrm>
              <a:off x="844021" y="3661833"/>
              <a:ext cx="1000125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HTTPS :443</a:t>
              </a:r>
            </a:p>
          </p:txBody>
        </p:sp>
        <p:cxnSp>
          <p:nvCxnSpPr>
            <p:cNvPr id="78" name="Connector 77"/>
            <p:cNvCxnSpPr/>
            <p:nvPr/>
          </p:nvCxnSpPr>
          <p:spPr>
            <a:xfrm>
              <a:off x="3407833" y="3877733"/>
              <a:ext cx="41275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79" name="Connector 78"/>
            <p:cNvCxnSpPr/>
            <p:nvPr/>
          </p:nvCxnSpPr>
          <p:spPr>
            <a:xfrm>
              <a:off x="4413250" y="3877733"/>
              <a:ext cx="1830917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0" name="TextBox 79"/>
            <p:cNvSpPr txBox="1"/>
            <p:nvPr/>
          </p:nvSpPr>
          <p:spPr>
            <a:xfrm>
              <a:off x="4921250" y="3661833"/>
              <a:ext cx="82550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HTTP :80</a:t>
              </a:r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8233833" y="2904067"/>
              <a:ext cx="550334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2" name="TextBox 81"/>
            <p:cNvSpPr txBox="1"/>
            <p:nvPr/>
          </p:nvSpPr>
          <p:spPr>
            <a:xfrm>
              <a:off x="8441531" y="2698750"/>
              <a:ext cx="38893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SQL</a:t>
              </a:r>
            </a:p>
          </p:txBody>
        </p:sp>
        <p:sp>
          <p:nvSpPr>
            <p:cNvPr id="83" name="Freeform 82"/>
            <p:cNvSpPr/>
            <p:nvPr/>
          </p:nvSpPr>
          <p:spPr>
            <a:xfrm>
              <a:off x="656167" y="1612900"/>
              <a:ext cx="1322916" cy="1968500"/>
            </a:xfrm>
            <a:custGeom>
              <a:avLst/>
              <a:gdLst/>
              <a:ahLst/>
              <a:cxnLst/>
              <a:rect l="l" t="t" r="r" b="b"/>
              <a:pathLst>
                <a:path w="1322916" h="1968500">
                  <a:moveTo>
                    <a:pt x="0" y="1968500"/>
                  </a:moveTo>
                  <a:lnTo>
                    <a:pt x="0" y="0"/>
                  </a:lnTo>
                  <a:lnTo>
                    <a:pt x="1322916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94292" y="1407583"/>
              <a:ext cx="793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DNS 조회</a:t>
              </a:r>
            </a:p>
          </p:txBody>
        </p:sp>
        <p:cxnSp>
          <p:nvCxnSpPr>
            <p:cNvPr id="85" name="Connector 84"/>
            <p:cNvCxnSpPr/>
            <p:nvPr/>
          </p:nvCxnSpPr>
          <p:spPr>
            <a:xfrm flipH="1">
              <a:off x="4413250" y="2904067"/>
              <a:ext cx="1830917" cy="0"/>
            </a:xfrm>
            <a:prstGeom prst="line">
              <a:avLst/>
            </a:prstGeom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</p:cxnSp>
        <p:sp>
          <p:nvSpPr>
            <p:cNvPr id="86" name="TextBox 85"/>
            <p:cNvSpPr txBox="1"/>
            <p:nvPr/>
          </p:nvSpPr>
          <p:spPr>
            <a:xfrm>
              <a:off x="5169958" y="2698750"/>
              <a:ext cx="920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아웃바운드</a:t>
              </a:r>
            </a:p>
          </p:txBody>
        </p:sp>
        <p:cxnSp>
          <p:nvCxnSpPr>
            <p:cNvPr id="87" name="Connector 86"/>
            <p:cNvCxnSpPr/>
            <p:nvPr/>
          </p:nvCxnSpPr>
          <p:spPr>
            <a:xfrm flipH="1">
              <a:off x="4413250" y="5338233"/>
              <a:ext cx="1830917" cy="0"/>
            </a:xfrm>
            <a:prstGeom prst="line">
              <a:avLst/>
            </a:prstGeom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</p:cxnSp>
        <p:sp>
          <p:nvSpPr>
            <p:cNvPr id="88" name="TextBox 87"/>
            <p:cNvSpPr txBox="1"/>
            <p:nvPr/>
          </p:nvSpPr>
          <p:spPr>
            <a:xfrm>
              <a:off x="5169958" y="5132917"/>
              <a:ext cx="920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아웃바운드</a:t>
              </a:r>
            </a:p>
          </p:txBody>
        </p:sp>
        <p:sp>
          <p:nvSpPr>
            <p:cNvPr id="89" name="Freeform 88"/>
            <p:cNvSpPr/>
            <p:nvPr/>
          </p:nvSpPr>
          <p:spPr>
            <a:xfrm>
              <a:off x="9376833" y="3031067"/>
              <a:ext cx="211667" cy="2180166"/>
            </a:xfrm>
            <a:custGeom>
              <a:avLst/>
              <a:gdLst/>
              <a:ahLst/>
              <a:cxnLst/>
              <a:rect l="l" t="t" r="r" b="b"/>
              <a:pathLst>
                <a:path w="211667" h="2180166">
                  <a:moveTo>
                    <a:pt x="0" y="0"/>
                  </a:moveTo>
                  <a:lnTo>
                    <a:pt x="211667" y="0"/>
                  </a:lnTo>
                  <a:lnTo>
                    <a:pt x="211667" y="2180166"/>
                  </a:lnTo>
                  <a:lnTo>
                    <a:pt x="0" y="2180166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custDash>
                <a:ds d="333333" sp="266667"/>
              </a:custDash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8495771" y="3915833"/>
              <a:ext cx="100806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동기식 복제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02167" y="6413500"/>
              <a:ext cx="755650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Internet-facing ALB · 두 AZ에 걸친 단일 관리형 로드 밸런서 · AWS WAF 연결 · RDS Multi-AZ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Distributed inspection with Gateway Load Balancer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242755" y="935567"/>
            <a:ext cx="12052433" cy="5685366"/>
            <a:chOff x="242755" y="935567"/>
            <a:chExt cx="12052433" cy="5685366"/>
          </a:xfrm>
        </p:grpSpPr>
        <p:pic>
          <p:nvPicPr>
            <p:cNvPr id="4" name="Users" descr="Users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7500" y="3539067"/>
              <a:ext cx="508000" cy="508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42755" y="4096808"/>
              <a:ext cx="65749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Users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14500" y="935567"/>
              <a:ext cx="10202333" cy="5291667"/>
            </a:xfrm>
            <a:prstGeom prst="rect">
              <a:avLst/>
            </a:prstGeom>
            <a:noFill/>
            <a:ln w="21167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" name="AWS-Cloud-logo_32" descr="AWS Cloud logo_3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14500" y="935567"/>
              <a:ext cx="254000" cy="254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053167" y="1017588"/>
              <a:ext cx="1141016" cy="206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26167" y="1295400"/>
              <a:ext cx="9906000" cy="4847167"/>
            </a:xfrm>
            <a:prstGeom prst="rect">
              <a:avLst/>
            </a:prstGeom>
            <a:noFill/>
            <a:ln w="21167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" name="Region_32" descr="Region_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26167" y="12954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264833" y="1345142"/>
              <a:ext cx="75935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167" y="1612900"/>
              <a:ext cx="5101167" cy="4445000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Virtual-private-cloud-VPC_32" descr="Virtual private cloud VPC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61167" y="1612900"/>
              <a:ext cx="254000" cy="254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899833" y="1662642"/>
              <a:ext cx="289851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Application VPC 10.0.0.0/16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72833" y="1930400"/>
              <a:ext cx="4677833" cy="15240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99833" y="1980142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772833" y="4364567"/>
              <a:ext cx="4677833" cy="1608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99833" y="4414308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2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99833" y="2247900"/>
              <a:ext cx="2582333" cy="1121833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ublic-subnet_32" descr="Public subnet_3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99833" y="2247900"/>
              <a:ext cx="254000" cy="2540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238500" y="2297642"/>
              <a:ext cx="1370542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GWLBe subnet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36167" y="2247900"/>
              <a:ext cx="1587500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3" name="Private-subnet_32" descr="Private subnet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36167" y="2247900"/>
              <a:ext cx="254000" cy="25400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6074833" y="2297642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899833" y="4682067"/>
              <a:ext cx="2582333" cy="1206500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ublic-subnet_32" descr="Public subnet_3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99833" y="4682067"/>
              <a:ext cx="254000" cy="2540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238500" y="4731808"/>
              <a:ext cx="1370542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GWLBe subnet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36167" y="4682067"/>
              <a:ext cx="15875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9" name="Private-subnet_32" descr="Private subnet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36167" y="4682067"/>
              <a:ext cx="254000" cy="25400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074833" y="47318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pic>
          <p:nvPicPr>
            <p:cNvPr id="31" name="Amazon-VPC_Endpoints" descr="Amazon VPC_Endpoints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62500" y="2544233"/>
              <a:ext cx="508000" cy="508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4687755" y="3101975"/>
              <a:ext cx="65749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GWLBe</a:t>
              </a:r>
            </a:p>
          </p:txBody>
        </p:sp>
        <p:pic>
          <p:nvPicPr>
            <p:cNvPr id="33" name="Amazon-VPC_Endpoints" descr="Amazon VPC_Endpoints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62500" y="4978400"/>
              <a:ext cx="508000" cy="5080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4687755" y="5536142"/>
              <a:ext cx="65749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GWLBe</a:t>
              </a:r>
            </a:p>
          </p:txBody>
        </p:sp>
        <p:pic>
          <p:nvPicPr>
            <p:cNvPr id="35" name="Amazon-EC2" descr="Amazon EC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275917" y="2544233"/>
              <a:ext cx="508000" cy="50800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303036" y="3101975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37" name="Amazon-EC2" descr="Amazon EC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275917" y="4978400"/>
              <a:ext cx="508000" cy="508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303036" y="55361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307167" y="3539067"/>
              <a:ext cx="508000" cy="740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0" name="Amazon-VPC_Internet-Gateway" descr="Amazon VPC_Internet Gateway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307167" y="3539067"/>
              <a:ext cx="508000" cy="508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2334286" y="40968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IGW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001000" y="1612900"/>
              <a:ext cx="3746500" cy="4445000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3" name="Virtual-private-cloud-VPC_32" descr="Virtual private cloud VPC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01000" y="1612900"/>
              <a:ext cx="254000" cy="254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8339667" y="1662642"/>
              <a:ext cx="259291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Security VPC 10.1.0.0/16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212667" y="1930400"/>
              <a:ext cx="3323167" cy="15240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39667" y="1980142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1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8212667" y="4364567"/>
              <a:ext cx="3323167" cy="1608667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339667" y="4414308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39667" y="2247900"/>
              <a:ext cx="3111500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rivate-subnet_32" descr="Private subnet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339667" y="2247900"/>
              <a:ext cx="254000" cy="2540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678333" y="2297642"/>
              <a:ext cx="177800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Appliance subnet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339667" y="4682067"/>
              <a:ext cx="3111500" cy="12065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3" name="Private-subnet_32" descr="Private subnet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339667" y="4682067"/>
              <a:ext cx="254000" cy="25400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678333" y="4731808"/>
              <a:ext cx="177800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Appliance subnet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075333" y="2332567"/>
              <a:ext cx="1291167" cy="3471333"/>
            </a:xfrm>
            <a:prstGeom prst="rect">
              <a:avLst/>
            </a:prstGeom>
            <a:noFill/>
            <a:ln w="15875">
              <a:solidFill>
                <a:srgbClr val="ED7100"/>
              </a:solidFill>
              <a:custDash>
                <a:ds d="400000" sp="20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6" name="Auto-Scaling-group_32" descr="Auto Scaling group_32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075333" y="2332567"/>
              <a:ext cx="254000" cy="25400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414000" y="23823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ED7100"/>
                  </a:solidFill>
                  <a:latin typeface="Arial"/>
                  <a:ea typeface="Malgun Gothic"/>
                  <a:cs typeface="Malgun Gothic"/>
                </a:rPr>
                <a:t>ASG</a:t>
              </a:r>
            </a:p>
          </p:txBody>
        </p:sp>
        <p:pic>
          <p:nvPicPr>
            <p:cNvPr id="58" name="Amazon-EC2" descr="Amazon EC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773833" y="2544233"/>
              <a:ext cx="508000" cy="508000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10675938" y="3101975"/>
              <a:ext cx="703792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방화벽</a:t>
              </a:r>
            </a:p>
          </p:txBody>
        </p:sp>
        <p:pic>
          <p:nvPicPr>
            <p:cNvPr id="60" name="Amazon-EC2" descr="Amazon EC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773833" y="4978400"/>
              <a:ext cx="508000" cy="508000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0675938" y="5536142"/>
              <a:ext cx="703792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방화벽</a:t>
              </a:r>
            </a:p>
          </p:txBody>
        </p:sp>
        <p:pic>
          <p:nvPicPr>
            <p:cNvPr id="62" name="Elastic-Load-Balancing_Gateway-Load-Balancer" descr="Elastic Load Balancing_Gateway Load Balancer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509000" y="3539067"/>
              <a:ext cx="508000" cy="50800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8485188" y="4096808"/>
              <a:ext cx="55562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GWLB</a:t>
              </a:r>
            </a:p>
          </p:txBody>
        </p:sp>
        <p:sp>
          <p:nvSpPr>
            <p:cNvPr id="64" name="Freeform 63"/>
            <p:cNvSpPr/>
            <p:nvPr/>
          </p:nvSpPr>
          <p:spPr>
            <a:xfrm>
              <a:off x="2857500" y="2798233"/>
              <a:ext cx="1862667" cy="994834"/>
            </a:xfrm>
            <a:custGeom>
              <a:avLst/>
              <a:gdLst/>
              <a:ahLst/>
              <a:cxnLst/>
              <a:rect l="l" t="t" r="r" b="b"/>
              <a:pathLst>
                <a:path w="1862667" h="994834">
                  <a:moveTo>
                    <a:pt x="0" y="994834"/>
                  </a:moveTo>
                  <a:lnTo>
                    <a:pt x="1651000" y="994834"/>
                  </a:lnTo>
                  <a:lnTo>
                    <a:pt x="1651000" y="0"/>
                  </a:lnTo>
                  <a:lnTo>
                    <a:pt x="1862667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2857500" y="3793067"/>
              <a:ext cx="1862667" cy="1439333"/>
            </a:xfrm>
            <a:custGeom>
              <a:avLst/>
              <a:gdLst/>
              <a:ahLst/>
              <a:cxnLst/>
              <a:rect l="l" t="t" r="r" b="b"/>
              <a:pathLst>
                <a:path w="1862667" h="1439333">
                  <a:moveTo>
                    <a:pt x="0" y="0"/>
                  </a:moveTo>
                  <a:lnTo>
                    <a:pt x="1651000" y="0"/>
                  </a:lnTo>
                  <a:lnTo>
                    <a:pt x="1651000" y="1439333"/>
                  </a:lnTo>
                  <a:lnTo>
                    <a:pt x="1862667" y="1439333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5312833" y="2798233"/>
              <a:ext cx="92075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5312833" y="5232400"/>
              <a:ext cx="92075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68" name="Freeform 67"/>
            <p:cNvSpPr/>
            <p:nvPr/>
          </p:nvSpPr>
          <p:spPr>
            <a:xfrm>
              <a:off x="5016500" y="3327400"/>
              <a:ext cx="3450167" cy="381000"/>
            </a:xfrm>
            <a:custGeom>
              <a:avLst/>
              <a:gdLst/>
              <a:ahLst/>
              <a:cxnLst/>
              <a:rect l="l" t="t" r="r" b="b"/>
              <a:pathLst>
                <a:path w="3450167" h="381000">
                  <a:moveTo>
                    <a:pt x="3450167" y="381000"/>
                  </a:moveTo>
                  <a:lnTo>
                    <a:pt x="0" y="38100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5016500" y="3877733"/>
              <a:ext cx="3450167" cy="1058334"/>
            </a:xfrm>
            <a:custGeom>
              <a:avLst/>
              <a:gdLst/>
              <a:ahLst/>
              <a:cxnLst/>
              <a:rect l="l" t="t" r="r" b="b"/>
              <a:pathLst>
                <a:path w="3450167" h="1058334">
                  <a:moveTo>
                    <a:pt x="3450167" y="0"/>
                  </a:moveTo>
                  <a:lnTo>
                    <a:pt x="0" y="0"/>
                  </a:lnTo>
                  <a:lnTo>
                    <a:pt x="0" y="1058334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9059333" y="3793067"/>
              <a:ext cx="973667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71" name="TextBox 70"/>
            <p:cNvSpPr txBox="1"/>
            <p:nvPr/>
          </p:nvSpPr>
          <p:spPr>
            <a:xfrm>
              <a:off x="8958792" y="3841750"/>
              <a:ext cx="1174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GENEVE :6081</a:t>
              </a:r>
            </a:p>
          </p:txBody>
        </p:sp>
        <p:sp>
          <p:nvSpPr>
            <p:cNvPr id="72" name="Oval 71"/>
            <p:cNvSpPr/>
            <p:nvPr/>
          </p:nvSpPr>
          <p:spPr>
            <a:xfrm>
              <a:off x="3577167" y="3539067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575844" y="3566583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74" name="Oval 73"/>
            <p:cNvSpPr/>
            <p:nvPr/>
          </p:nvSpPr>
          <p:spPr>
            <a:xfrm>
              <a:off x="7725833" y="3454400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724510" y="3481917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76" name="Oval 75"/>
            <p:cNvSpPr/>
            <p:nvPr/>
          </p:nvSpPr>
          <p:spPr>
            <a:xfrm>
              <a:off x="9440333" y="3539067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439010" y="3566583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78" name="Oval 77"/>
            <p:cNvSpPr/>
            <p:nvPr/>
          </p:nvSpPr>
          <p:spPr>
            <a:xfrm>
              <a:off x="5884333" y="2544233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883010" y="2571750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80" name="Oval 79"/>
            <p:cNvSpPr/>
            <p:nvPr/>
          </p:nvSpPr>
          <p:spPr>
            <a:xfrm>
              <a:off x="5884333" y="4978400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883010" y="5005917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4</a:t>
              </a:r>
            </a:p>
          </p:txBody>
        </p:sp>
        <p:cxnSp>
          <p:nvCxnSpPr>
            <p:cNvPr id="82" name="Connector 81"/>
            <p:cNvCxnSpPr/>
            <p:nvPr/>
          </p:nvCxnSpPr>
          <p:spPr>
            <a:xfrm>
              <a:off x="867833" y="3793067"/>
              <a:ext cx="139700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3" name="TextBox 82"/>
            <p:cNvSpPr txBox="1"/>
            <p:nvPr/>
          </p:nvSpPr>
          <p:spPr>
            <a:xfrm>
              <a:off x="769937" y="3577167"/>
              <a:ext cx="1000125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HTTPS :443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17500" y="6286500"/>
              <a:ext cx="9390063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① IGW → GWLBe (인그레스 라우팅)  ② GWLBe ⇄ GWLB  ③ GWLB ⇄ 방화벽 (검사 후 GWLB → GWLBe로 반환)  ④ GWLBe → EC2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17500" y="6455833"/>
              <a:ext cx="11977688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라우팅 (같은 AZ): IGW 엣지 RT 10.0.1.0/24 (AZ1 App) · 10.0.2.0/24 (AZ2 App) → GWLBe · App RT 0.0.0.0/0 → GWLBe · GWLBe RT 0.0.0.0/0 → IGW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Transit Gateway hub and spoke across two Regions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398056" y="1134747"/>
            <a:ext cx="12375554" cy="5361151"/>
            <a:chOff x="398056" y="1134747"/>
            <a:chExt cx="12375554" cy="5361151"/>
          </a:xfrm>
        </p:grpSpPr>
        <p:sp>
          <p:nvSpPr>
            <p:cNvPr id="4" name="Rectangle 3"/>
            <p:cNvSpPr/>
            <p:nvPr/>
          </p:nvSpPr>
          <p:spPr>
            <a:xfrm>
              <a:off x="398056" y="3041123"/>
              <a:ext cx="1821648" cy="1398009"/>
            </a:xfrm>
            <a:prstGeom prst="rect">
              <a:avLst/>
            </a:prstGeom>
            <a:noFill/>
            <a:ln w="21182">
              <a:solidFill>
                <a:srgbClr val="7D8998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" name="Corporate-data-center_32" descr="Corporate data center_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056" y="3041123"/>
              <a:ext cx="254183" cy="25418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36967" y="3090900"/>
              <a:ext cx="1269593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7" b="1" lang="ko-KR">
                  <a:solidFill>
                    <a:srgbClr val="7D8998"/>
                  </a:solidFill>
                  <a:latin typeface="Arial"/>
                  <a:ea typeface="Malgun Gothic"/>
                  <a:cs typeface="Malgun Gothic"/>
                </a:rPr>
                <a:t>On-premises</a:t>
              </a:r>
            </a:p>
          </p:txBody>
        </p:sp>
        <p:pic>
          <p:nvPicPr>
            <p:cNvPr id="7" name="Amazon-VPC_Customer-Gateway" descr="Amazon VPC_Customer Gateway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696" y="3401216"/>
              <a:ext cx="508367" cy="508367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19238" y="3959360"/>
              <a:ext cx="1779284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Customer gateway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3705" y="4148939"/>
              <a:ext cx="1350349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192.168.0.0/16</a:t>
              </a:r>
            </a:p>
          </p:txBody>
        </p:sp>
        <p:pic>
          <p:nvPicPr>
            <p:cNvPr id="10" name="Internet" descr="Internet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79796" y="3401216"/>
              <a:ext cx="508367" cy="50836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352090" y="3959360"/>
              <a:ext cx="963779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Internet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605427" y="3655399"/>
              <a:ext cx="932005" cy="0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3130527" y="3655399"/>
              <a:ext cx="529549" cy="0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3113317" y="3439343"/>
              <a:ext cx="563969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IPsec</a:t>
              </a:r>
            </a:p>
          </p:txBody>
        </p:sp>
        <p:pic>
          <p:nvPicPr>
            <p:cNvPr id="15" name="AWS-Site-to-Site-VPN" descr="AWS Site to Site VPN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02440" y="3401216"/>
              <a:ext cx="508367" cy="50836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3066981" y="3959360"/>
              <a:ext cx="1779284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Site-to-Site VPN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253170" y="3655399"/>
              <a:ext cx="1821648" cy="0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sp>
          <p:nvSpPr>
            <p:cNvPr id="18" name="Rectangle 17"/>
            <p:cNvSpPr/>
            <p:nvPr/>
          </p:nvSpPr>
          <p:spPr>
            <a:xfrm>
              <a:off x="4761537" y="1134747"/>
              <a:ext cx="7032407" cy="4935394"/>
            </a:xfrm>
            <a:prstGeom prst="rect">
              <a:avLst/>
            </a:prstGeom>
            <a:noFill/>
            <a:ln w="21182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9" name="AWS-Cloud-logo_32" descr="AWS Cloud logo_3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61537" y="1134747"/>
              <a:ext cx="338911" cy="338911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5206358" y="1216827"/>
              <a:ext cx="1141839" cy="20652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973357" y="1558386"/>
              <a:ext cx="3050201" cy="4299936"/>
            </a:xfrm>
            <a:prstGeom prst="rect">
              <a:avLst/>
            </a:prstGeom>
            <a:noFill/>
            <a:ln w="21182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2" name="Region_32" descr="Region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3357" y="1558386"/>
              <a:ext cx="254183" cy="254183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5312268" y="1608164"/>
              <a:ext cx="2288974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7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pic>
          <p:nvPicPr>
            <p:cNvPr id="24" name="AWS-Transit-Gateway" descr="AWS Transit Gateway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17182" y="3401216"/>
              <a:ext cx="508367" cy="508367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5430754" y="3959360"/>
              <a:ext cx="1881222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Transit Gateway A</a:t>
              </a:r>
            </a:p>
          </p:txBody>
        </p:sp>
        <p:pic>
          <p:nvPicPr>
            <p:cNvPr id="26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481723" y="1982025"/>
              <a:ext cx="508367" cy="508367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050141" y="2540170"/>
              <a:ext cx="1371531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Services VPC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91796" y="2729748"/>
              <a:ext cx="1088223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10.1.0.0/16</a:t>
              </a:r>
            </a:p>
          </p:txBody>
        </p:sp>
        <p:pic>
          <p:nvPicPr>
            <p:cNvPr id="29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52640" y="1982025"/>
              <a:ext cx="508367" cy="508367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6524934" y="2540170"/>
              <a:ext cx="963779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Prod VPC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62712" y="2729748"/>
              <a:ext cx="1088223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10.2.0.0/16</a:t>
              </a:r>
            </a:p>
          </p:txBody>
        </p:sp>
        <p:pic>
          <p:nvPicPr>
            <p:cNvPr id="32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481723" y="4820406"/>
              <a:ext cx="508367" cy="508367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304987" y="5378551"/>
              <a:ext cx="861841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Dev VPC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91796" y="5568129"/>
              <a:ext cx="1088223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10.3.0.0/16</a:t>
              </a:r>
            </a:p>
          </p:txBody>
        </p:sp>
        <p:pic>
          <p:nvPicPr>
            <p:cNvPr id="35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52640" y="4820406"/>
              <a:ext cx="508367" cy="508367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524934" y="5378551"/>
              <a:ext cx="963779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Test VPC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62712" y="5568129"/>
              <a:ext cx="1088223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10.4.0.0/16</a:t>
              </a:r>
            </a:p>
          </p:txBody>
        </p:sp>
        <p:sp>
          <p:nvSpPr>
            <p:cNvPr id="38" name="Freeform 37"/>
            <p:cNvSpPr/>
            <p:nvPr/>
          </p:nvSpPr>
          <p:spPr>
            <a:xfrm>
              <a:off x="5735907" y="2935213"/>
              <a:ext cx="529549" cy="423639"/>
            </a:xfrm>
            <a:custGeom>
              <a:avLst/>
              <a:gdLst/>
              <a:ahLst/>
              <a:cxnLst/>
              <a:rect l="l" t="t" r="r" b="b"/>
              <a:pathLst>
                <a:path w="529549" h="423639">
                  <a:moveTo>
                    <a:pt x="529549" y="423639"/>
                  </a:moveTo>
                  <a:lnTo>
                    <a:pt x="529549" y="211819"/>
                  </a:lnTo>
                  <a:lnTo>
                    <a:pt x="0" y="211819"/>
                  </a:lnTo>
                  <a:lnTo>
                    <a:pt x="0" y="0"/>
                  </a:lnTo>
                </a:path>
              </a:pathLst>
            </a:custGeom>
            <a:noFill/>
            <a:ln w="15886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6477275" y="2935213"/>
              <a:ext cx="529549" cy="423639"/>
            </a:xfrm>
            <a:custGeom>
              <a:avLst/>
              <a:gdLst/>
              <a:ahLst/>
              <a:cxnLst/>
              <a:rect l="l" t="t" r="r" b="b"/>
              <a:pathLst>
                <a:path w="529549" h="423639">
                  <a:moveTo>
                    <a:pt x="0" y="423639"/>
                  </a:moveTo>
                  <a:lnTo>
                    <a:pt x="0" y="211819"/>
                  </a:lnTo>
                  <a:lnTo>
                    <a:pt x="529549" y="211819"/>
                  </a:lnTo>
                  <a:lnTo>
                    <a:pt x="529549" y="0"/>
                  </a:lnTo>
                </a:path>
              </a:pathLst>
            </a:custGeom>
            <a:noFill/>
            <a:ln w="15886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735907" y="4184948"/>
              <a:ext cx="529549" cy="593095"/>
            </a:xfrm>
            <a:custGeom>
              <a:avLst/>
              <a:gdLst/>
              <a:ahLst/>
              <a:cxnLst/>
              <a:rect l="l" t="t" r="r" b="b"/>
              <a:pathLst>
                <a:path w="529549" h="593095">
                  <a:moveTo>
                    <a:pt x="529549" y="0"/>
                  </a:moveTo>
                  <a:lnTo>
                    <a:pt x="529549" y="296547"/>
                  </a:lnTo>
                  <a:lnTo>
                    <a:pt x="0" y="296547"/>
                  </a:lnTo>
                  <a:lnTo>
                    <a:pt x="0" y="593095"/>
                  </a:lnTo>
                </a:path>
              </a:pathLst>
            </a:custGeom>
            <a:noFill/>
            <a:ln w="15886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6477275" y="4184948"/>
              <a:ext cx="529549" cy="593095"/>
            </a:xfrm>
            <a:custGeom>
              <a:avLst/>
              <a:gdLst/>
              <a:ahLst/>
              <a:cxnLst/>
              <a:rect l="l" t="t" r="r" b="b"/>
              <a:pathLst>
                <a:path w="529549" h="593095">
                  <a:moveTo>
                    <a:pt x="0" y="0"/>
                  </a:moveTo>
                  <a:lnTo>
                    <a:pt x="0" y="296547"/>
                  </a:lnTo>
                  <a:lnTo>
                    <a:pt x="529549" y="296547"/>
                  </a:lnTo>
                  <a:lnTo>
                    <a:pt x="529549" y="593095"/>
                  </a:lnTo>
                </a:path>
              </a:pathLst>
            </a:custGeom>
            <a:noFill/>
            <a:ln w="15886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125019" y="1558386"/>
              <a:ext cx="2457106" cy="4299936"/>
            </a:xfrm>
            <a:prstGeom prst="rect">
              <a:avLst/>
            </a:prstGeom>
            <a:noFill/>
            <a:ln w="21182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3" name="Region_32" descr="Region_3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125019" y="1558386"/>
              <a:ext cx="254183" cy="254183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463930" y="1608164"/>
              <a:ext cx="2288974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7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ap-northeast-1</a:t>
              </a:r>
            </a:p>
          </p:txBody>
        </p:sp>
        <p:pic>
          <p:nvPicPr>
            <p:cNvPr id="45" name="AWS-Transit-Gateway" descr="AWS Transit Gateway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057025" y="3401216"/>
              <a:ext cx="508367" cy="508367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9370597" y="3959360"/>
              <a:ext cx="1881222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Transit Gateway B</a:t>
              </a:r>
            </a:p>
          </p:txBody>
        </p:sp>
        <p:pic>
          <p:nvPicPr>
            <p:cNvPr id="47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57025" y="1982025"/>
              <a:ext cx="508367" cy="508367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9931257" y="2540170"/>
              <a:ext cx="759902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DR VPC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723409" y="2729748"/>
              <a:ext cx="1175598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10.16.0.0/16</a:t>
              </a:r>
            </a:p>
          </p:txBody>
        </p:sp>
        <p:pic>
          <p:nvPicPr>
            <p:cNvPr id="50" name="Amazon-Virtual-Private-Cloud" descr="Amazon Virtual Private Cloud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57025" y="4820406"/>
              <a:ext cx="508367" cy="508367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9574473" y="5378551"/>
              <a:ext cx="1473469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Analytics VPC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723409" y="5568129"/>
              <a:ext cx="1175598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10.17.0.0/16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 flipV="1">
              <a:off x="10311208" y="2935213"/>
              <a:ext cx="0" cy="423639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cxnSp>
          <p:nvCxnSpPr>
            <p:cNvPr id="54" name="Connector 53"/>
            <p:cNvCxnSpPr/>
            <p:nvPr/>
          </p:nvCxnSpPr>
          <p:spPr>
            <a:xfrm>
              <a:off x="10311208" y="4184948"/>
              <a:ext cx="0" cy="593095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cxnSp>
          <p:nvCxnSpPr>
            <p:cNvPr id="55" name="Connector 54"/>
            <p:cNvCxnSpPr/>
            <p:nvPr/>
          </p:nvCxnSpPr>
          <p:spPr>
            <a:xfrm>
              <a:off x="6667913" y="3655399"/>
              <a:ext cx="1609828" cy="0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cxnSp>
          <p:nvCxnSpPr>
            <p:cNvPr id="56" name="Connector 55"/>
            <p:cNvCxnSpPr/>
            <p:nvPr/>
          </p:nvCxnSpPr>
          <p:spPr>
            <a:xfrm>
              <a:off x="8870835" y="3655399"/>
              <a:ext cx="1143826" cy="0"/>
            </a:xfrm>
            <a:prstGeom prst="line">
              <a:avLst/>
            </a:prstGeom>
            <a:ln w="15886">
              <a:solidFill>
                <a:srgbClr val="232F3E"/>
              </a:solidFill>
              <a:prstDash val="solid"/>
              <a:miter lim="800000"/>
            </a:ln>
          </p:spPr>
        </p:cxnSp>
        <p:pic>
          <p:nvPicPr>
            <p:cNvPr id="57" name="Amazon-VPC_Peering-Connection" descr="Amazon VPC_Peering Connection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320105" y="3401216"/>
              <a:ext cx="508367" cy="508367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7939492" y="3959360"/>
              <a:ext cx="1269593" cy="192756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7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peering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177127" y="4148939"/>
              <a:ext cx="794323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AWS 백본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98056" y="6161224"/>
              <a:ext cx="8983794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Hub &amp; spoke: VPC·VPN은 리전 TGW에 attachment로 연결 · VPC CIDR과 VPN(BGP) 경로는 TGW 라우팅 테이블에 전파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98056" y="6330679"/>
              <a:ext cx="12375554" cy="1652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라우팅: VPC 서브넷 10.0.0.0/8 · 192.168.0.0/16 → TGW · TGW A 10.16.0.0/13 → peering · TGW B 10.0.0.0/13 · 192.168.0.0/16 → peering (정적 경로)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28600" y="228600"/>
            <a:ext cx="1173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 lang="ko-KR">
                <a:solidFill>
                  <a:srgbClr val="232F3E"/>
                </a:solidFill>
                <a:latin typeface="Arial"/>
                <a:ea typeface="Malgun Gothic"/>
                <a:cs typeface="Malgun Gothic"/>
              </a:rPr>
              <a:t>Centralized inspection with AWS Network Firewall</a:t>
            </a:r>
          </a:p>
        </p:txBody>
      </p:sp>
      <p:grpSp>
        <p:nvGrpSpPr>
          <p:cNvPr id="3" name="Architecture diagram"/>
          <p:cNvGrpSpPr/>
          <p:nvPr/>
        </p:nvGrpSpPr>
        <p:grpSpPr>
          <a:xfrm>
            <a:off x="381000" y="999067"/>
            <a:ext cx="14081125" cy="5643033"/>
            <a:chOff x="381000" y="999067"/>
            <a:chExt cx="14081125" cy="5643033"/>
          </a:xfrm>
        </p:grpSpPr>
        <p:sp>
          <p:nvSpPr>
            <p:cNvPr id="4" name="Rectangle 3"/>
            <p:cNvSpPr/>
            <p:nvPr/>
          </p:nvSpPr>
          <p:spPr>
            <a:xfrm>
              <a:off x="381000" y="999067"/>
              <a:ext cx="10625667" cy="5249333"/>
            </a:xfrm>
            <a:prstGeom prst="rect">
              <a:avLst/>
            </a:prstGeom>
            <a:noFill/>
            <a:ln w="21167">
              <a:solidFill>
                <a:srgbClr val="232F3E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" name="AWS-Cloud-logo_32" descr="AWS Cloud logo_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1000" y="999067"/>
              <a:ext cx="338667" cy="338667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825500" y="1081088"/>
              <a:ext cx="1141016" cy="20637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Cloud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667" y="1358900"/>
              <a:ext cx="10202333" cy="4804833"/>
            </a:xfrm>
            <a:prstGeom prst="rect">
              <a:avLst/>
            </a:prstGeom>
            <a:noFill/>
            <a:ln w="21167">
              <a:solidFill>
                <a:srgbClr val="00A4A6"/>
              </a:solidFill>
              <a:custDash>
                <a:ds d="150000" sp="1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" name="Region_32" descr="Region_3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2667" y="1358900"/>
              <a:ext cx="254000" cy="2540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931333" y="1408642"/>
              <a:ext cx="228732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Region ap-northeast-2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62000" y="1993900"/>
              <a:ext cx="2116667" cy="1524000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" name="Virtual-private-cloud-VPC_32" descr="Virtual private cloud VPC_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1993900"/>
              <a:ext cx="254000" cy="2540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100667" y="2043642"/>
              <a:ext cx="187986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A 10.1.0.0/16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89000" y="2311400"/>
              <a:ext cx="1862667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9000" y="2311400"/>
              <a:ext cx="254000" cy="25400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227667" y="2361142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pic>
          <p:nvPicPr>
            <p:cNvPr id="16" name="Amazon-EC2" descr="Amazon EC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66333" y="2607733"/>
              <a:ext cx="508000" cy="508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593453" y="3165475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4428067"/>
              <a:ext cx="2116667" cy="1524000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9" name="Virtual-private-cloud-VPC_32" descr="Virtual private cloud VPC_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4428067"/>
              <a:ext cx="254000" cy="254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100667" y="4477808"/>
              <a:ext cx="187986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VPC B 10.2.0.0/16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89000" y="4745567"/>
              <a:ext cx="1862667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2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9000" y="474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227667" y="47953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App subnet</a:t>
              </a:r>
            </a:p>
          </p:txBody>
        </p:sp>
        <p:pic>
          <p:nvPicPr>
            <p:cNvPr id="24" name="Amazon-EC2" descr="Amazon EC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66333" y="5041900"/>
              <a:ext cx="508000" cy="50800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593453" y="5599642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EC2</a:t>
              </a:r>
            </a:p>
          </p:txBody>
        </p:sp>
        <p:pic>
          <p:nvPicPr>
            <p:cNvPr id="26" name="AWS-Transit-Gateway" descr="AWS Transit Gateway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92500" y="3602567"/>
              <a:ext cx="508000" cy="5080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519620" y="41603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</a:t>
              </a:r>
            </a:p>
          </p:txBody>
        </p:sp>
        <p:pic>
          <p:nvPicPr>
            <p:cNvPr id="28" name="Amazon-Route-53_Route-Table" descr="Amazon Route 53_Route Table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92500" y="2607733"/>
              <a:ext cx="508000" cy="508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112161" y="3165475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Firewall RT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87688" y="3354917"/>
              <a:ext cx="1317625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VPC A · B 전파</a:t>
              </a:r>
            </a:p>
          </p:txBody>
        </p:sp>
        <p:pic>
          <p:nvPicPr>
            <p:cNvPr id="31" name="Amazon-Route-53_Route-Table" descr="Amazon Route 53_Route Table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92500" y="5041900"/>
              <a:ext cx="508000" cy="508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264958" y="5599642"/>
              <a:ext cx="96308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Spoke RT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25750" y="5789083"/>
              <a:ext cx="184150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0.0.0.0/0 → 검사 VPC</a:t>
              </a:r>
            </a:p>
          </p:txBody>
        </p:sp>
        <p:sp>
          <p:nvSpPr>
            <p:cNvPr id="34" name="Freeform 33"/>
            <p:cNvSpPr/>
            <p:nvPr/>
          </p:nvSpPr>
          <p:spPr>
            <a:xfrm>
              <a:off x="2921000" y="2861733"/>
              <a:ext cx="529167" cy="910167"/>
            </a:xfrm>
            <a:custGeom>
              <a:avLst/>
              <a:gdLst/>
              <a:ahLst/>
              <a:cxnLst/>
              <a:rect l="l" t="t" r="r" b="b"/>
              <a:pathLst>
                <a:path w="529167" h="910167">
                  <a:moveTo>
                    <a:pt x="0" y="0"/>
                  </a:moveTo>
                  <a:lnTo>
                    <a:pt x="254000" y="0"/>
                  </a:lnTo>
                  <a:lnTo>
                    <a:pt x="254000" y="910167"/>
                  </a:lnTo>
                  <a:lnTo>
                    <a:pt x="529167" y="910167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921000" y="3941233"/>
              <a:ext cx="529167" cy="1354667"/>
            </a:xfrm>
            <a:custGeom>
              <a:avLst/>
              <a:gdLst/>
              <a:ahLst/>
              <a:cxnLst/>
              <a:rect l="l" t="t" r="r" b="b"/>
              <a:pathLst>
                <a:path w="529167" h="1354667">
                  <a:moveTo>
                    <a:pt x="0" y="1354667"/>
                  </a:moveTo>
                  <a:lnTo>
                    <a:pt x="254000" y="1354667"/>
                  </a:lnTo>
                  <a:lnTo>
                    <a:pt x="254000" y="0"/>
                  </a:lnTo>
                  <a:lnTo>
                    <a:pt x="529167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0" y="1676400"/>
              <a:ext cx="5799667" cy="4360333"/>
            </a:xfrm>
            <a:prstGeom prst="rect">
              <a:avLst/>
            </a:prstGeom>
            <a:noFill/>
            <a:ln w="21167">
              <a:solidFill>
                <a:srgbClr val="8C4FFF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37" name="Virtual-private-cloud-VPC_32" descr="Virtual private cloud VPC_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72000" y="1676400"/>
              <a:ext cx="254000" cy="254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910667" y="1726142"/>
              <a:ext cx="300037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8C4FFF"/>
                  </a:solidFill>
                  <a:latin typeface="Arial"/>
                  <a:ea typeface="Malgun Gothic"/>
                  <a:cs typeface="Malgun Gothic"/>
                </a:rPr>
                <a:t>Inspection VPC 100.64.0.0/16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741333" y="1993900"/>
              <a:ext cx="5037667" cy="15240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68333" y="2043642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741333" y="4428067"/>
              <a:ext cx="5037667" cy="1524000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custDash>
                <a:ds d="533333" sp="26666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868333" y="4477808"/>
              <a:ext cx="2083594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Availability Zone 2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868333" y="2311400"/>
              <a:ext cx="1439333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68333" y="2311400"/>
              <a:ext cx="254000" cy="25400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5207000" y="2361142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34667" y="2311400"/>
              <a:ext cx="1608667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34667" y="2311400"/>
              <a:ext cx="254000" cy="25400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6773333" y="2361142"/>
              <a:ext cx="167613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Firewall subnet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170333" y="2311400"/>
              <a:ext cx="1481667" cy="1121833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ublic-subnet_32" descr="Public subnet_3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70333" y="2311400"/>
              <a:ext cx="254000" cy="2540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509000" y="2361142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868333" y="4745567"/>
              <a:ext cx="1439333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3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68333" y="4745567"/>
              <a:ext cx="254000" cy="25400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5207000" y="4795308"/>
              <a:ext cx="116681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TGW subnet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434667" y="4745567"/>
              <a:ext cx="1608667" cy="1121833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6" name="Private-subnet_32" descr="Private subnet_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34667" y="4745567"/>
              <a:ext cx="254000" cy="25400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773333" y="4795308"/>
              <a:ext cx="167613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00A4A6"/>
                  </a:solidFill>
                  <a:latin typeface="Arial"/>
                  <a:ea typeface="Malgun Gothic"/>
                  <a:cs typeface="Malgun Gothic"/>
                </a:rPr>
                <a:t>Firewall subnet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170333" y="4745567"/>
              <a:ext cx="1481667" cy="1121833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9" name="Public-subnet_32" descr="Public subnet_32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70333" y="4745567"/>
              <a:ext cx="254000" cy="25400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8509000" y="4795308"/>
              <a:ext cx="1472406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66" b="1" lang="ko-KR">
                  <a:solidFill>
                    <a:srgbClr val="7AA116"/>
                  </a:solidFill>
                  <a:latin typeface="Arial"/>
                  <a:ea typeface="Malgun Gothic"/>
                  <a:cs typeface="Malgun Gothic"/>
                </a:rPr>
                <a:t>Public subnet</a:t>
              </a:r>
            </a:p>
          </p:txBody>
        </p:sp>
        <p:pic>
          <p:nvPicPr>
            <p:cNvPr id="61" name="AWS-Transit-Gateway_Attachment" descr="AWS Transit Gateway_Attachment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34000" y="2607733"/>
              <a:ext cx="508000" cy="50800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5157391" y="3165475"/>
              <a:ext cx="861219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ENI</a:t>
              </a:r>
            </a:p>
          </p:txBody>
        </p:sp>
        <p:pic>
          <p:nvPicPr>
            <p:cNvPr id="63" name="AWS-Network-Firewall_Endpoints" descr="AWS Network Firewall_Endpoints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985000" y="2607733"/>
              <a:ext cx="508000" cy="508000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6299068" y="3165475"/>
              <a:ext cx="187986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Firewall endpoint</a:t>
              </a:r>
            </a:p>
          </p:txBody>
        </p:sp>
        <p:pic>
          <p:nvPicPr>
            <p:cNvPr id="65" name="Amazon-VPC_NAT-Gateway" descr="Amazon VPC_NAT Gateway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657167" y="2607733"/>
              <a:ext cx="508000" cy="50800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8276828" y="3165475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pic>
          <p:nvPicPr>
            <p:cNvPr id="67" name="AWS-Transit-Gateway_Attachment" descr="AWS Transit Gateway_Attachment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34000" y="5041900"/>
              <a:ext cx="508000" cy="50800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157391" y="5599642"/>
              <a:ext cx="861219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TGW ENI</a:t>
              </a:r>
            </a:p>
          </p:txBody>
        </p:sp>
        <p:pic>
          <p:nvPicPr>
            <p:cNvPr id="69" name="AWS-Network-Firewall_Endpoints" descr="AWS Network Firewall_Endpoints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985000" y="5041900"/>
              <a:ext cx="508000" cy="508000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6299068" y="5599642"/>
              <a:ext cx="1879865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Firewall endpoint</a:t>
              </a:r>
            </a:p>
          </p:txBody>
        </p:sp>
        <p:pic>
          <p:nvPicPr>
            <p:cNvPr id="71" name="Amazon-VPC_NAT-Gateway" descr="Amazon VPC_NAT Gateway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657167" y="5041900"/>
              <a:ext cx="508000" cy="50800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8276828" y="5599642"/>
              <a:ext cx="1268677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NAT gateway</a:t>
              </a:r>
            </a:p>
          </p:txBody>
        </p:sp>
        <p:pic>
          <p:nvPicPr>
            <p:cNvPr id="73" name="AWS-Network-Firewall" descr="AWS Network Firewall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985000" y="3602567"/>
              <a:ext cx="508000" cy="50800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6146271" y="4160308"/>
              <a:ext cx="2185458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AWS Network Firewall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117667" y="3602567"/>
              <a:ext cx="508000" cy="740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6" name="Amazon-VPC_Internet-Gateway" descr="Amazon VPC_Internet Gateway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0117667" y="3602567"/>
              <a:ext cx="508000" cy="50800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10144786" y="4160308"/>
              <a:ext cx="453760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IGW</a:t>
              </a:r>
            </a:p>
          </p:txBody>
        </p:sp>
        <p:sp>
          <p:nvSpPr>
            <p:cNvPr id="78" name="Freeform 77"/>
            <p:cNvSpPr/>
            <p:nvPr/>
          </p:nvSpPr>
          <p:spPr>
            <a:xfrm>
              <a:off x="4042833" y="2861733"/>
              <a:ext cx="1248834" cy="910167"/>
            </a:xfrm>
            <a:custGeom>
              <a:avLst/>
              <a:gdLst/>
              <a:ahLst/>
              <a:cxnLst/>
              <a:rect l="l" t="t" r="r" b="b"/>
              <a:pathLst>
                <a:path w="1248834" h="910167">
                  <a:moveTo>
                    <a:pt x="0" y="910167"/>
                  </a:moveTo>
                  <a:lnTo>
                    <a:pt x="359834" y="910167"/>
                  </a:lnTo>
                  <a:lnTo>
                    <a:pt x="359834" y="0"/>
                  </a:lnTo>
                  <a:lnTo>
                    <a:pt x="1248834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4042833" y="3941233"/>
              <a:ext cx="1248834" cy="1354667"/>
            </a:xfrm>
            <a:custGeom>
              <a:avLst/>
              <a:gdLst/>
              <a:ahLst/>
              <a:cxnLst/>
              <a:rect l="l" t="t" r="r" b="b"/>
              <a:pathLst>
                <a:path w="1248834" h="1354667">
                  <a:moveTo>
                    <a:pt x="0" y="0"/>
                  </a:moveTo>
                  <a:lnTo>
                    <a:pt x="359834" y="0"/>
                  </a:lnTo>
                  <a:lnTo>
                    <a:pt x="359834" y="1354667"/>
                  </a:lnTo>
                  <a:lnTo>
                    <a:pt x="1248834" y="1354667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Connector 79"/>
            <p:cNvCxnSpPr/>
            <p:nvPr/>
          </p:nvCxnSpPr>
          <p:spPr>
            <a:xfrm>
              <a:off x="5884333" y="2861733"/>
              <a:ext cx="1058334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81" name="Connector 80"/>
            <p:cNvCxnSpPr/>
            <p:nvPr/>
          </p:nvCxnSpPr>
          <p:spPr>
            <a:xfrm>
              <a:off x="5884333" y="5295900"/>
              <a:ext cx="1058334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82" name="Connector 81"/>
            <p:cNvCxnSpPr/>
            <p:nvPr/>
          </p:nvCxnSpPr>
          <p:spPr>
            <a:xfrm>
              <a:off x="7535333" y="2861733"/>
              <a:ext cx="107950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83" name="Connector 82"/>
            <p:cNvCxnSpPr/>
            <p:nvPr/>
          </p:nvCxnSpPr>
          <p:spPr>
            <a:xfrm>
              <a:off x="7535333" y="5295900"/>
              <a:ext cx="1079500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4" name="Freeform 83"/>
            <p:cNvSpPr/>
            <p:nvPr/>
          </p:nvSpPr>
          <p:spPr>
            <a:xfrm>
              <a:off x="9207500" y="2861733"/>
              <a:ext cx="867833" cy="910167"/>
            </a:xfrm>
            <a:custGeom>
              <a:avLst/>
              <a:gdLst/>
              <a:ahLst/>
              <a:cxnLst/>
              <a:rect l="l" t="t" r="r" b="b"/>
              <a:pathLst>
                <a:path w="867833" h="910167">
                  <a:moveTo>
                    <a:pt x="0" y="0"/>
                  </a:moveTo>
                  <a:lnTo>
                    <a:pt x="656167" y="0"/>
                  </a:lnTo>
                  <a:lnTo>
                    <a:pt x="656167" y="910167"/>
                  </a:lnTo>
                  <a:lnTo>
                    <a:pt x="867833" y="910167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9207500" y="3941233"/>
              <a:ext cx="867833" cy="1354667"/>
            </a:xfrm>
            <a:custGeom>
              <a:avLst/>
              <a:gdLst/>
              <a:ahLst/>
              <a:cxnLst/>
              <a:rect l="l" t="t" r="r" b="b"/>
              <a:pathLst>
                <a:path w="867833" h="1354667">
                  <a:moveTo>
                    <a:pt x="0" y="1354667"/>
                  </a:moveTo>
                  <a:lnTo>
                    <a:pt x="656167" y="1354667"/>
                  </a:lnTo>
                  <a:lnTo>
                    <a:pt x="656167" y="0"/>
                  </a:lnTo>
                  <a:lnTo>
                    <a:pt x="867833" y="0"/>
                  </a:lnTo>
                </a:path>
              </a:pathLst>
            </a:custGeom>
            <a:noFill/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6" name="Internet" descr="Internet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1303000" y="3602567"/>
              <a:ext cx="508000" cy="50800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11075458" y="4160308"/>
              <a:ext cx="963083" cy="19261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66" b="0" lang="ko-KR">
                  <a:solidFill>
                    <a:srgbClr val="232F3E"/>
                  </a:solidFill>
                  <a:latin typeface="Arial"/>
                  <a:ea typeface="Malgun Gothic"/>
                  <a:cs typeface="Malgun Gothic"/>
                </a:rPr>
                <a:t>Internet</a:t>
              </a:r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0668000" y="3856567"/>
              <a:ext cx="592667" cy="0"/>
            </a:xfrm>
            <a:prstGeom prst="line">
              <a:avLst/>
            </a:prstGeom>
            <a:ln w="15875">
              <a:solidFill>
                <a:srgbClr val="232F3E"/>
              </a:solidFill>
              <a:prstDash val="solid"/>
              <a:miter lim="800000"/>
              <a:tailEnd type="triangle" w="med" len="med"/>
            </a:ln>
          </p:spPr>
        </p:cxnSp>
        <p:sp>
          <p:nvSpPr>
            <p:cNvPr id="89" name="Oval 88"/>
            <p:cNvSpPr/>
            <p:nvPr/>
          </p:nvSpPr>
          <p:spPr>
            <a:xfrm>
              <a:off x="3227917" y="3517900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226594" y="3545417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1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4116917" y="3517900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115594" y="3545417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2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6582833" y="2607733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581510" y="2635250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3</a:t>
              </a:r>
            </a:p>
          </p:txBody>
        </p:sp>
        <p:sp>
          <p:nvSpPr>
            <p:cNvPr id="95" name="Oval 94"/>
            <p:cNvSpPr/>
            <p:nvPr/>
          </p:nvSpPr>
          <p:spPr>
            <a:xfrm>
              <a:off x="7683500" y="2607733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682177" y="2635250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4</a:t>
              </a:r>
            </a:p>
          </p:txBody>
        </p:sp>
        <p:sp>
          <p:nvSpPr>
            <p:cNvPr id="97" name="Oval 96"/>
            <p:cNvSpPr/>
            <p:nvPr/>
          </p:nvSpPr>
          <p:spPr>
            <a:xfrm>
              <a:off x="9323917" y="2607733"/>
              <a:ext cx="211667" cy="211667"/>
            </a:xfrm>
            <a:prstGeom prst="ellipse">
              <a:avLst/>
            </a:prstGeom>
            <a:solidFill>
              <a:srgbClr val="232F3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322594" y="2635250"/>
              <a:ext cx="214312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00" b="1" lang="ko-KR">
                  <a:solidFill>
                    <a:srgbClr val="FFFFFF"/>
                  </a:solidFill>
                  <a:latin typeface="Arial"/>
                  <a:ea typeface="Malgun Gothic"/>
                  <a:cs typeface="Malgun Gothic"/>
                </a:rPr>
                <a:t>5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81000" y="6307667"/>
              <a:ext cx="128587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① VPC → TGW  ② Spoke RT 0.0.0.0/0 → 검사 VPC (appliance mode)  ③ 같은 AZ 방화벽에서 검사 (VPC 간은 TGW로 반환)  ④ 방화벽 → NAT (인터넷행)  ⑤ NAT → IGW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81000" y="6477000"/>
              <a:ext cx="14081125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00" b="0" lang="ko-KR">
                  <a:solidFill>
                    <a:srgbClr val="545B64"/>
                  </a:solidFill>
                  <a:latin typeface="Arial"/>
                  <a:ea typeface="Malgun Gothic"/>
                  <a:cs typeface="Malgun Gothic"/>
                </a:rPr>
                <a:t>라우팅(같은 AZ): App 0.0.0.0/0 → TGW · TGW 서브넷 0.0.0.0/0 → 방화벽 · 방화벽 서브넷 0.0.0.0/0 → NAT, 10.0.0.0/8 → TGW · 퍼블릭 0.0.0.0/0 → IGW, 10.0.0.0/8 → 방화벽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Internet-facing NLB</dc:title>
  <dc:subject/>
  <dc:creator/>
  <cp:keywords/>
  <dc:description>Generated by skill-aws-arch-diagram</dc:description>
  <cp:lastModifiedBy/>
  <cp:revision>1</cp:revision>
  <dcterms:created xsi:type="dcterms:W3CDTF">2026-10-23T03:05:28Z</dcterms:created>
  <dcterms:modified xsi:type="dcterms:W3CDTF">2026-10-23T03:05:28Z</dcterms:modified>
  <cp:category/>
</cp:coreProperties>
</file>