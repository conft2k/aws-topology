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19.png"/><Relationship Id="rId13" Type="http://schemas.openxmlformats.org/officeDocument/2006/relationships/image" Target="../media/image20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25.png"/><Relationship Id="rId17" Type="http://schemas.openxmlformats.org/officeDocument/2006/relationships/image" Target="../media/image26.svg"/><Relationship Id="rId18" Type="http://schemas.openxmlformats.org/officeDocument/2006/relationships/image" Target="../media/image29.png"/><Relationship Id="rId19" Type="http://schemas.openxmlformats.org/officeDocument/2006/relationships/image" Target="../media/image3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7.png"/><Relationship Id="rId13" Type="http://schemas.openxmlformats.org/officeDocument/2006/relationships/image" Target="../media/image8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Relationship Id="rId18" Type="http://schemas.openxmlformats.org/officeDocument/2006/relationships/image" Target="../media/image53.png"/><Relationship Id="rId19" Type="http://schemas.openxmlformats.org/officeDocument/2006/relationships/image" Target="../media/image5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25.png"/><Relationship Id="rId11" Type="http://schemas.openxmlformats.org/officeDocument/2006/relationships/image" Target="../media/image2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5.png"/><Relationship Id="rId15" Type="http://schemas.openxmlformats.org/officeDocument/2006/relationships/image" Target="../media/image56.svg"/><Relationship Id="rId16" Type="http://schemas.openxmlformats.org/officeDocument/2006/relationships/image" Target="../media/image17.png"/><Relationship Id="rId17" Type="http://schemas.openxmlformats.org/officeDocument/2006/relationships/image" Target="../media/image18.svg"/><Relationship Id="rId18" Type="http://schemas.openxmlformats.org/officeDocument/2006/relationships/image" Target="../media/image57.png"/><Relationship Id="rId19" Type="http://schemas.openxmlformats.org/officeDocument/2006/relationships/image" Target="../media/image58.svg"/><Relationship Id="rId20" Type="http://schemas.openxmlformats.org/officeDocument/2006/relationships/image" Target="../media/image59.png"/><Relationship Id="rId21" Type="http://schemas.openxmlformats.org/officeDocument/2006/relationships/image" Target="../media/image6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61.png"/><Relationship Id="rId25" Type="http://schemas.openxmlformats.org/officeDocument/2006/relationships/image" Target="../media/image62.svg"/><Relationship Id="rId26" Type="http://schemas.openxmlformats.org/officeDocument/2006/relationships/image" Target="../media/image29.png"/><Relationship Id="rId27" Type="http://schemas.openxmlformats.org/officeDocument/2006/relationships/image" Target="../media/image30.svg"/><Relationship Id="rId28" Type="http://schemas.openxmlformats.org/officeDocument/2006/relationships/image" Target="../media/image45.png"/><Relationship Id="rId29" Type="http://schemas.openxmlformats.org/officeDocument/2006/relationships/image" Target="../media/image46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750755" y="956733"/>
            <a:ext cx="11531203" cy="5674784"/>
            <a:chOff x="750755" y="956733"/>
            <a:chExt cx="11531203" cy="5674784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500" y="3666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750755" y="4223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137833" y="956733"/>
              <a:ext cx="9271000" cy="54398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7833" y="956733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582333" y="1038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55333" y="2671233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2227792" y="32289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65615" y="34184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NLB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323167" y="1316567"/>
              <a:ext cx="7916333" cy="49953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23167" y="1316567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661833" y="1366308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160000" y="2671233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187120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55969" y="3418417"/>
              <a:ext cx="1516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160000" y="3666067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30594" y="4223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02031" y="4413250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160000" y="5105400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238052" y="5663142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735344" y="5852583"/>
              <a:ext cx="1357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661833" y="1634067"/>
              <a:ext cx="5926667" cy="45508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661833" y="1634067"/>
              <a:ext cx="254000" cy="254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4000500" y="16838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788833" y="1951567"/>
              <a:ext cx="5672667" cy="1629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915833" y="200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788833" y="4491567"/>
              <a:ext cx="56726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915833" y="454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915833" y="2269067"/>
              <a:ext cx="1693333" cy="1227667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2269067"/>
              <a:ext cx="254000" cy="254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254500" y="231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5863167" y="2269067"/>
              <a:ext cx="3471333" cy="1227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2269067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201833" y="231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915833" y="4809067"/>
              <a:ext cx="1693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4809067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4254500" y="485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863167" y="4809067"/>
              <a:ext cx="3471333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4809067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201833" y="485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43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2671233"/>
              <a:ext cx="508000" cy="508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4128161" y="32289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5105400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4128161" y="56631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175500" y="2353733"/>
              <a:ext cx="2032000" cy="3577167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175500" y="2353733"/>
              <a:ext cx="254000" cy="254000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7514167" y="2403475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0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2671233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7541286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2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2671233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514953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4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5105400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7541286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6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5105400"/>
              <a:ext cx="508000" cy="508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8514953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8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508500" y="3666067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4535620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3407833" y="3666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1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407833" y="3666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3434953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1375833" y="3920067"/>
              <a:ext cx="1989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4" name="TextBox 63"/>
            <p:cNvSpPr txBox="1"/>
            <p:nvPr/>
          </p:nvSpPr>
          <p:spPr>
            <a:xfrm>
              <a:off x="1322917" y="3704167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958167" y="3920067"/>
              <a:ext cx="508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5058833" y="3920067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7" name="TextBox 66"/>
            <p:cNvSpPr txBox="1"/>
            <p:nvPr/>
          </p:nvSpPr>
          <p:spPr>
            <a:xfrm>
              <a:off x="5639594" y="37041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:8080</a:t>
              </a:r>
            </a:p>
          </p:txBody>
        </p:sp>
        <p:sp>
          <p:nvSpPr>
            <p:cNvPr id="68" name="Freeform 67"/>
            <p:cNvSpPr/>
            <p:nvPr/>
          </p:nvSpPr>
          <p:spPr>
            <a:xfrm>
              <a:off x="1079500" y="2925233"/>
              <a:ext cx="1333500" cy="698500"/>
            </a:xfrm>
            <a:custGeom>
              <a:avLst/>
              <a:gdLst/>
              <a:ahLst/>
              <a:cxnLst/>
              <a:rect l="l" t="t" r="r" b="b"/>
              <a:pathLst>
                <a:path w="1333500" h="698500">
                  <a:moveTo>
                    <a:pt x="0" y="698500"/>
                  </a:moveTo>
                  <a:lnTo>
                    <a:pt x="0" y="0"/>
                  </a:lnTo>
                  <a:lnTo>
                    <a:pt x="133350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338792" y="2719917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 flipH="1">
              <a:off x="5058833" y="2925233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6037792" y="2719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 flipH="1">
              <a:off x="5058833" y="5359400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3" name="TextBox 72"/>
            <p:cNvSpPr txBox="1"/>
            <p:nvPr/>
          </p:nvSpPr>
          <p:spPr>
            <a:xfrm>
              <a:off x="6037792" y="5154083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2137833" y="6466417"/>
              <a:ext cx="10144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NLB · TLS 종료 · 라우팅: Public subnet 0.0.0.0/0 → IGW, App subnet 0.0.0.0/0 → NAT gateway (같은 AZ)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27422" y="935567"/>
            <a:ext cx="11590735" cy="5643033"/>
            <a:chOff x="327422" y="935567"/>
            <a:chExt cx="11590735" cy="56430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167" y="3623733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327422" y="41603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78000" y="935567"/>
              <a:ext cx="10138833" cy="5418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78000" y="935567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222500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21417" y="1358900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1793875" y="1895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31698" y="2084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ALB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772833" y="1295400"/>
              <a:ext cx="9059333" cy="4974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772833" y="12954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111500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64750" y="26500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091870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017125" y="3376083"/>
              <a:ext cx="6032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인증서</a:t>
              </a:r>
            </a:p>
          </p:txBody>
        </p:sp>
        <p:pic>
          <p:nvPicPr>
            <p:cNvPr id="18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064750" y="5084233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88141" y="5620808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49656" y="5810250"/>
              <a:ext cx="7381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Web ACL</a:t>
              </a:r>
            </a:p>
          </p:txBody>
        </p:sp>
        <p:pic>
          <p:nvPicPr>
            <p:cNvPr id="21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080750" y="2650067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751344" y="3186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822781" y="3376083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4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1080750" y="5084233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158802" y="5620808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830719" y="5810250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액세스 로그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11500" y="1612900"/>
              <a:ext cx="6815667" cy="4529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8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111500" y="1612900"/>
              <a:ext cx="254000" cy="254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450167" y="16626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217333" y="1930400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3443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17333" y="4449233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344333" y="4498975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344333" y="2247900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2247900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3683000" y="22976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5016500" y="2247900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2247900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5355167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445500" y="2247900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2247900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8784167" y="2297642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344333" y="4766733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4766733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3683000" y="4816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016500" y="4766733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4766733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5355167" y="48164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445500" y="4766733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4766733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784167" y="4816475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2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2650067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3482578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4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5084233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3482578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286500" y="2332567"/>
              <a:ext cx="1947333" cy="3556000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7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286500" y="2332567"/>
              <a:ext cx="254000" cy="254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6625167" y="2382308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9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2650067"/>
              <a:ext cx="508000" cy="508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6652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1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2650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7668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3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50842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652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5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50842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7668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7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2650067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8446161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69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5084233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8446161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1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3862917" y="3623733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389003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2857500" y="3623733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4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857500" y="3623733"/>
              <a:ext cx="508000" cy="508000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2884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952500" y="3877733"/>
              <a:ext cx="186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7" name="TextBox 76"/>
            <p:cNvSpPr txBox="1"/>
            <p:nvPr/>
          </p:nvSpPr>
          <p:spPr>
            <a:xfrm>
              <a:off x="844021" y="3661833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cxnSp>
          <p:nvCxnSpPr>
            <p:cNvPr id="78" name="Connector 77"/>
            <p:cNvCxnSpPr/>
            <p:nvPr/>
          </p:nvCxnSpPr>
          <p:spPr>
            <a:xfrm>
              <a:off x="3407833" y="3877733"/>
              <a:ext cx="412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79" name="Connector 78"/>
            <p:cNvCxnSpPr/>
            <p:nvPr/>
          </p:nvCxnSpPr>
          <p:spPr>
            <a:xfrm>
              <a:off x="4413250" y="38777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0" name="TextBox 79"/>
            <p:cNvSpPr txBox="1"/>
            <p:nvPr/>
          </p:nvSpPr>
          <p:spPr>
            <a:xfrm>
              <a:off x="4921250" y="3661833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8233833" y="2904067"/>
              <a:ext cx="550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2" name="TextBox 81"/>
            <p:cNvSpPr txBox="1"/>
            <p:nvPr/>
          </p:nvSpPr>
          <p:spPr>
            <a:xfrm>
              <a:off x="8441531" y="2698750"/>
              <a:ext cx="388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sp>
          <p:nvSpPr>
            <p:cNvPr id="83" name="Freeform 82"/>
            <p:cNvSpPr/>
            <p:nvPr/>
          </p:nvSpPr>
          <p:spPr>
            <a:xfrm>
              <a:off x="656167" y="1612900"/>
              <a:ext cx="1322916" cy="1968500"/>
            </a:xfrm>
            <a:custGeom>
              <a:avLst/>
              <a:gdLst/>
              <a:ahLst/>
              <a:cxnLst/>
              <a:rect l="l" t="t" r="r" b="b"/>
              <a:pathLst>
                <a:path w="1322916" h="1968500">
                  <a:moveTo>
                    <a:pt x="0" y="1968500"/>
                  </a:moveTo>
                  <a:lnTo>
                    <a:pt x="0" y="0"/>
                  </a:lnTo>
                  <a:lnTo>
                    <a:pt x="1322916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894292" y="1407583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 flipH="1">
              <a:off x="4413250" y="2904067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6" name="TextBox 85"/>
            <p:cNvSpPr txBox="1"/>
            <p:nvPr/>
          </p:nvSpPr>
          <p:spPr>
            <a:xfrm>
              <a:off x="5169958" y="2698750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7" name="Connector 86"/>
            <p:cNvCxnSpPr/>
            <p:nvPr/>
          </p:nvCxnSpPr>
          <p:spPr>
            <a:xfrm flipH="1">
              <a:off x="4413250" y="53382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8" name="TextBox 87"/>
            <p:cNvSpPr txBox="1"/>
            <p:nvPr/>
          </p:nvSpPr>
          <p:spPr>
            <a:xfrm>
              <a:off x="5169958" y="5132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89" name="Freeform 88"/>
            <p:cNvSpPr/>
            <p:nvPr/>
          </p:nvSpPr>
          <p:spPr>
            <a:xfrm>
              <a:off x="9376833" y="3031067"/>
              <a:ext cx="211667" cy="2180166"/>
            </a:xfrm>
            <a:custGeom>
              <a:avLst/>
              <a:gdLst/>
              <a:ahLst/>
              <a:cxnLst/>
              <a:rect l="l" t="t" r="r" b="b"/>
              <a:pathLst>
                <a:path w="211667" h="2180166">
                  <a:moveTo>
                    <a:pt x="0" y="0"/>
                  </a:moveTo>
                  <a:lnTo>
                    <a:pt x="211667" y="0"/>
                  </a:lnTo>
                  <a:lnTo>
                    <a:pt x="211667" y="2180166"/>
                  </a:lnTo>
                  <a:lnTo>
                    <a:pt x="0" y="2180166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8495771" y="3915833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778000" y="6413500"/>
              <a:ext cx="7556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ALB · 두 AZ에 걸친 단일 관리형 로드 밸런서 · AWS WAF 연결 · RDS Multi-AZ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242755" y="935567"/>
            <a:ext cx="13449433" cy="5706533"/>
            <a:chOff x="242755" y="935567"/>
            <a:chExt cx="13449433" cy="57065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7500" y="3539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242755" y="4096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14500" y="935567"/>
              <a:ext cx="10202333" cy="5291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14500" y="935567"/>
              <a:ext cx="254000" cy="254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053167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926167" y="1295400"/>
              <a:ext cx="9906000" cy="4847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26167" y="1295400"/>
              <a:ext cx="254000" cy="254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264833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61167" y="1612900"/>
              <a:ext cx="5101167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61167" y="16129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2899833" y="1662642"/>
              <a:ext cx="289851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 10.0.0.0/16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72833" y="1930400"/>
              <a:ext cx="4677833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998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772833" y="4364567"/>
              <a:ext cx="4677833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899833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899833" y="2247900"/>
              <a:ext cx="2582333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2247900"/>
              <a:ext cx="254000" cy="254000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3238500" y="2297642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736167" y="2247900"/>
              <a:ext cx="1587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2247900"/>
              <a:ext cx="254000" cy="2540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6074833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899833" y="4682067"/>
              <a:ext cx="2582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6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4682067"/>
              <a:ext cx="254000" cy="254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238500" y="4731808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736167" y="4682067"/>
              <a:ext cx="1587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9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4682067"/>
              <a:ext cx="254000" cy="254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074833" y="4731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1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2544233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687755" y="3101975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3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4978400"/>
              <a:ext cx="508000" cy="5080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4687755" y="55361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5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2544233"/>
              <a:ext cx="508000" cy="508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303036" y="3101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7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4978400"/>
              <a:ext cx="508000" cy="508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6303036" y="5536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307167" y="3539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0" name="Amazon-VPC_Internet-Gateway" descr="Amazon VPC_Internet Gateway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307167" y="3539067"/>
              <a:ext cx="508000" cy="508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2334286" y="4096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001000" y="1612900"/>
              <a:ext cx="3746500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01000" y="1612900"/>
              <a:ext cx="254000" cy="254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8339667" y="1662642"/>
              <a:ext cx="259291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 10.1.0.0/16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212667" y="1930400"/>
              <a:ext cx="33231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39667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212667" y="4364567"/>
              <a:ext cx="33231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8339667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39667" y="2247900"/>
              <a:ext cx="3111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22479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678333" y="2297642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8339667" y="4682067"/>
              <a:ext cx="3111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46820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678333" y="47318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10075333" y="2332567"/>
              <a:ext cx="1291167" cy="3471333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075333" y="2332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10414000" y="2382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58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2544233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10675938" y="3101975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4978400"/>
              <a:ext cx="508000" cy="508000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10675938" y="5536142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2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09000" y="3539067"/>
              <a:ext cx="508000" cy="50800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8485188" y="4096808"/>
              <a:ext cx="55562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4" name="Freeform 63"/>
            <p:cNvSpPr/>
            <p:nvPr/>
          </p:nvSpPr>
          <p:spPr>
            <a:xfrm>
              <a:off x="2857500" y="2798233"/>
              <a:ext cx="1862667" cy="994834"/>
            </a:xfrm>
            <a:custGeom>
              <a:avLst/>
              <a:gdLst/>
              <a:ahLst/>
              <a:cxnLst/>
              <a:rect l="l" t="t" r="r" b="b"/>
              <a:pathLst>
                <a:path w="1862667" h="994834">
                  <a:moveTo>
                    <a:pt x="0" y="994834"/>
                  </a:moveTo>
                  <a:lnTo>
                    <a:pt x="1651000" y="994834"/>
                  </a:lnTo>
                  <a:lnTo>
                    <a:pt x="1651000" y="0"/>
                  </a:lnTo>
                  <a:lnTo>
                    <a:pt x="18626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Freeform 64"/>
            <p:cNvSpPr/>
            <p:nvPr/>
          </p:nvSpPr>
          <p:spPr>
            <a:xfrm>
              <a:off x="2857500" y="3793067"/>
              <a:ext cx="1862667" cy="1439333"/>
            </a:xfrm>
            <a:custGeom>
              <a:avLst/>
              <a:gdLst/>
              <a:ahLst/>
              <a:cxnLst/>
              <a:rect l="l" t="t" r="r" b="b"/>
              <a:pathLst>
                <a:path w="1862667" h="1439333">
                  <a:moveTo>
                    <a:pt x="0" y="0"/>
                  </a:moveTo>
                  <a:lnTo>
                    <a:pt x="1651000" y="0"/>
                  </a:lnTo>
                  <a:lnTo>
                    <a:pt x="1651000" y="1439333"/>
                  </a:lnTo>
                  <a:lnTo>
                    <a:pt x="1862667" y="1439333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5312833" y="2798233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5312833" y="5232400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8" name="Freeform 67"/>
            <p:cNvSpPr/>
            <p:nvPr/>
          </p:nvSpPr>
          <p:spPr>
            <a:xfrm>
              <a:off x="5016500" y="3327400"/>
              <a:ext cx="3450167" cy="381000"/>
            </a:xfrm>
            <a:custGeom>
              <a:avLst/>
              <a:gdLst/>
              <a:ahLst/>
              <a:cxnLst/>
              <a:rect l="l" t="t" r="r" b="b"/>
              <a:pathLst>
                <a:path w="3450167" h="381000">
                  <a:moveTo>
                    <a:pt x="3450167" y="381000"/>
                  </a:moveTo>
                  <a:lnTo>
                    <a:pt x="0" y="381000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Freeform 68"/>
            <p:cNvSpPr/>
            <p:nvPr/>
          </p:nvSpPr>
          <p:spPr>
            <a:xfrm>
              <a:off x="5016500" y="3877733"/>
              <a:ext cx="3450167" cy="1058334"/>
            </a:xfrm>
            <a:custGeom>
              <a:avLst/>
              <a:gdLst/>
              <a:ahLst/>
              <a:cxnLst/>
              <a:rect l="l" t="t" r="r" b="b"/>
              <a:pathLst>
                <a:path w="3450167" h="1058334">
                  <a:moveTo>
                    <a:pt x="3450167" y="0"/>
                  </a:moveTo>
                  <a:lnTo>
                    <a:pt x="0" y="0"/>
                  </a:lnTo>
                  <a:lnTo>
                    <a:pt x="0" y="105833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9059333" y="3793067"/>
              <a:ext cx="973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8958792" y="3841750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sp>
          <p:nvSpPr>
            <p:cNvPr id="72" name="Oval 71"/>
            <p:cNvSpPr/>
            <p:nvPr/>
          </p:nvSpPr>
          <p:spPr>
            <a:xfrm>
              <a:off x="3577167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3575844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7725833" y="3454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7724510" y="3481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6" name="Oval 75"/>
            <p:cNvSpPr/>
            <p:nvPr/>
          </p:nvSpPr>
          <p:spPr>
            <a:xfrm>
              <a:off x="9440333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439010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78" name="Oval 77"/>
            <p:cNvSpPr/>
            <p:nvPr/>
          </p:nvSpPr>
          <p:spPr>
            <a:xfrm>
              <a:off x="5884333" y="25442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883010" y="25717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5884333" y="4978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883010" y="5005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867833" y="3793067"/>
              <a:ext cx="1397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3" name="TextBox 82"/>
            <p:cNvSpPr txBox="1"/>
            <p:nvPr/>
          </p:nvSpPr>
          <p:spPr>
            <a:xfrm>
              <a:off x="769937" y="3577167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sp>
          <p:nvSpPr>
            <p:cNvPr id="84" name="Oval 83"/>
            <p:cNvSpPr/>
            <p:nvPr/>
          </p:nvSpPr>
          <p:spPr>
            <a:xfrm>
              <a:off x="1714500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1713177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2010833" y="6286500"/>
              <a:ext cx="2547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IGW → GWLBe (인그레스 라우팅)</a:t>
              </a:r>
            </a:p>
          </p:txBody>
        </p:sp>
        <p:sp>
          <p:nvSpPr>
            <p:cNvPr id="87" name="Oval 86"/>
            <p:cNvSpPr/>
            <p:nvPr/>
          </p:nvSpPr>
          <p:spPr>
            <a:xfrm>
              <a:off x="4068233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4066910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4364567" y="6286500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⇄ GWLB</a:t>
              </a:r>
            </a:p>
          </p:txBody>
        </p:sp>
        <p:sp>
          <p:nvSpPr>
            <p:cNvPr id="90" name="Oval 89"/>
            <p:cNvSpPr/>
            <p:nvPr/>
          </p:nvSpPr>
          <p:spPr>
            <a:xfrm>
              <a:off x="5560483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5559160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856817" y="6286500"/>
              <a:ext cx="37385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 ⇄ 방화벽 (검사 후 GWLB → GWLBe로 반환)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8923867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8922544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9220200" y="6286500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→ EC2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1714500" y="6477000"/>
              <a:ext cx="119776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 (같은 AZ): IGW 엣지 RT 10.0.1.0/24 (AZ1 App) · 10.0.2.0/24 (AZ2 App) → GWLBe · App RT 0.0.0.0/0 → GWLBe · GWLBe RT 0.0.0.0/0 → IGW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98056" y="1304203"/>
            <a:ext cx="11395888" cy="4935394"/>
            <a:chOff x="398056" y="1304203"/>
            <a:chExt cx="11395888" cy="4935394"/>
          </a:xfrm>
        </p:grpSpPr>
        <p:sp>
          <p:nvSpPr>
            <p:cNvPr id="4" name="Rectangle 3"/>
            <p:cNvSpPr/>
            <p:nvPr/>
          </p:nvSpPr>
          <p:spPr>
            <a:xfrm>
              <a:off x="398056" y="3210578"/>
              <a:ext cx="1821648" cy="1398009"/>
            </a:xfrm>
            <a:prstGeom prst="rect">
              <a:avLst/>
            </a:prstGeom>
            <a:noFill/>
            <a:ln w="21182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8056" y="3210578"/>
              <a:ext cx="254183" cy="254183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36967" y="3260356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54696" y="3570671"/>
              <a:ext cx="508367" cy="5083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19238" y="4128816"/>
              <a:ext cx="177928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3705" y="4318394"/>
              <a:ext cx="1350349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192.168.0.0/16</a:t>
              </a:r>
            </a:p>
          </p:txBody>
        </p:sp>
        <p:pic>
          <p:nvPicPr>
            <p:cNvPr id="10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79796" y="3570671"/>
              <a:ext cx="508367" cy="508367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352090" y="4128816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1605427" y="3824855"/>
              <a:ext cx="932005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3130527" y="3824855"/>
              <a:ext cx="529549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3113317" y="3608799"/>
              <a:ext cx="563969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5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02440" y="3570671"/>
              <a:ext cx="508367" cy="508367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3066981" y="4128816"/>
              <a:ext cx="177928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253170" y="3824855"/>
              <a:ext cx="1821648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8" name="Rectangle 17"/>
            <p:cNvSpPr/>
            <p:nvPr/>
          </p:nvSpPr>
          <p:spPr>
            <a:xfrm>
              <a:off x="4761537" y="1304203"/>
              <a:ext cx="7032407" cy="4935394"/>
            </a:xfrm>
            <a:prstGeom prst="rect">
              <a:avLst/>
            </a:prstGeom>
            <a:noFill/>
            <a:ln w="21182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761537" y="1304203"/>
              <a:ext cx="338911" cy="338911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5206358" y="1386283"/>
              <a:ext cx="1141839" cy="20652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973357" y="1727842"/>
              <a:ext cx="3050201" cy="4299936"/>
            </a:xfrm>
            <a:prstGeom prst="rect">
              <a:avLst/>
            </a:prstGeom>
            <a:noFill/>
            <a:ln w="21182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973357" y="1727842"/>
              <a:ext cx="254183" cy="254183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5312268" y="1777619"/>
              <a:ext cx="228897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4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117182" y="3570671"/>
              <a:ext cx="508367" cy="508367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5430754" y="4128816"/>
              <a:ext cx="188122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A</a:t>
              </a:r>
            </a:p>
          </p:txBody>
        </p:sp>
        <p:pic>
          <p:nvPicPr>
            <p:cNvPr id="26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1723" y="2151481"/>
              <a:ext cx="508367" cy="508367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5050141" y="2709625"/>
              <a:ext cx="1371531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Services VPC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191796" y="2899204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pic>
          <p:nvPicPr>
            <p:cNvPr id="29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640" y="2151481"/>
              <a:ext cx="508367" cy="508367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524934" y="2709625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62712" y="2899204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10.2.0.0/16</a:t>
              </a:r>
            </a:p>
          </p:txBody>
        </p:sp>
        <p:pic>
          <p:nvPicPr>
            <p:cNvPr id="32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1723" y="4989862"/>
              <a:ext cx="508367" cy="508367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5304987" y="5548006"/>
              <a:ext cx="861841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191796" y="5737585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10.3.0.0/16</a:t>
              </a:r>
            </a:p>
          </p:txBody>
        </p:sp>
        <p:pic>
          <p:nvPicPr>
            <p:cNvPr id="35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640" y="4989862"/>
              <a:ext cx="508367" cy="508367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524934" y="5548006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62712" y="5737585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10.4.0.0/16</a:t>
              </a:r>
            </a:p>
          </p:txBody>
        </p:sp>
        <p:sp>
          <p:nvSpPr>
            <p:cNvPr id="38" name="Freeform 37"/>
            <p:cNvSpPr/>
            <p:nvPr/>
          </p:nvSpPr>
          <p:spPr>
            <a:xfrm>
              <a:off x="5735907" y="3104669"/>
              <a:ext cx="529549" cy="423639"/>
            </a:xfrm>
            <a:custGeom>
              <a:avLst/>
              <a:gdLst/>
              <a:ahLst/>
              <a:cxnLst/>
              <a:rect l="l" t="t" r="r" b="b"/>
              <a:pathLst>
                <a:path w="529549" h="423639">
                  <a:moveTo>
                    <a:pt x="529549" y="423639"/>
                  </a:moveTo>
                  <a:lnTo>
                    <a:pt x="529549" y="211819"/>
                  </a:lnTo>
                  <a:lnTo>
                    <a:pt x="0" y="211819"/>
                  </a:lnTo>
                  <a:lnTo>
                    <a:pt x="0" y="0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6477275" y="3104669"/>
              <a:ext cx="529549" cy="423639"/>
            </a:xfrm>
            <a:custGeom>
              <a:avLst/>
              <a:gdLst/>
              <a:ahLst/>
              <a:cxnLst/>
              <a:rect l="l" t="t" r="r" b="b"/>
              <a:pathLst>
                <a:path w="529549" h="423639">
                  <a:moveTo>
                    <a:pt x="0" y="423639"/>
                  </a:moveTo>
                  <a:lnTo>
                    <a:pt x="0" y="211819"/>
                  </a:lnTo>
                  <a:lnTo>
                    <a:pt x="529549" y="211819"/>
                  </a:lnTo>
                  <a:lnTo>
                    <a:pt x="529549" y="0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5735907" y="4354404"/>
              <a:ext cx="529549" cy="593094"/>
            </a:xfrm>
            <a:custGeom>
              <a:avLst/>
              <a:gdLst/>
              <a:ahLst/>
              <a:cxnLst/>
              <a:rect l="l" t="t" r="r" b="b"/>
              <a:pathLst>
                <a:path w="529549" h="593094">
                  <a:moveTo>
                    <a:pt x="529549" y="0"/>
                  </a:moveTo>
                  <a:lnTo>
                    <a:pt x="529549" y="296547"/>
                  </a:lnTo>
                  <a:lnTo>
                    <a:pt x="0" y="296547"/>
                  </a:lnTo>
                  <a:lnTo>
                    <a:pt x="0" y="593094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Freeform 40"/>
            <p:cNvSpPr/>
            <p:nvPr/>
          </p:nvSpPr>
          <p:spPr>
            <a:xfrm>
              <a:off x="6477275" y="4354404"/>
              <a:ext cx="529549" cy="593094"/>
            </a:xfrm>
            <a:custGeom>
              <a:avLst/>
              <a:gdLst/>
              <a:ahLst/>
              <a:cxnLst/>
              <a:rect l="l" t="t" r="r" b="b"/>
              <a:pathLst>
                <a:path w="529549" h="593094">
                  <a:moveTo>
                    <a:pt x="0" y="0"/>
                  </a:moveTo>
                  <a:lnTo>
                    <a:pt x="0" y="296547"/>
                  </a:lnTo>
                  <a:lnTo>
                    <a:pt x="529549" y="296547"/>
                  </a:lnTo>
                  <a:lnTo>
                    <a:pt x="529549" y="593094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125019" y="1727842"/>
              <a:ext cx="2457106" cy="4299936"/>
            </a:xfrm>
            <a:prstGeom prst="rect">
              <a:avLst/>
            </a:prstGeom>
            <a:noFill/>
            <a:ln w="21182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125019" y="1727842"/>
              <a:ext cx="254183" cy="254183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9463930" y="1777619"/>
              <a:ext cx="228897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45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057025" y="3570671"/>
              <a:ext cx="508367" cy="508367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9370597" y="4128816"/>
              <a:ext cx="188122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B</a:t>
              </a:r>
            </a:p>
          </p:txBody>
        </p:sp>
        <p:pic>
          <p:nvPicPr>
            <p:cNvPr id="4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7025" y="2151481"/>
              <a:ext cx="508367" cy="508367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9931257" y="2709625"/>
              <a:ext cx="75990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723409" y="2899204"/>
              <a:ext cx="1175598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10.16.0.0/16</a:t>
              </a:r>
            </a:p>
          </p:txBody>
        </p:sp>
        <p:pic>
          <p:nvPicPr>
            <p:cNvPr id="50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7025" y="4989862"/>
              <a:ext cx="508367" cy="508367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9574473" y="5548006"/>
              <a:ext cx="147346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723409" y="5737585"/>
              <a:ext cx="1175598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10.17.0.0/16</a:t>
              </a:r>
            </a:p>
          </p:txBody>
        </p:sp>
        <p:cxnSp>
          <p:nvCxnSpPr>
            <p:cNvPr id="53" name="Connector 52"/>
            <p:cNvCxnSpPr/>
            <p:nvPr/>
          </p:nvCxnSpPr>
          <p:spPr>
            <a:xfrm flipV="1">
              <a:off x="10311208" y="3104669"/>
              <a:ext cx="0" cy="423639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4" name="Connector 53"/>
            <p:cNvCxnSpPr/>
            <p:nvPr/>
          </p:nvCxnSpPr>
          <p:spPr>
            <a:xfrm>
              <a:off x="10311208" y="4354404"/>
              <a:ext cx="0" cy="593094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6667913" y="3824855"/>
              <a:ext cx="1609828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6" name="Connector 55"/>
            <p:cNvCxnSpPr/>
            <p:nvPr/>
          </p:nvCxnSpPr>
          <p:spPr>
            <a:xfrm>
              <a:off x="8870835" y="3824855"/>
              <a:ext cx="1143826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pic>
          <p:nvPicPr>
            <p:cNvPr id="57" name="Amazon-VPC_Peering-Connection" descr="Amazon VPC_Peering Connection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320105" y="3570671"/>
              <a:ext cx="508367" cy="508367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7939492" y="4128816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8177127" y="4318394"/>
              <a:ext cx="7943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AWS 백본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398056" y="4820406"/>
              <a:ext cx="4194026" cy="1419191"/>
            </a:xfrm>
            <a:prstGeom prst="rect">
              <a:avLst/>
            </a:prstGeom>
            <a:solidFill>
              <a:srgbClr val="F8F9F9"/>
            </a:solidFill>
            <a:ln w="10591">
              <a:solidFill>
                <a:srgbClr val="D5DBDB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525147" y="4932671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Hub &amp; spoke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565181" y="4932671"/>
              <a:ext cx="333615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VPC·VPN은 리전 TGW에 attachment로 연결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1565181" y="5102126"/>
              <a:ext cx="3352044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CIDR·VPN(BGP) 경로는 TGW RT에 전파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525147" y="5335128"/>
              <a:ext cx="1215314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VPC 서브넷 RT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1565181" y="5335128"/>
              <a:ext cx="3010485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10.0.0.0/8 · 192.168.0.0/16 → TGW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525147" y="5568129"/>
              <a:ext cx="826096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A RT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1565181" y="5568129"/>
              <a:ext cx="2629209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10.16.0.0/13 → peering (정적)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25147" y="5801131"/>
              <a:ext cx="826096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B RT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565181" y="5801131"/>
              <a:ext cx="257360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10.0.0.0/13 · 192.168.0.0/16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565181" y="5970586"/>
              <a:ext cx="1493327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→ peering (정적)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Centralized inspection with AWS Network Firewall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79677" y="999067"/>
            <a:ext cx="14082448" cy="5643033"/>
            <a:chOff x="379677" y="999067"/>
            <a:chExt cx="14082448" cy="5643033"/>
          </a:xfrm>
        </p:grpSpPr>
        <p:sp>
          <p:nvSpPr>
            <p:cNvPr id="4" name="Rectangle 3"/>
            <p:cNvSpPr/>
            <p:nvPr/>
          </p:nvSpPr>
          <p:spPr>
            <a:xfrm>
              <a:off x="381000" y="999067"/>
              <a:ext cx="10625667" cy="52493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AWS-Cloud-logo_32" descr="AWS Cloud logo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1000" y="999067"/>
              <a:ext cx="338667" cy="338667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825500" y="10810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92667" y="1358900"/>
              <a:ext cx="10202333" cy="4804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" name="Region_32" descr="Region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2667" y="1358900"/>
              <a:ext cx="254000" cy="2540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931333" y="1408642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62000" y="1993900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1993900"/>
              <a:ext cx="254000" cy="254000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100667" y="2043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A 10.1.0.0/16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89000" y="2311400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2311400"/>
              <a:ext cx="254000" cy="254000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1227667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16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2607733"/>
              <a:ext cx="508000" cy="508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593453" y="31654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62000" y="4428067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4428067"/>
              <a:ext cx="254000" cy="254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100667" y="44778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B 10.2.0.0/16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89000" y="4745567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4745567"/>
              <a:ext cx="254000" cy="254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227667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24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5041900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593453" y="5599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26" name="AWS-Transit-Gateway" descr="AWS Transit Gateway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92500" y="3602567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519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</a:t>
              </a:r>
            </a:p>
          </p:txBody>
        </p:sp>
        <p:pic>
          <p:nvPicPr>
            <p:cNvPr id="28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92500" y="2607733"/>
              <a:ext cx="508000" cy="508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112161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RT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087688" y="3354917"/>
              <a:ext cx="1317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 · B 전파</a:t>
              </a:r>
            </a:p>
          </p:txBody>
        </p:sp>
        <p:pic>
          <p:nvPicPr>
            <p:cNvPr id="31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92500" y="5041900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3264958" y="55996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Spoke RT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825750" y="5789083"/>
              <a:ext cx="1841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0.0.0.0/0 → 검사 VPC</a:t>
              </a:r>
            </a:p>
          </p:txBody>
        </p:sp>
        <p:sp>
          <p:nvSpPr>
            <p:cNvPr id="34" name="Freeform 33"/>
            <p:cNvSpPr/>
            <p:nvPr/>
          </p:nvSpPr>
          <p:spPr>
            <a:xfrm>
              <a:off x="2921000" y="2861733"/>
              <a:ext cx="529167" cy="910167"/>
            </a:xfrm>
            <a:custGeom>
              <a:avLst/>
              <a:gdLst/>
              <a:ahLst/>
              <a:cxnLst/>
              <a:rect l="l" t="t" r="r" b="b"/>
              <a:pathLst>
                <a:path w="529167" h="910167">
                  <a:moveTo>
                    <a:pt x="0" y="0"/>
                  </a:moveTo>
                  <a:lnTo>
                    <a:pt x="254000" y="0"/>
                  </a:lnTo>
                  <a:lnTo>
                    <a:pt x="254000" y="910167"/>
                  </a:lnTo>
                  <a:lnTo>
                    <a:pt x="529167" y="9101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2921000" y="3941233"/>
              <a:ext cx="529167" cy="1354667"/>
            </a:xfrm>
            <a:custGeom>
              <a:avLst/>
              <a:gdLst/>
              <a:ahLst/>
              <a:cxnLst/>
              <a:rect l="l" t="t" r="r" b="b"/>
              <a:pathLst>
                <a:path w="529167" h="1354667">
                  <a:moveTo>
                    <a:pt x="0" y="1354667"/>
                  </a:moveTo>
                  <a:lnTo>
                    <a:pt x="254000" y="1354667"/>
                  </a:lnTo>
                  <a:lnTo>
                    <a:pt x="254000" y="0"/>
                  </a:lnTo>
                  <a:lnTo>
                    <a:pt x="529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0" y="1676400"/>
              <a:ext cx="5799667" cy="43603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7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72000" y="1676400"/>
              <a:ext cx="254000" cy="254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4910667" y="1726142"/>
              <a:ext cx="300037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Inspection VPC 100.64.0.0/16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741333" y="1993900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868333" y="20436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741333" y="4428067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868333" y="44778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868333" y="2311400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2311400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5207000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434667" y="2311400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2311400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6773333" y="23611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170333" y="2311400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23114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509000" y="23611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868333" y="4745567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47455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5207000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434667" y="4745567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4745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6773333" y="47953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170333" y="4745567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9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4745567"/>
              <a:ext cx="254000" cy="254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8509000" y="47953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pic>
          <p:nvPicPr>
            <p:cNvPr id="61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2607733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5157391" y="3165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3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26077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299068" y="3165475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6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26077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8276828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67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5041900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5157391" y="5599642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9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5041900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6299068" y="5599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71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5041900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8276828" y="5599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3" name="AWS-Network-Firewall" descr="AWS Network Firewall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6985000" y="3602567"/>
              <a:ext cx="508000" cy="508000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6146271" y="4160308"/>
              <a:ext cx="218545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Network Firewall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10117667" y="36025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6" name="Amazon-VPC_Internet-Gateway" descr="Amazon VPC_Internet Gateway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0117667" y="3602567"/>
              <a:ext cx="508000" cy="508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1014478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78" name="Freeform 77"/>
            <p:cNvSpPr/>
            <p:nvPr/>
          </p:nvSpPr>
          <p:spPr>
            <a:xfrm>
              <a:off x="4042833" y="2861733"/>
              <a:ext cx="1248834" cy="910167"/>
            </a:xfrm>
            <a:custGeom>
              <a:avLst/>
              <a:gdLst/>
              <a:ahLst/>
              <a:cxnLst/>
              <a:rect l="l" t="t" r="r" b="b"/>
              <a:pathLst>
                <a:path w="1248834" h="910167">
                  <a:moveTo>
                    <a:pt x="0" y="910167"/>
                  </a:moveTo>
                  <a:lnTo>
                    <a:pt x="359834" y="910167"/>
                  </a:lnTo>
                  <a:lnTo>
                    <a:pt x="359834" y="0"/>
                  </a:lnTo>
                  <a:lnTo>
                    <a:pt x="1248834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4042833" y="3941233"/>
              <a:ext cx="1248834" cy="1354667"/>
            </a:xfrm>
            <a:custGeom>
              <a:avLst/>
              <a:gdLst/>
              <a:ahLst/>
              <a:cxnLst/>
              <a:rect l="l" t="t" r="r" b="b"/>
              <a:pathLst>
                <a:path w="1248834" h="1354667">
                  <a:moveTo>
                    <a:pt x="0" y="0"/>
                  </a:moveTo>
                  <a:lnTo>
                    <a:pt x="359834" y="0"/>
                  </a:lnTo>
                  <a:lnTo>
                    <a:pt x="359834" y="1354667"/>
                  </a:lnTo>
                  <a:lnTo>
                    <a:pt x="1248834" y="1354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5884333" y="2861733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1" name="Connector 80"/>
            <p:cNvCxnSpPr/>
            <p:nvPr/>
          </p:nvCxnSpPr>
          <p:spPr>
            <a:xfrm>
              <a:off x="5884333" y="5295900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2" name="Connector 81"/>
            <p:cNvCxnSpPr/>
            <p:nvPr/>
          </p:nvCxnSpPr>
          <p:spPr>
            <a:xfrm>
              <a:off x="7535333" y="2861733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3" name="Connector 82"/>
            <p:cNvCxnSpPr/>
            <p:nvPr/>
          </p:nvCxnSpPr>
          <p:spPr>
            <a:xfrm>
              <a:off x="7535333" y="5295900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4" name="Freeform 83"/>
            <p:cNvSpPr/>
            <p:nvPr/>
          </p:nvSpPr>
          <p:spPr>
            <a:xfrm>
              <a:off x="9207500" y="2861733"/>
              <a:ext cx="867833" cy="994834"/>
            </a:xfrm>
            <a:custGeom>
              <a:avLst/>
              <a:gdLst/>
              <a:ahLst/>
              <a:cxnLst/>
              <a:rect l="l" t="t" r="r" b="b"/>
              <a:pathLst>
                <a:path w="867833" h="994834">
                  <a:moveTo>
                    <a:pt x="0" y="0"/>
                  </a:moveTo>
                  <a:lnTo>
                    <a:pt x="656167" y="0"/>
                  </a:lnTo>
                  <a:lnTo>
                    <a:pt x="656167" y="994834"/>
                  </a:lnTo>
                  <a:lnTo>
                    <a:pt x="867833" y="99483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Freeform 84"/>
            <p:cNvSpPr/>
            <p:nvPr/>
          </p:nvSpPr>
          <p:spPr>
            <a:xfrm>
              <a:off x="9207500" y="3856567"/>
              <a:ext cx="656167" cy="1439333"/>
            </a:xfrm>
            <a:custGeom>
              <a:avLst/>
              <a:gdLst/>
              <a:ahLst/>
              <a:cxnLst/>
              <a:rect l="l" t="t" r="r" b="b"/>
              <a:pathLst>
                <a:path w="656167" h="1439333">
                  <a:moveTo>
                    <a:pt x="0" y="1439333"/>
                  </a:moveTo>
                  <a:lnTo>
                    <a:pt x="656167" y="1439333"/>
                  </a:lnTo>
                  <a:lnTo>
                    <a:pt x="656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6" name="Internet" descr="Internet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303000" y="3602567"/>
              <a:ext cx="508000" cy="508000"/>
            </a:xfrm>
            <a:prstGeom prst="rect">
              <a:avLst/>
            </a:prstGeom>
          </p:spPr>
        </p:pic>
        <p:sp>
          <p:nvSpPr>
            <p:cNvPr id="87" name="TextBox 86"/>
            <p:cNvSpPr txBox="1"/>
            <p:nvPr/>
          </p:nvSpPr>
          <p:spPr>
            <a:xfrm>
              <a:off x="11075458" y="41603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10668000" y="3856567"/>
              <a:ext cx="59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9" name="Oval 88"/>
            <p:cNvSpPr/>
            <p:nvPr/>
          </p:nvSpPr>
          <p:spPr>
            <a:xfrm>
              <a:off x="32279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32265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91" name="Oval 90"/>
            <p:cNvSpPr/>
            <p:nvPr/>
          </p:nvSpPr>
          <p:spPr>
            <a:xfrm>
              <a:off x="41169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41155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6582833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6581510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5" name="Oval 94"/>
            <p:cNvSpPr/>
            <p:nvPr/>
          </p:nvSpPr>
          <p:spPr>
            <a:xfrm>
              <a:off x="7683500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7682177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7" name="Oval 96"/>
            <p:cNvSpPr/>
            <p:nvPr/>
          </p:nvSpPr>
          <p:spPr>
            <a:xfrm>
              <a:off x="9323917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9322594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99" name="Oval 98"/>
            <p:cNvSpPr/>
            <p:nvPr/>
          </p:nvSpPr>
          <p:spPr>
            <a:xfrm>
              <a:off x="381000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79677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677333" y="63076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→ TGW</a:t>
              </a:r>
            </a:p>
          </p:txBody>
        </p:sp>
        <p:sp>
          <p:nvSpPr>
            <p:cNvPr id="102" name="Oval 101"/>
            <p:cNvSpPr/>
            <p:nvPr/>
          </p:nvSpPr>
          <p:spPr>
            <a:xfrm>
              <a:off x="1598083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1596760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1894417" y="6307667"/>
              <a:ext cx="4111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Spoke RT 0.0.0.0/0 → 검사 VPC (appliance mode)</a:t>
              </a:r>
            </a:p>
          </p:txBody>
        </p:sp>
        <p:sp>
          <p:nvSpPr>
            <p:cNvPr id="105" name="Oval 104"/>
            <p:cNvSpPr/>
            <p:nvPr/>
          </p:nvSpPr>
          <p:spPr>
            <a:xfrm>
              <a:off x="5202767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5201444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5499100" y="6307667"/>
              <a:ext cx="3833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같은 AZ 방화벽에서 검사 (VPC 간은 TGW로 반환)</a:t>
              </a:r>
            </a:p>
          </p:txBody>
        </p:sp>
        <p:sp>
          <p:nvSpPr>
            <p:cNvPr id="108" name="Oval 107"/>
            <p:cNvSpPr/>
            <p:nvPr/>
          </p:nvSpPr>
          <p:spPr>
            <a:xfrm>
              <a:off x="8528050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8526727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8824383" y="6307667"/>
              <a:ext cx="2024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방화벽 → NAT (인터넷행)</a:t>
              </a:r>
            </a:p>
          </p:txBody>
        </p:sp>
        <p:sp>
          <p:nvSpPr>
            <p:cNvPr id="111" name="Oval 110"/>
            <p:cNvSpPr/>
            <p:nvPr/>
          </p:nvSpPr>
          <p:spPr>
            <a:xfrm>
              <a:off x="10462683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10461360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10759017" y="63076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NAT → IGW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1000" y="6477000"/>
              <a:ext cx="14081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라우팅(같은 AZ): App 0.0.0.0/0 → TGW · TGW 서브넷 0.0.0.0/0 → 방화벽 · 방화벽 서브넷 0.0.0.0/0 → NAT, 10.0.0.0/8 → TGW · 퍼블릭 0.0.0.0/0 → IGW, 10.0.0.0/8 → 방화벽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Internet-facing NLB</dc:title>
  <dc:subject/>
  <dc:creator/>
  <cp:keywords/>
  <dc:description>Generated by skill-aws-arch-diagram</dc:description>
  <cp:lastModifiedBy/>
  <cp:revision>1</cp:revision>
  <dcterms:created xsi:type="dcterms:W3CDTF">2026-10-23T08:41:32Z</dcterms:created>
  <dcterms:modified xsi:type="dcterms:W3CDTF">2026-10-23T08:41:32Z</dcterms:modified>
  <cp:category/>
</cp:coreProperties>
</file>