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58.svg" ContentType="image/svg+xml"/>
  <Override PartName="/ppt/media/image6.svg" ContentType="image/svg+xml"/>
  <Override PartName="/ppt/media/image60.svg" ContentType="image/svg+xml"/>
  <Override PartName="/ppt/media/image62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svg"/><Relationship Id="rId16" Type="http://schemas.openxmlformats.org/officeDocument/2006/relationships/image" Target="../media/image15.png"/><Relationship Id="rId17" Type="http://schemas.openxmlformats.org/officeDocument/2006/relationships/image" Target="../media/image16.svg"/><Relationship Id="rId18" Type="http://schemas.openxmlformats.org/officeDocument/2006/relationships/image" Target="../media/image17.png"/><Relationship Id="rId19" Type="http://schemas.openxmlformats.org/officeDocument/2006/relationships/image" Target="../media/image18.svg"/><Relationship Id="rId20" Type="http://schemas.openxmlformats.org/officeDocument/2006/relationships/image" Target="../media/image19.png"/><Relationship Id="rId21" Type="http://schemas.openxmlformats.org/officeDocument/2006/relationships/image" Target="../media/image20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23.png"/><Relationship Id="rId25" Type="http://schemas.openxmlformats.org/officeDocument/2006/relationships/image" Target="../media/image24.svg"/><Relationship Id="rId26" Type="http://schemas.openxmlformats.org/officeDocument/2006/relationships/image" Target="../media/image25.png"/><Relationship Id="rId27" Type="http://schemas.openxmlformats.org/officeDocument/2006/relationships/image" Target="../media/image26.svg"/><Relationship Id="rId28" Type="http://schemas.openxmlformats.org/officeDocument/2006/relationships/image" Target="../media/image27.png"/><Relationship Id="rId29" Type="http://schemas.openxmlformats.org/officeDocument/2006/relationships/image" Target="../media/image28.svg"/><Relationship Id="rId30" Type="http://schemas.openxmlformats.org/officeDocument/2006/relationships/image" Target="../media/image29.png"/><Relationship Id="rId31" Type="http://schemas.openxmlformats.org/officeDocument/2006/relationships/image" Target="../media/image30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31.png"/><Relationship Id="rId13" Type="http://schemas.openxmlformats.org/officeDocument/2006/relationships/image" Target="../media/image32.svg"/><Relationship Id="rId14" Type="http://schemas.openxmlformats.org/officeDocument/2006/relationships/image" Target="../media/image11.png"/><Relationship Id="rId15" Type="http://schemas.openxmlformats.org/officeDocument/2006/relationships/image" Target="../media/image12.svg"/><Relationship Id="rId16" Type="http://schemas.openxmlformats.org/officeDocument/2006/relationships/image" Target="../media/image13.png"/><Relationship Id="rId17" Type="http://schemas.openxmlformats.org/officeDocument/2006/relationships/image" Target="../media/image14.svg"/><Relationship Id="rId18" Type="http://schemas.openxmlformats.org/officeDocument/2006/relationships/image" Target="../media/image15.png"/><Relationship Id="rId19" Type="http://schemas.openxmlformats.org/officeDocument/2006/relationships/image" Target="../media/image16.svg"/><Relationship Id="rId20" Type="http://schemas.openxmlformats.org/officeDocument/2006/relationships/image" Target="../media/image17.png"/><Relationship Id="rId21" Type="http://schemas.openxmlformats.org/officeDocument/2006/relationships/image" Target="../media/image18.svg"/><Relationship Id="rId22" Type="http://schemas.openxmlformats.org/officeDocument/2006/relationships/image" Target="../media/image19.png"/><Relationship Id="rId23" Type="http://schemas.openxmlformats.org/officeDocument/2006/relationships/image" Target="../media/image20.svg"/><Relationship Id="rId24" Type="http://schemas.openxmlformats.org/officeDocument/2006/relationships/image" Target="../media/image21.png"/><Relationship Id="rId25" Type="http://schemas.openxmlformats.org/officeDocument/2006/relationships/image" Target="../media/image22.svg"/><Relationship Id="rId26" Type="http://schemas.openxmlformats.org/officeDocument/2006/relationships/image" Target="../media/image23.png"/><Relationship Id="rId27" Type="http://schemas.openxmlformats.org/officeDocument/2006/relationships/image" Target="../media/image24.svg"/><Relationship Id="rId28" Type="http://schemas.openxmlformats.org/officeDocument/2006/relationships/image" Target="../media/image25.png"/><Relationship Id="rId29" Type="http://schemas.openxmlformats.org/officeDocument/2006/relationships/image" Target="../media/image26.svg"/><Relationship Id="rId30" Type="http://schemas.openxmlformats.org/officeDocument/2006/relationships/image" Target="../media/image33.png"/><Relationship Id="rId31" Type="http://schemas.openxmlformats.org/officeDocument/2006/relationships/image" Target="../media/image34.svg"/><Relationship Id="rId32" Type="http://schemas.openxmlformats.org/officeDocument/2006/relationships/image" Target="../media/image35.png"/><Relationship Id="rId33" Type="http://schemas.openxmlformats.org/officeDocument/2006/relationships/image" Target="../media/image36.svg"/><Relationship Id="rId34" Type="http://schemas.openxmlformats.org/officeDocument/2006/relationships/image" Target="../media/image29.png"/><Relationship Id="rId35" Type="http://schemas.openxmlformats.org/officeDocument/2006/relationships/image" Target="../media/image30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17.png"/><Relationship Id="rId11" Type="http://schemas.openxmlformats.org/officeDocument/2006/relationships/image" Target="../media/image18.svg"/><Relationship Id="rId12" Type="http://schemas.openxmlformats.org/officeDocument/2006/relationships/image" Target="../media/image19.png"/><Relationship Id="rId13" Type="http://schemas.openxmlformats.org/officeDocument/2006/relationships/image" Target="../media/image20.svg"/><Relationship Id="rId14" Type="http://schemas.openxmlformats.org/officeDocument/2006/relationships/image" Target="../media/image37.png"/><Relationship Id="rId15" Type="http://schemas.openxmlformats.org/officeDocument/2006/relationships/image" Target="../media/image38.svg"/><Relationship Id="rId16" Type="http://schemas.openxmlformats.org/officeDocument/2006/relationships/image" Target="../media/image25.png"/><Relationship Id="rId17" Type="http://schemas.openxmlformats.org/officeDocument/2006/relationships/image" Target="../media/image26.svg"/><Relationship Id="rId18" Type="http://schemas.openxmlformats.org/officeDocument/2006/relationships/image" Target="../media/image29.png"/><Relationship Id="rId19" Type="http://schemas.openxmlformats.org/officeDocument/2006/relationships/image" Target="../media/image30.svg"/><Relationship Id="rId20" Type="http://schemas.openxmlformats.org/officeDocument/2006/relationships/image" Target="../media/image23.png"/><Relationship Id="rId21" Type="http://schemas.openxmlformats.org/officeDocument/2006/relationships/image" Target="../media/image24.svg"/><Relationship Id="rId22" Type="http://schemas.openxmlformats.org/officeDocument/2006/relationships/image" Target="../media/image39.png"/><Relationship Id="rId23" Type="http://schemas.openxmlformats.org/officeDocument/2006/relationships/image" Target="../media/image40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svg"/><Relationship Id="rId4" Type="http://schemas.openxmlformats.org/officeDocument/2006/relationships/image" Target="../media/image43.png"/><Relationship Id="rId5" Type="http://schemas.openxmlformats.org/officeDocument/2006/relationships/image" Target="../media/image44.svg"/><Relationship Id="rId6" Type="http://schemas.openxmlformats.org/officeDocument/2006/relationships/image" Target="../media/image45.png"/><Relationship Id="rId7" Type="http://schemas.openxmlformats.org/officeDocument/2006/relationships/image" Target="../media/image46.svg"/><Relationship Id="rId8" Type="http://schemas.openxmlformats.org/officeDocument/2006/relationships/image" Target="../media/image47.png"/><Relationship Id="rId9" Type="http://schemas.openxmlformats.org/officeDocument/2006/relationships/image" Target="../media/image48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7.png"/><Relationship Id="rId13" Type="http://schemas.openxmlformats.org/officeDocument/2006/relationships/image" Target="../media/image8.svg"/><Relationship Id="rId14" Type="http://schemas.openxmlformats.org/officeDocument/2006/relationships/image" Target="../media/image49.png"/><Relationship Id="rId15" Type="http://schemas.openxmlformats.org/officeDocument/2006/relationships/image" Target="../media/image50.svg"/><Relationship Id="rId16" Type="http://schemas.openxmlformats.org/officeDocument/2006/relationships/image" Target="../media/image51.png"/><Relationship Id="rId17" Type="http://schemas.openxmlformats.org/officeDocument/2006/relationships/image" Target="../media/image52.svg"/><Relationship Id="rId18" Type="http://schemas.openxmlformats.org/officeDocument/2006/relationships/image" Target="../media/image53.png"/><Relationship Id="rId19" Type="http://schemas.openxmlformats.org/officeDocument/2006/relationships/image" Target="../media/image54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15.png"/><Relationship Id="rId7" Type="http://schemas.openxmlformats.org/officeDocument/2006/relationships/image" Target="../media/image16.svg"/><Relationship Id="rId8" Type="http://schemas.openxmlformats.org/officeDocument/2006/relationships/image" Target="../media/image19.png"/><Relationship Id="rId9" Type="http://schemas.openxmlformats.org/officeDocument/2006/relationships/image" Target="../media/image20.svg"/><Relationship Id="rId10" Type="http://schemas.openxmlformats.org/officeDocument/2006/relationships/image" Target="../media/image25.png"/><Relationship Id="rId11" Type="http://schemas.openxmlformats.org/officeDocument/2006/relationships/image" Target="../media/image26.svg"/><Relationship Id="rId12" Type="http://schemas.openxmlformats.org/officeDocument/2006/relationships/image" Target="../media/image49.png"/><Relationship Id="rId13" Type="http://schemas.openxmlformats.org/officeDocument/2006/relationships/image" Target="../media/image50.svg"/><Relationship Id="rId14" Type="http://schemas.openxmlformats.org/officeDocument/2006/relationships/image" Target="../media/image55.png"/><Relationship Id="rId15" Type="http://schemas.openxmlformats.org/officeDocument/2006/relationships/image" Target="../media/image56.svg"/><Relationship Id="rId16" Type="http://schemas.openxmlformats.org/officeDocument/2006/relationships/image" Target="../media/image17.png"/><Relationship Id="rId17" Type="http://schemas.openxmlformats.org/officeDocument/2006/relationships/image" Target="../media/image18.svg"/><Relationship Id="rId18" Type="http://schemas.openxmlformats.org/officeDocument/2006/relationships/image" Target="../media/image57.png"/><Relationship Id="rId19" Type="http://schemas.openxmlformats.org/officeDocument/2006/relationships/image" Target="../media/image58.svg"/><Relationship Id="rId20" Type="http://schemas.openxmlformats.org/officeDocument/2006/relationships/image" Target="../media/image59.png"/><Relationship Id="rId21" Type="http://schemas.openxmlformats.org/officeDocument/2006/relationships/image" Target="../media/image60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61.png"/><Relationship Id="rId25" Type="http://schemas.openxmlformats.org/officeDocument/2006/relationships/image" Target="../media/image62.svg"/><Relationship Id="rId26" Type="http://schemas.openxmlformats.org/officeDocument/2006/relationships/image" Target="../media/image29.png"/><Relationship Id="rId27" Type="http://schemas.openxmlformats.org/officeDocument/2006/relationships/image" Target="../media/image30.svg"/><Relationship Id="rId28" Type="http://schemas.openxmlformats.org/officeDocument/2006/relationships/image" Target="../media/image45.png"/><Relationship Id="rId29" Type="http://schemas.openxmlformats.org/officeDocument/2006/relationships/image" Target="../media/image46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Internet-facing NLB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750755" y="956733"/>
            <a:ext cx="11531203" cy="5674784"/>
            <a:chOff x="750755" y="956733"/>
            <a:chExt cx="11531203" cy="5674784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500" y="3666067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750755" y="42238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137833" y="956733"/>
              <a:ext cx="9271000" cy="5439833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7833" y="956733"/>
              <a:ext cx="338667" cy="338667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582333" y="1038754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pic>
          <p:nvPicPr>
            <p:cNvPr id="9" name="Amazon-Route-53" descr="Amazon Route 53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455333" y="2671233"/>
              <a:ext cx="508000" cy="508000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2227792" y="3228975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165615" y="3418417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Alias → NLB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323167" y="1316567"/>
              <a:ext cx="7916333" cy="49953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Region_32" descr="Region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23167" y="1316567"/>
              <a:ext cx="254000" cy="254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3661833" y="1366308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5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160000" y="2671233"/>
              <a:ext cx="508000" cy="50800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10187120" y="3228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655969" y="3418417"/>
              <a:ext cx="1516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TLS 리스너 인증서</a:t>
              </a:r>
            </a:p>
          </p:txBody>
        </p:sp>
        <p:pic>
          <p:nvPicPr>
            <p:cNvPr id="18" name="Amazon-CloudWatch" descr="Amazon CloudWatch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160000" y="3666067"/>
              <a:ext cx="508000" cy="5080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9830594" y="4223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02031" y="4413250"/>
              <a:ext cx="1023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</a:t>
              </a:r>
            </a:p>
          </p:txBody>
        </p:sp>
        <p:pic>
          <p:nvPicPr>
            <p:cNvPr id="21" name="Amazon-Simple-Storage-Service" descr="Amazon Simple Storage Servic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160000" y="5105400"/>
              <a:ext cx="508000" cy="508000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10238052" y="5663142"/>
              <a:ext cx="35189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735344" y="5852583"/>
              <a:ext cx="1357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NLB 액세스 로그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661833" y="1634067"/>
              <a:ext cx="5926667" cy="4550833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5" name="Virtual-private-cloud-VPC_32" descr="Virtual private cloud VPC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3661833" y="1634067"/>
              <a:ext cx="254000" cy="254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4000500" y="1683808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10.0.0.0/16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788833" y="1951567"/>
              <a:ext cx="5672667" cy="1629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915833" y="2001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788833" y="4491567"/>
              <a:ext cx="5672667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915833" y="4541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915833" y="2269067"/>
              <a:ext cx="1693333" cy="1227667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2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915833" y="2269067"/>
              <a:ext cx="254000" cy="254000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4254500" y="23188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5863167" y="2269067"/>
              <a:ext cx="3471333" cy="1227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5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863167" y="2269067"/>
              <a:ext cx="254000" cy="254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201833" y="2318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3915833" y="4809067"/>
              <a:ext cx="1693333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8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915833" y="4809067"/>
              <a:ext cx="254000" cy="254000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4254500" y="48588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5863167" y="4809067"/>
              <a:ext cx="3471333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863167" y="4809067"/>
              <a:ext cx="254000" cy="254000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6201833" y="4858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43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508500" y="2671233"/>
              <a:ext cx="508000" cy="508000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4128161" y="32289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45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508500" y="5105400"/>
              <a:ext cx="508000" cy="508000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4128161" y="56631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7175500" y="2353733"/>
              <a:ext cx="2032000" cy="3577167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8" name="Auto-Scaling-group_32" descr="Auto Scaling group_32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7175500" y="2353733"/>
              <a:ext cx="254000" cy="254000"/>
            </a:xfrm>
            <a:prstGeom prst="rect">
              <a:avLst/>
            </a:prstGeom>
          </p:spPr>
        </p:pic>
        <p:sp>
          <p:nvSpPr>
            <p:cNvPr id="49" name="TextBox 48"/>
            <p:cNvSpPr txBox="1"/>
            <p:nvPr/>
          </p:nvSpPr>
          <p:spPr>
            <a:xfrm>
              <a:off x="7514167" y="2403475"/>
              <a:ext cx="198172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50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514167" y="2671233"/>
              <a:ext cx="508000" cy="508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7541286" y="3228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2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487833" y="2671233"/>
              <a:ext cx="508000" cy="508000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8514953" y="3228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4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514167" y="5105400"/>
              <a:ext cx="508000" cy="508000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7541286" y="5663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6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487833" y="5105400"/>
              <a:ext cx="508000" cy="508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8514953" y="5663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8" name="Elastic-Load-Balancing_Network-Load-Balancer" descr="Elastic Load Balancing_Network Load Balancer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4508500" y="3666067"/>
              <a:ext cx="508000" cy="5080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4535620" y="4223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NLB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3407833" y="3666067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61" name="Amazon-VPC_Internet-Gateway" descr="Amazon VPC_Internet Gateway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3407833" y="3666067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3434953" y="4223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63" name="Connector 62"/>
            <p:cNvCxnSpPr/>
            <p:nvPr/>
          </p:nvCxnSpPr>
          <p:spPr>
            <a:xfrm>
              <a:off x="1375833" y="3920067"/>
              <a:ext cx="1989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4" name="TextBox 63"/>
            <p:cNvSpPr txBox="1"/>
            <p:nvPr/>
          </p:nvSpPr>
          <p:spPr>
            <a:xfrm>
              <a:off x="1322917" y="3704167"/>
              <a:ext cx="825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TLS :443</a:t>
              </a:r>
            </a:p>
          </p:txBody>
        </p:sp>
        <p:cxnSp>
          <p:nvCxnSpPr>
            <p:cNvPr id="65" name="Connector 64"/>
            <p:cNvCxnSpPr/>
            <p:nvPr/>
          </p:nvCxnSpPr>
          <p:spPr>
            <a:xfrm>
              <a:off x="3958167" y="3920067"/>
              <a:ext cx="5080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6" name="Connector 65"/>
            <p:cNvCxnSpPr/>
            <p:nvPr/>
          </p:nvCxnSpPr>
          <p:spPr>
            <a:xfrm>
              <a:off x="5058833" y="3920067"/>
              <a:ext cx="2074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7" name="TextBox 66"/>
            <p:cNvSpPr txBox="1"/>
            <p:nvPr/>
          </p:nvSpPr>
          <p:spPr>
            <a:xfrm>
              <a:off x="5639594" y="3704167"/>
              <a:ext cx="9128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TCP :8080</a:t>
              </a:r>
            </a:p>
          </p:txBody>
        </p:sp>
        <p:sp>
          <p:nvSpPr>
            <p:cNvPr id="68" name="Freeform 67"/>
            <p:cNvSpPr/>
            <p:nvPr/>
          </p:nvSpPr>
          <p:spPr>
            <a:xfrm>
              <a:off x="1079500" y="2925233"/>
              <a:ext cx="1333500" cy="698500"/>
            </a:xfrm>
            <a:custGeom>
              <a:avLst/>
              <a:gdLst/>
              <a:ahLst/>
              <a:cxnLst/>
              <a:rect l="l" t="t" r="r" b="b"/>
              <a:pathLst>
                <a:path w="1333500" h="698500">
                  <a:moveTo>
                    <a:pt x="0" y="698500"/>
                  </a:moveTo>
                  <a:lnTo>
                    <a:pt x="0" y="0"/>
                  </a:lnTo>
                  <a:lnTo>
                    <a:pt x="133350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1338792" y="2719917"/>
              <a:ext cx="793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  <p:cxnSp>
          <p:nvCxnSpPr>
            <p:cNvPr id="70" name="Connector 69"/>
            <p:cNvCxnSpPr/>
            <p:nvPr/>
          </p:nvCxnSpPr>
          <p:spPr>
            <a:xfrm flipH="1">
              <a:off x="5058833" y="2925233"/>
              <a:ext cx="2074334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71" name="TextBox 70"/>
            <p:cNvSpPr txBox="1"/>
            <p:nvPr/>
          </p:nvSpPr>
          <p:spPr>
            <a:xfrm>
              <a:off x="6037792" y="2719917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72" name="Connector 71"/>
            <p:cNvCxnSpPr/>
            <p:nvPr/>
          </p:nvCxnSpPr>
          <p:spPr>
            <a:xfrm flipH="1">
              <a:off x="5058833" y="5359400"/>
              <a:ext cx="2074334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73" name="TextBox 72"/>
            <p:cNvSpPr txBox="1"/>
            <p:nvPr/>
          </p:nvSpPr>
          <p:spPr>
            <a:xfrm>
              <a:off x="6037792" y="5154083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2137833" y="6466417"/>
              <a:ext cx="10144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Internet-facing NLB · TLS 종료 · 라우팅: Public subnet 0.0.0.0/0 → IGW, App subnet 0.0.0.0/0 → NAT gateway (같은 AZ)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3-tier web app with ALB, AWS WAF and RDS Multi-AZ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27422" y="935567"/>
            <a:ext cx="11590735" cy="5643033"/>
            <a:chOff x="327422" y="935567"/>
            <a:chExt cx="11590735" cy="5643033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2167" y="3623733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327422" y="41603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778000" y="935567"/>
              <a:ext cx="10138833" cy="5418667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78000" y="935567"/>
              <a:ext cx="338667" cy="338667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222500" y="10175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pic>
          <p:nvPicPr>
            <p:cNvPr id="9" name="Amazon-Route-53" descr="Amazon Route 53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21417" y="1358900"/>
              <a:ext cx="508000" cy="508000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1793875" y="1895475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731698" y="2084917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alias → ALB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772833" y="1295400"/>
              <a:ext cx="9059333" cy="4974167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Region_32" descr="Region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772833" y="1295400"/>
              <a:ext cx="254000" cy="254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3111500" y="1345142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5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064750" y="2650067"/>
              <a:ext cx="508000" cy="50800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10091870" y="3186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017125" y="3376083"/>
              <a:ext cx="6032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인증서</a:t>
              </a:r>
            </a:p>
          </p:txBody>
        </p:sp>
        <p:pic>
          <p:nvPicPr>
            <p:cNvPr id="18" name="AWS-WAF" descr="AWS WAF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064750" y="5084233"/>
              <a:ext cx="508000" cy="5080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9888141" y="5620808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WAF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49656" y="5810250"/>
              <a:ext cx="73818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Web ACL</a:t>
              </a:r>
            </a:p>
          </p:txBody>
        </p:sp>
        <p:pic>
          <p:nvPicPr>
            <p:cNvPr id="21" name="Amazon-CloudWatch" descr="Amazon CloudWatch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1080750" y="2650067"/>
              <a:ext cx="508000" cy="508000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10751344" y="3186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822781" y="3376083"/>
              <a:ext cx="1023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</a:t>
              </a:r>
            </a:p>
          </p:txBody>
        </p:sp>
        <p:pic>
          <p:nvPicPr>
            <p:cNvPr id="24" name="Amazon-Simple-Storage-Service" descr="Amazon Simple Storage Service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1080750" y="5084233"/>
              <a:ext cx="508000" cy="508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11158802" y="5620808"/>
              <a:ext cx="35189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830719" y="5810250"/>
              <a:ext cx="1008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액세스 로그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111500" y="1612900"/>
              <a:ext cx="6815667" cy="4529667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8" name="Virtual-private-cloud-VPC_32" descr="Virtual private cloud VPC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111500" y="1612900"/>
              <a:ext cx="254000" cy="2540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3450167" y="1662642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10.0.0.0/16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217333" y="1930400"/>
              <a:ext cx="6604000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3344333" y="19801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17333" y="4449233"/>
              <a:ext cx="6604000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3344333" y="4498975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344333" y="2247900"/>
              <a:ext cx="1545167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5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344333" y="2247900"/>
              <a:ext cx="254000" cy="254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3683000" y="2297642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5016500" y="2247900"/>
              <a:ext cx="3302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8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016500" y="2247900"/>
              <a:ext cx="254000" cy="254000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5355167" y="2297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8445500" y="2247900"/>
              <a:ext cx="1270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445500" y="2247900"/>
              <a:ext cx="254000" cy="254000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8784167" y="2297642"/>
              <a:ext cx="106494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344333" y="4766733"/>
              <a:ext cx="1545167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4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344333" y="4766733"/>
              <a:ext cx="254000" cy="254000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3683000" y="4816475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016500" y="4766733"/>
              <a:ext cx="3302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7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016500" y="4766733"/>
              <a:ext cx="254000" cy="254000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5355167" y="4816475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445500" y="4766733"/>
              <a:ext cx="1270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445500" y="4766733"/>
              <a:ext cx="254000" cy="254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784167" y="4816475"/>
              <a:ext cx="106494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pic>
          <p:nvPicPr>
            <p:cNvPr id="52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862917" y="2650067"/>
              <a:ext cx="508000" cy="508000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3482578" y="31866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54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862917" y="5084233"/>
              <a:ext cx="508000" cy="508000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3482578" y="56208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6286500" y="2332567"/>
              <a:ext cx="1947333" cy="3556000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7" name="Auto-Scaling-group_32" descr="Auto Scaling group_3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6286500" y="2332567"/>
              <a:ext cx="254000" cy="254000"/>
            </a:xfrm>
            <a:prstGeom prst="rect">
              <a:avLst/>
            </a:prstGeom>
          </p:spPr>
        </p:pic>
        <p:sp>
          <p:nvSpPr>
            <p:cNvPr id="58" name="TextBox 57"/>
            <p:cNvSpPr txBox="1"/>
            <p:nvPr/>
          </p:nvSpPr>
          <p:spPr>
            <a:xfrm>
              <a:off x="6625167" y="2382308"/>
              <a:ext cx="198172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59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625167" y="2650067"/>
              <a:ext cx="508000" cy="508000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6652286" y="3186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1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641167" y="2650067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7668286" y="3186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3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625167" y="5084233"/>
              <a:ext cx="508000" cy="508000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6652286" y="5620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5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641167" y="5084233"/>
              <a:ext cx="508000" cy="508000"/>
            </a:xfrm>
            <a:prstGeom prst="rect">
              <a:avLst/>
            </a:prstGeom>
          </p:spPr>
        </p:pic>
        <p:sp>
          <p:nvSpPr>
            <p:cNvPr id="66" name="TextBox 65"/>
            <p:cNvSpPr txBox="1"/>
            <p:nvPr/>
          </p:nvSpPr>
          <p:spPr>
            <a:xfrm>
              <a:off x="7668286" y="5620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7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8826500" y="2650067"/>
              <a:ext cx="508000" cy="5080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8446161" y="31866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Primary</a:t>
              </a:r>
            </a:p>
          </p:txBody>
        </p:sp>
        <p:pic>
          <p:nvPicPr>
            <p:cNvPr id="69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8826500" y="5084233"/>
              <a:ext cx="508000" cy="508000"/>
            </a:xfrm>
            <a:prstGeom prst="rect">
              <a:avLst/>
            </a:prstGeom>
          </p:spPr>
        </p:pic>
        <p:sp>
          <p:nvSpPr>
            <p:cNvPr id="70" name="TextBox 69"/>
            <p:cNvSpPr txBox="1"/>
            <p:nvPr/>
          </p:nvSpPr>
          <p:spPr>
            <a:xfrm>
              <a:off x="8446161" y="56208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Standby</a:t>
              </a:r>
            </a:p>
          </p:txBody>
        </p:sp>
        <p:pic>
          <p:nvPicPr>
            <p:cNvPr id="71" name="Elastic-Load-Balancing_Application-Load-Balancer" descr="Elastic Load Balancing_Application Load Balancer"/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3862917" y="3623733"/>
              <a:ext cx="508000" cy="508000"/>
            </a:xfrm>
            <a:prstGeom prst="rect">
              <a:avLst/>
            </a:prstGeom>
          </p:spPr>
        </p:pic>
        <p:sp>
          <p:nvSpPr>
            <p:cNvPr id="72" name="TextBox 71"/>
            <p:cNvSpPr txBox="1"/>
            <p:nvPr/>
          </p:nvSpPr>
          <p:spPr>
            <a:xfrm>
              <a:off x="3890036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ALB</a:t>
              </a: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2857500" y="3623733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4" name="Amazon-VPC_Internet-Gateway" descr="Amazon VPC_Internet Gateway"/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2857500" y="3623733"/>
              <a:ext cx="508000" cy="508000"/>
            </a:xfrm>
            <a:prstGeom prst="rect">
              <a:avLst/>
            </a:prstGeom>
          </p:spPr>
        </p:pic>
        <p:sp>
          <p:nvSpPr>
            <p:cNvPr id="75" name="TextBox 74"/>
            <p:cNvSpPr txBox="1"/>
            <p:nvPr/>
          </p:nvSpPr>
          <p:spPr>
            <a:xfrm>
              <a:off x="2884620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76" name="Connector 75"/>
            <p:cNvCxnSpPr/>
            <p:nvPr/>
          </p:nvCxnSpPr>
          <p:spPr>
            <a:xfrm>
              <a:off x="952500" y="3877733"/>
              <a:ext cx="1862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77" name="TextBox 76"/>
            <p:cNvSpPr txBox="1"/>
            <p:nvPr/>
          </p:nvSpPr>
          <p:spPr>
            <a:xfrm>
              <a:off x="844021" y="3661833"/>
              <a:ext cx="1000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  <p:cxnSp>
          <p:nvCxnSpPr>
            <p:cNvPr id="78" name="Connector 77"/>
            <p:cNvCxnSpPr/>
            <p:nvPr/>
          </p:nvCxnSpPr>
          <p:spPr>
            <a:xfrm>
              <a:off x="3407833" y="3877733"/>
              <a:ext cx="4127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79" name="Connector 78"/>
            <p:cNvCxnSpPr/>
            <p:nvPr/>
          </p:nvCxnSpPr>
          <p:spPr>
            <a:xfrm>
              <a:off x="4413250" y="3877733"/>
              <a:ext cx="183091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0" name="TextBox 79"/>
            <p:cNvSpPr txBox="1"/>
            <p:nvPr/>
          </p:nvSpPr>
          <p:spPr>
            <a:xfrm>
              <a:off x="4921250" y="3661833"/>
              <a:ext cx="825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 :80</a:t>
              </a:r>
            </a:p>
          </p:txBody>
        </p:sp>
        <p:cxnSp>
          <p:nvCxnSpPr>
            <p:cNvPr id="81" name="Connector 80"/>
            <p:cNvCxnSpPr/>
            <p:nvPr/>
          </p:nvCxnSpPr>
          <p:spPr>
            <a:xfrm>
              <a:off x="8233833" y="2904067"/>
              <a:ext cx="550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2" name="TextBox 81"/>
            <p:cNvSpPr txBox="1"/>
            <p:nvPr/>
          </p:nvSpPr>
          <p:spPr>
            <a:xfrm>
              <a:off x="8441531" y="2698750"/>
              <a:ext cx="388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SQL</a:t>
              </a:r>
            </a:p>
          </p:txBody>
        </p:sp>
        <p:sp>
          <p:nvSpPr>
            <p:cNvPr id="83" name="Freeform 82"/>
            <p:cNvSpPr/>
            <p:nvPr/>
          </p:nvSpPr>
          <p:spPr>
            <a:xfrm>
              <a:off x="656167" y="1612900"/>
              <a:ext cx="1322916" cy="1968500"/>
            </a:xfrm>
            <a:custGeom>
              <a:avLst/>
              <a:gdLst/>
              <a:ahLst/>
              <a:cxnLst/>
              <a:rect l="l" t="t" r="r" b="b"/>
              <a:pathLst>
                <a:path w="1322916" h="1968500">
                  <a:moveTo>
                    <a:pt x="0" y="1968500"/>
                  </a:moveTo>
                  <a:lnTo>
                    <a:pt x="0" y="0"/>
                  </a:lnTo>
                  <a:lnTo>
                    <a:pt x="1322916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894292" y="1407583"/>
              <a:ext cx="793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  <p:cxnSp>
          <p:nvCxnSpPr>
            <p:cNvPr id="85" name="Connector 84"/>
            <p:cNvCxnSpPr/>
            <p:nvPr/>
          </p:nvCxnSpPr>
          <p:spPr>
            <a:xfrm flipH="1">
              <a:off x="4413250" y="2904067"/>
              <a:ext cx="1830917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6" name="TextBox 85"/>
            <p:cNvSpPr txBox="1"/>
            <p:nvPr/>
          </p:nvSpPr>
          <p:spPr>
            <a:xfrm>
              <a:off x="5169958" y="2698750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87" name="Connector 86"/>
            <p:cNvCxnSpPr/>
            <p:nvPr/>
          </p:nvCxnSpPr>
          <p:spPr>
            <a:xfrm flipH="1">
              <a:off x="4413250" y="5338233"/>
              <a:ext cx="1830917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8" name="TextBox 87"/>
            <p:cNvSpPr txBox="1"/>
            <p:nvPr/>
          </p:nvSpPr>
          <p:spPr>
            <a:xfrm>
              <a:off x="5169958" y="5132917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sp>
          <p:nvSpPr>
            <p:cNvPr id="89" name="Freeform 88"/>
            <p:cNvSpPr/>
            <p:nvPr/>
          </p:nvSpPr>
          <p:spPr>
            <a:xfrm>
              <a:off x="9376833" y="3031067"/>
              <a:ext cx="211667" cy="2180166"/>
            </a:xfrm>
            <a:custGeom>
              <a:avLst/>
              <a:gdLst/>
              <a:ahLst/>
              <a:cxnLst/>
              <a:rect l="l" t="t" r="r" b="b"/>
              <a:pathLst>
                <a:path w="211667" h="2180166">
                  <a:moveTo>
                    <a:pt x="0" y="0"/>
                  </a:moveTo>
                  <a:lnTo>
                    <a:pt x="211667" y="0"/>
                  </a:lnTo>
                  <a:lnTo>
                    <a:pt x="211667" y="2180166"/>
                  </a:lnTo>
                  <a:lnTo>
                    <a:pt x="0" y="2180166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8495771" y="3915833"/>
              <a:ext cx="1008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동기식 복제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1778000" y="6413500"/>
              <a:ext cx="7556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Internet-facing ALB · 두 AZ에 걸친 단일 관리형 로드 밸런서 · AWS WAF 연결 · RDS Multi-AZ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Distributed inspection with Gateway Load Balancer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242755" y="935567"/>
            <a:ext cx="13449433" cy="5706533"/>
            <a:chOff x="242755" y="935567"/>
            <a:chExt cx="13449433" cy="5706533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17500" y="3539067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242755" y="40968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714500" y="935567"/>
              <a:ext cx="10202333" cy="5291667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14500" y="935567"/>
              <a:ext cx="254000" cy="254000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053167" y="10175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1926167" y="1295400"/>
              <a:ext cx="9906000" cy="4847167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" name="Region_32" descr="Region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926167" y="1295400"/>
              <a:ext cx="254000" cy="2540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264833" y="1345142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561167" y="1612900"/>
              <a:ext cx="5101167" cy="4445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561167" y="1612900"/>
              <a:ext cx="254000" cy="254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2899833" y="1662642"/>
              <a:ext cx="289851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Application VPC 10.0.0.0/16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772833" y="1930400"/>
              <a:ext cx="4677833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899833" y="19801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772833" y="4364567"/>
              <a:ext cx="4677833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899833" y="4414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899833" y="2247900"/>
              <a:ext cx="2582333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0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899833" y="2247900"/>
              <a:ext cx="254000" cy="254000"/>
            </a:xfrm>
            <a:prstGeom prst="rect">
              <a:avLst/>
            </a:prstGeom>
          </p:spPr>
        </p:pic>
        <p:sp>
          <p:nvSpPr>
            <p:cNvPr id="21" name="TextBox 20"/>
            <p:cNvSpPr txBox="1"/>
            <p:nvPr/>
          </p:nvSpPr>
          <p:spPr>
            <a:xfrm>
              <a:off x="3238500" y="2297642"/>
              <a:ext cx="137054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5736167" y="2247900"/>
              <a:ext cx="1587500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3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736167" y="2247900"/>
              <a:ext cx="254000" cy="254000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6074833" y="2297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2899833" y="4682067"/>
              <a:ext cx="2582333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6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899833" y="4682067"/>
              <a:ext cx="254000" cy="254000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3238500" y="4731808"/>
              <a:ext cx="137054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5736167" y="4682067"/>
              <a:ext cx="15875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9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736167" y="4682067"/>
              <a:ext cx="254000" cy="254000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6074833" y="4731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31" name="Amazon-VPC_Endpoints" descr="Amazon VPC_Endpoints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762500" y="2544233"/>
              <a:ext cx="508000" cy="508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4687755" y="3101975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3" name="Amazon-VPC_Endpoints" descr="Amazon VPC_Endpoints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762500" y="4978400"/>
              <a:ext cx="508000" cy="508000"/>
            </a:xfrm>
            <a:prstGeom prst="rect">
              <a:avLst/>
            </a:prstGeom>
          </p:spPr>
        </p:pic>
        <p:sp>
          <p:nvSpPr>
            <p:cNvPr id="34" name="TextBox 33"/>
            <p:cNvSpPr txBox="1"/>
            <p:nvPr/>
          </p:nvSpPr>
          <p:spPr>
            <a:xfrm>
              <a:off x="4687755" y="5536142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5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275917" y="2544233"/>
              <a:ext cx="508000" cy="508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303036" y="3101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37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275917" y="4978400"/>
              <a:ext cx="508000" cy="508000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6303036" y="5536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2307167" y="3539067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0" name="Amazon-VPC_Internet-Gateway" descr="Amazon VPC_Internet Gateway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307167" y="3539067"/>
              <a:ext cx="508000" cy="508000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2334286" y="4096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8001000" y="1612900"/>
              <a:ext cx="3746500" cy="4445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3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001000" y="1612900"/>
              <a:ext cx="254000" cy="254000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8339667" y="1662642"/>
              <a:ext cx="259291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Security VPC 10.1.0.0/16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8212667" y="1930400"/>
              <a:ext cx="33231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8339667" y="19801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8212667" y="4364567"/>
              <a:ext cx="3323167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8339667" y="4414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339667" y="2247900"/>
              <a:ext cx="3111500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339667" y="2247900"/>
              <a:ext cx="254000" cy="254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678333" y="2297642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8339667" y="4682067"/>
              <a:ext cx="31115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3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339667" y="4682067"/>
              <a:ext cx="254000" cy="254000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8678333" y="4731808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10075333" y="2332567"/>
              <a:ext cx="1291167" cy="3471333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6" name="Auto-Scaling-group_32" descr="Auto Scaling group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075333" y="2332567"/>
              <a:ext cx="254000" cy="254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10414000" y="2382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</a:t>
              </a:r>
            </a:p>
          </p:txBody>
        </p:sp>
        <p:pic>
          <p:nvPicPr>
            <p:cNvPr id="58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773833" y="2544233"/>
              <a:ext cx="508000" cy="5080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10675938" y="3101975"/>
              <a:ext cx="70379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0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773833" y="4978400"/>
              <a:ext cx="508000" cy="508000"/>
            </a:xfrm>
            <a:prstGeom prst="rect">
              <a:avLst/>
            </a:prstGeom>
          </p:spPr>
        </p:pic>
        <p:sp>
          <p:nvSpPr>
            <p:cNvPr id="61" name="TextBox 60"/>
            <p:cNvSpPr txBox="1"/>
            <p:nvPr/>
          </p:nvSpPr>
          <p:spPr>
            <a:xfrm>
              <a:off x="10675938" y="5536142"/>
              <a:ext cx="70379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2" name="Elastic-Load-Balancing_Gateway-Load-Balancer" descr="Elastic Load Balancing_Gateway Load Balancer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509000" y="3539067"/>
              <a:ext cx="508000" cy="508000"/>
            </a:xfrm>
            <a:prstGeom prst="rect">
              <a:avLst/>
            </a:prstGeom>
          </p:spPr>
        </p:pic>
        <p:sp>
          <p:nvSpPr>
            <p:cNvPr id="63" name="TextBox 62"/>
            <p:cNvSpPr txBox="1"/>
            <p:nvPr/>
          </p:nvSpPr>
          <p:spPr>
            <a:xfrm>
              <a:off x="8485188" y="4096808"/>
              <a:ext cx="55562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</a:t>
              </a:r>
            </a:p>
          </p:txBody>
        </p:sp>
        <p:sp>
          <p:nvSpPr>
            <p:cNvPr id="64" name="Freeform 63"/>
            <p:cNvSpPr/>
            <p:nvPr/>
          </p:nvSpPr>
          <p:spPr>
            <a:xfrm>
              <a:off x="2857500" y="2798233"/>
              <a:ext cx="1862667" cy="994834"/>
            </a:xfrm>
            <a:custGeom>
              <a:avLst/>
              <a:gdLst/>
              <a:ahLst/>
              <a:cxnLst/>
              <a:rect l="l" t="t" r="r" b="b"/>
              <a:pathLst>
                <a:path w="1862667" h="994834">
                  <a:moveTo>
                    <a:pt x="0" y="994834"/>
                  </a:moveTo>
                  <a:lnTo>
                    <a:pt x="1651000" y="994834"/>
                  </a:lnTo>
                  <a:lnTo>
                    <a:pt x="1651000" y="0"/>
                  </a:lnTo>
                  <a:lnTo>
                    <a:pt x="18626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Freeform 64"/>
            <p:cNvSpPr/>
            <p:nvPr/>
          </p:nvSpPr>
          <p:spPr>
            <a:xfrm>
              <a:off x="2857500" y="3793067"/>
              <a:ext cx="1862667" cy="1439333"/>
            </a:xfrm>
            <a:custGeom>
              <a:avLst/>
              <a:gdLst/>
              <a:ahLst/>
              <a:cxnLst/>
              <a:rect l="l" t="t" r="r" b="b"/>
              <a:pathLst>
                <a:path w="1862667" h="1439333">
                  <a:moveTo>
                    <a:pt x="0" y="0"/>
                  </a:moveTo>
                  <a:lnTo>
                    <a:pt x="1651000" y="0"/>
                  </a:lnTo>
                  <a:lnTo>
                    <a:pt x="1651000" y="1439333"/>
                  </a:lnTo>
                  <a:lnTo>
                    <a:pt x="1862667" y="1439333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6" name="Connector 65"/>
            <p:cNvCxnSpPr/>
            <p:nvPr/>
          </p:nvCxnSpPr>
          <p:spPr>
            <a:xfrm>
              <a:off x="5312833" y="2798233"/>
              <a:ext cx="9207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7" name="Connector 66"/>
            <p:cNvCxnSpPr/>
            <p:nvPr/>
          </p:nvCxnSpPr>
          <p:spPr>
            <a:xfrm>
              <a:off x="5312833" y="5232400"/>
              <a:ext cx="9207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8" name="Freeform 67"/>
            <p:cNvSpPr/>
            <p:nvPr/>
          </p:nvSpPr>
          <p:spPr>
            <a:xfrm>
              <a:off x="5016500" y="3327400"/>
              <a:ext cx="3450167" cy="381000"/>
            </a:xfrm>
            <a:custGeom>
              <a:avLst/>
              <a:gdLst/>
              <a:ahLst/>
              <a:cxnLst/>
              <a:rect l="l" t="t" r="r" b="b"/>
              <a:pathLst>
                <a:path w="3450167" h="381000">
                  <a:moveTo>
                    <a:pt x="3450167" y="381000"/>
                  </a:moveTo>
                  <a:lnTo>
                    <a:pt x="0" y="381000"/>
                  </a:ln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Freeform 68"/>
            <p:cNvSpPr/>
            <p:nvPr/>
          </p:nvSpPr>
          <p:spPr>
            <a:xfrm>
              <a:off x="5016500" y="3877733"/>
              <a:ext cx="3450167" cy="1058334"/>
            </a:xfrm>
            <a:custGeom>
              <a:avLst/>
              <a:gdLst/>
              <a:ahLst/>
              <a:cxnLst/>
              <a:rect l="l" t="t" r="r" b="b"/>
              <a:pathLst>
                <a:path w="3450167" h="1058334">
                  <a:moveTo>
                    <a:pt x="3450167" y="0"/>
                  </a:moveTo>
                  <a:lnTo>
                    <a:pt x="0" y="0"/>
                  </a:lnTo>
                  <a:lnTo>
                    <a:pt x="0" y="1058334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0" name="Connector 69"/>
            <p:cNvCxnSpPr/>
            <p:nvPr/>
          </p:nvCxnSpPr>
          <p:spPr>
            <a:xfrm>
              <a:off x="9059333" y="3793067"/>
              <a:ext cx="973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sp>
          <p:nvSpPr>
            <p:cNvPr id="71" name="TextBox 70"/>
            <p:cNvSpPr txBox="1"/>
            <p:nvPr/>
          </p:nvSpPr>
          <p:spPr>
            <a:xfrm>
              <a:off x="8958792" y="3841750"/>
              <a:ext cx="1174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GENEVE :6081</a:t>
              </a:r>
            </a:p>
          </p:txBody>
        </p:sp>
        <p:sp>
          <p:nvSpPr>
            <p:cNvPr id="72" name="Oval 71"/>
            <p:cNvSpPr/>
            <p:nvPr/>
          </p:nvSpPr>
          <p:spPr>
            <a:xfrm>
              <a:off x="3577167" y="3539067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3575844" y="3566583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74" name="Oval 73"/>
            <p:cNvSpPr/>
            <p:nvPr/>
          </p:nvSpPr>
          <p:spPr>
            <a:xfrm>
              <a:off x="7725833" y="34544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7724510" y="34819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76" name="Oval 75"/>
            <p:cNvSpPr/>
            <p:nvPr/>
          </p:nvSpPr>
          <p:spPr>
            <a:xfrm>
              <a:off x="9440333" y="3539067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9439010" y="3566583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78" name="Oval 77"/>
            <p:cNvSpPr/>
            <p:nvPr/>
          </p:nvSpPr>
          <p:spPr>
            <a:xfrm>
              <a:off x="5884333" y="25442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5883010" y="25717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80" name="Oval 79"/>
            <p:cNvSpPr/>
            <p:nvPr/>
          </p:nvSpPr>
          <p:spPr>
            <a:xfrm>
              <a:off x="5884333" y="49784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5883010" y="50059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cxnSp>
          <p:nvCxnSpPr>
            <p:cNvPr id="82" name="Connector 81"/>
            <p:cNvCxnSpPr/>
            <p:nvPr/>
          </p:nvCxnSpPr>
          <p:spPr>
            <a:xfrm>
              <a:off x="867833" y="3793067"/>
              <a:ext cx="13970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3" name="TextBox 82"/>
            <p:cNvSpPr txBox="1"/>
            <p:nvPr/>
          </p:nvSpPr>
          <p:spPr>
            <a:xfrm>
              <a:off x="769937" y="3577167"/>
              <a:ext cx="1000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  <p:sp>
          <p:nvSpPr>
            <p:cNvPr id="84" name="Oval 83"/>
            <p:cNvSpPr/>
            <p:nvPr/>
          </p:nvSpPr>
          <p:spPr>
            <a:xfrm>
              <a:off x="1714500" y="625898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1713177" y="628650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2010833" y="6286500"/>
              <a:ext cx="2547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IGW → GWLBe (인그레스 라우팅)</a:t>
              </a:r>
            </a:p>
          </p:txBody>
        </p:sp>
        <p:sp>
          <p:nvSpPr>
            <p:cNvPr id="87" name="Oval 86"/>
            <p:cNvSpPr/>
            <p:nvPr/>
          </p:nvSpPr>
          <p:spPr>
            <a:xfrm>
              <a:off x="4068233" y="625898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4066910" y="628650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4364567" y="6286500"/>
              <a:ext cx="1174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GWLBe ⇄ GWLB</a:t>
              </a:r>
            </a:p>
          </p:txBody>
        </p:sp>
        <p:sp>
          <p:nvSpPr>
            <p:cNvPr id="90" name="Oval 89"/>
            <p:cNvSpPr/>
            <p:nvPr/>
          </p:nvSpPr>
          <p:spPr>
            <a:xfrm>
              <a:off x="5560483" y="625898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5559160" y="628650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856817" y="6286500"/>
              <a:ext cx="37385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GWLB ⇄ 방화벽 (검사 후 GWLB → GWLBe로 반환)</a:t>
              </a:r>
            </a:p>
          </p:txBody>
        </p:sp>
        <p:sp>
          <p:nvSpPr>
            <p:cNvPr id="93" name="Oval 92"/>
            <p:cNvSpPr/>
            <p:nvPr/>
          </p:nvSpPr>
          <p:spPr>
            <a:xfrm>
              <a:off x="8923867" y="625898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8922544" y="628650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9220200" y="6286500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GWLBe → EC2</a:t>
              </a:r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1714500" y="6477000"/>
              <a:ext cx="1197768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라우팅 (같은 AZ): IGW 엣지 RT 10.0.1.0/24 (AZ1 App) · 10.0.2.0/24 (AZ2 App) → GWLBe · App RT 0.0.0.0/0 → GWLBe · GWLBe RT 0.0.0.0/0 → IGW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Transit Gateway hub and spoke across two Regions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402167" y="1083733"/>
            <a:ext cx="13337646" cy="5526617"/>
            <a:chOff x="402167" y="1083733"/>
            <a:chExt cx="13337646" cy="5526617"/>
          </a:xfrm>
        </p:grpSpPr>
        <p:sp>
          <p:nvSpPr>
            <p:cNvPr id="4" name="Rectangle 3"/>
            <p:cNvSpPr/>
            <p:nvPr/>
          </p:nvSpPr>
          <p:spPr>
            <a:xfrm>
              <a:off x="402167" y="2988733"/>
              <a:ext cx="1820333" cy="1397000"/>
            </a:xfrm>
            <a:prstGeom prst="rect">
              <a:avLst/>
            </a:prstGeom>
            <a:noFill/>
            <a:ln w="21167">
              <a:solidFill>
                <a:srgbClr val="7D8998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Corporate-data-center_32" descr="Corporate data center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2167" y="2988733"/>
              <a:ext cx="254000" cy="254000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740833" y="30384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D8998"/>
                  </a:solidFill>
                  <a:latin typeface="Arial"/>
                  <a:ea typeface="Malgun Gothic"/>
                  <a:cs typeface="Malgun Gothic"/>
                </a:rPr>
                <a:t>On-premises</a:t>
              </a:r>
            </a:p>
          </p:txBody>
        </p:sp>
        <p:pic>
          <p:nvPicPr>
            <p:cNvPr id="7" name="Amazon-VPC_Customer-Gateway" descr="Amazon VPC_Customer Gateway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58333" y="3348567"/>
              <a:ext cx="508000" cy="508000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423333" y="3906308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Customer gateway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37646" y="4095750"/>
              <a:ext cx="134937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192.168.0.0/16</a:t>
              </a:r>
            </a:p>
          </p:txBody>
        </p:sp>
        <p:pic>
          <p:nvPicPr>
            <p:cNvPr id="10" name="Internet" descr="Internet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582333" y="3348567"/>
              <a:ext cx="508000" cy="5080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354792" y="3906308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1608667" y="3602567"/>
              <a:ext cx="931333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3132667" y="3602567"/>
              <a:ext cx="529166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4" name="TextBox 13"/>
            <p:cNvSpPr txBox="1"/>
            <p:nvPr/>
          </p:nvSpPr>
          <p:spPr>
            <a:xfrm>
              <a:off x="3115469" y="3386667"/>
              <a:ext cx="5635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IPsec</a:t>
              </a:r>
            </a:p>
          </p:txBody>
        </p:sp>
        <p:pic>
          <p:nvPicPr>
            <p:cNvPr id="15" name="AWS-Site-to-Site-VPN" descr="AWS Site to Site VPN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704167" y="3348567"/>
              <a:ext cx="508000" cy="50800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3069167" y="3906308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Site-to-Site VPN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4254500" y="3602567"/>
              <a:ext cx="1820333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8" name="Rectangle 17"/>
            <p:cNvSpPr/>
            <p:nvPr/>
          </p:nvSpPr>
          <p:spPr>
            <a:xfrm>
              <a:off x="4762500" y="1083733"/>
              <a:ext cx="7027333" cy="4931833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9" name="AWS-Cloud-logo_32" descr="AWS Cloud logo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762500" y="1083733"/>
              <a:ext cx="338667" cy="338667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5207000" y="1165754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974167" y="1507067"/>
              <a:ext cx="3048000" cy="42968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2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974167" y="1507067"/>
              <a:ext cx="254000" cy="254000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5312833" y="1556808"/>
              <a:ext cx="228732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pic>
          <p:nvPicPr>
            <p:cNvPr id="24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117167" y="3348567"/>
              <a:ext cx="508000" cy="508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5431234" y="3906308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 A</a:t>
              </a:r>
            </a:p>
          </p:txBody>
        </p:sp>
        <p:pic>
          <p:nvPicPr>
            <p:cNvPr id="26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482167" y="1930400"/>
              <a:ext cx="508000" cy="508000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5050896" y="2488142"/>
              <a:ext cx="137054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Services VPC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192448" y="2677583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10.1.0.0/16</a:t>
              </a:r>
            </a:p>
          </p:txBody>
        </p:sp>
        <p:pic>
          <p:nvPicPr>
            <p:cNvPr id="29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752167" y="1930400"/>
              <a:ext cx="508000" cy="508000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6524625" y="2488142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Prod VPC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462448" y="2677583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10.2.0.0/16</a:t>
              </a:r>
            </a:p>
          </p:txBody>
        </p:sp>
        <p:pic>
          <p:nvPicPr>
            <p:cNvPr id="32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482167" y="4766733"/>
              <a:ext cx="508000" cy="508000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5305557" y="5324475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Dev VPC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192448" y="5513917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10.3.0.0/16</a:t>
              </a:r>
            </a:p>
          </p:txBody>
        </p:sp>
        <p:pic>
          <p:nvPicPr>
            <p:cNvPr id="35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752167" y="4766733"/>
              <a:ext cx="508000" cy="508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524625" y="5324475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Test VPC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462448" y="5513917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10.4.0.0/16</a:t>
              </a:r>
            </a:p>
          </p:txBody>
        </p:sp>
        <p:sp>
          <p:nvSpPr>
            <p:cNvPr id="38" name="Freeform 37"/>
            <p:cNvSpPr/>
            <p:nvPr/>
          </p:nvSpPr>
          <p:spPr>
            <a:xfrm>
              <a:off x="5736167" y="2882900"/>
              <a:ext cx="529166" cy="423333"/>
            </a:xfrm>
            <a:custGeom>
              <a:avLst/>
              <a:gdLst/>
              <a:ahLst/>
              <a:cxnLst/>
              <a:rect l="l" t="t" r="r" b="b"/>
              <a:pathLst>
                <a:path w="529166" h="423333">
                  <a:moveTo>
                    <a:pt x="529166" y="423333"/>
                  </a:moveTo>
                  <a:lnTo>
                    <a:pt x="529166" y="211667"/>
                  </a:lnTo>
                  <a:lnTo>
                    <a:pt x="0" y="211667"/>
                  </a:ln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Freeform 38"/>
            <p:cNvSpPr/>
            <p:nvPr/>
          </p:nvSpPr>
          <p:spPr>
            <a:xfrm>
              <a:off x="6477000" y="2882900"/>
              <a:ext cx="529167" cy="423333"/>
            </a:xfrm>
            <a:custGeom>
              <a:avLst/>
              <a:gdLst/>
              <a:ahLst/>
              <a:cxnLst/>
              <a:rect l="l" t="t" r="r" b="b"/>
              <a:pathLst>
                <a:path w="529167" h="423333">
                  <a:moveTo>
                    <a:pt x="0" y="423333"/>
                  </a:moveTo>
                  <a:lnTo>
                    <a:pt x="0" y="211667"/>
                  </a:lnTo>
                  <a:lnTo>
                    <a:pt x="529167" y="211667"/>
                  </a:lnTo>
                  <a:lnTo>
                    <a:pt x="5291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Freeform 39"/>
            <p:cNvSpPr/>
            <p:nvPr/>
          </p:nvSpPr>
          <p:spPr>
            <a:xfrm>
              <a:off x="5736167" y="4131733"/>
              <a:ext cx="529166" cy="592667"/>
            </a:xfrm>
            <a:custGeom>
              <a:avLst/>
              <a:gdLst/>
              <a:ahLst/>
              <a:cxnLst/>
              <a:rect l="l" t="t" r="r" b="b"/>
              <a:pathLst>
                <a:path w="529166" h="592667">
                  <a:moveTo>
                    <a:pt x="529166" y="0"/>
                  </a:moveTo>
                  <a:lnTo>
                    <a:pt x="529166" y="296334"/>
                  </a:lnTo>
                  <a:lnTo>
                    <a:pt x="0" y="296334"/>
                  </a:lnTo>
                  <a:lnTo>
                    <a:pt x="0" y="5926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Freeform 40"/>
            <p:cNvSpPr/>
            <p:nvPr/>
          </p:nvSpPr>
          <p:spPr>
            <a:xfrm>
              <a:off x="6477000" y="4131733"/>
              <a:ext cx="529167" cy="592667"/>
            </a:xfrm>
            <a:custGeom>
              <a:avLst/>
              <a:gdLst/>
              <a:ahLst/>
              <a:cxnLst/>
              <a:rect l="l" t="t" r="r" b="b"/>
              <a:pathLst>
                <a:path w="529167" h="592667">
                  <a:moveTo>
                    <a:pt x="0" y="0"/>
                  </a:moveTo>
                  <a:lnTo>
                    <a:pt x="0" y="296334"/>
                  </a:lnTo>
                  <a:lnTo>
                    <a:pt x="529167" y="296334"/>
                  </a:lnTo>
                  <a:lnTo>
                    <a:pt x="529167" y="5926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9122833" y="1507067"/>
              <a:ext cx="2455333" cy="42968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3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122833" y="1507067"/>
              <a:ext cx="254000" cy="254000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9461500" y="1556808"/>
              <a:ext cx="228732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ap-northeast-1</a:t>
              </a:r>
            </a:p>
          </p:txBody>
        </p:sp>
        <p:pic>
          <p:nvPicPr>
            <p:cNvPr id="45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054167" y="3348567"/>
              <a:ext cx="508000" cy="508000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9368234" y="3906308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 B</a:t>
              </a:r>
            </a:p>
          </p:txBody>
        </p:sp>
        <p:pic>
          <p:nvPicPr>
            <p:cNvPr id="47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054167" y="1930400"/>
              <a:ext cx="508000" cy="508000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9928490" y="2488142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DR VPC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9720792" y="2677583"/>
              <a:ext cx="1174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10.16.0.0/16</a:t>
              </a:r>
            </a:p>
          </p:txBody>
        </p:sp>
        <p:pic>
          <p:nvPicPr>
            <p:cNvPr id="50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054167" y="4766733"/>
              <a:ext cx="508000" cy="508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9571964" y="5324475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Analytics VPC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720792" y="5513917"/>
              <a:ext cx="1174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10.17.0.0/16</a:t>
              </a:r>
            </a:p>
          </p:txBody>
        </p:sp>
        <p:cxnSp>
          <p:nvCxnSpPr>
            <p:cNvPr id="53" name="Connector 52"/>
            <p:cNvCxnSpPr/>
            <p:nvPr/>
          </p:nvCxnSpPr>
          <p:spPr>
            <a:xfrm flipV="1">
              <a:off x="10308167" y="2882900"/>
              <a:ext cx="0" cy="423333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4" name="Connector 53"/>
            <p:cNvCxnSpPr/>
            <p:nvPr/>
          </p:nvCxnSpPr>
          <p:spPr>
            <a:xfrm>
              <a:off x="10308167" y="4131733"/>
              <a:ext cx="0" cy="592667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5" name="Connector 54"/>
            <p:cNvCxnSpPr/>
            <p:nvPr/>
          </p:nvCxnSpPr>
          <p:spPr>
            <a:xfrm>
              <a:off x="6667500" y="3602567"/>
              <a:ext cx="1608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6" name="Connector 55"/>
            <p:cNvCxnSpPr/>
            <p:nvPr/>
          </p:nvCxnSpPr>
          <p:spPr>
            <a:xfrm>
              <a:off x="8868833" y="3602567"/>
              <a:ext cx="11430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pic>
          <p:nvPicPr>
            <p:cNvPr id="57" name="Amazon-VPC_Peering-Connection" descr="Amazon VPC_Peering Connection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318500" y="3348567"/>
              <a:ext cx="508000" cy="508000"/>
            </a:xfrm>
            <a:prstGeom prst="rect">
              <a:avLst/>
            </a:prstGeom>
          </p:spPr>
        </p:pic>
        <p:sp>
          <p:nvSpPr>
            <p:cNvPr id="58" name="TextBox 57"/>
            <p:cNvSpPr txBox="1"/>
            <p:nvPr/>
          </p:nvSpPr>
          <p:spPr>
            <a:xfrm>
              <a:off x="7938161" y="39063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peering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8175625" y="4095750"/>
              <a:ext cx="793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AWS 백본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4762500" y="6106583"/>
              <a:ext cx="8977313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Hub &amp; spoke: VPC·VPN은 리전 TGW에 attachment로 연결 · VPC CIDR과 VPN(BGP) 경로는 TGW 라우팅 테이블에 전파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4762500" y="6275917"/>
              <a:ext cx="45720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라우팅: VPC 서브넷 10.0.0.0/8 · 192.168.0.0/16 → TGW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4762500" y="6445250"/>
              <a:ext cx="765968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TGW RT: A 10.16.0.0/13 → peering · B 10.0.0.0/13 · 192.168.0.0/16 → peering (정적 경로)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Centralized inspection with AWS Network Firewall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79677" y="999067"/>
            <a:ext cx="14082448" cy="5643033"/>
            <a:chOff x="379677" y="999067"/>
            <a:chExt cx="14082448" cy="5643033"/>
          </a:xfrm>
        </p:grpSpPr>
        <p:sp>
          <p:nvSpPr>
            <p:cNvPr id="4" name="Rectangle 3"/>
            <p:cNvSpPr/>
            <p:nvPr/>
          </p:nvSpPr>
          <p:spPr>
            <a:xfrm>
              <a:off x="381000" y="999067"/>
              <a:ext cx="10625667" cy="5249333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AWS-Cloud-logo_32" descr="AWS Cloud logo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1000" y="999067"/>
              <a:ext cx="338667" cy="338667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825500" y="10810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592667" y="1358900"/>
              <a:ext cx="10202333" cy="48048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8" name="Region_32" descr="Region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92667" y="1358900"/>
              <a:ext cx="254000" cy="254000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931333" y="1408642"/>
              <a:ext cx="228732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762000" y="1993900"/>
              <a:ext cx="2116667" cy="1524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62000" y="1993900"/>
              <a:ext cx="254000" cy="254000"/>
            </a:xfrm>
            <a:prstGeom prst="rect">
              <a:avLst/>
            </a:prstGeom>
          </p:spPr>
        </p:pic>
        <p:sp>
          <p:nvSpPr>
            <p:cNvPr id="12" name="TextBox 11"/>
            <p:cNvSpPr txBox="1"/>
            <p:nvPr/>
          </p:nvSpPr>
          <p:spPr>
            <a:xfrm>
              <a:off x="1100667" y="2043642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A 10.1.0.0/16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889000" y="2311400"/>
              <a:ext cx="1862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4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9000" y="2311400"/>
              <a:ext cx="254000" cy="254000"/>
            </a:xfrm>
            <a:prstGeom prst="rect">
              <a:avLst/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1227667" y="23611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16" name="Amazon-EC2" descr="Amazon EC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566333" y="2607733"/>
              <a:ext cx="508000" cy="508000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1593453" y="31654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62000" y="4428067"/>
              <a:ext cx="2116667" cy="1524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9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62000" y="4428067"/>
              <a:ext cx="254000" cy="254000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1100667" y="4477808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B 10.2.0.0/16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889000" y="4745567"/>
              <a:ext cx="1862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2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9000" y="4745567"/>
              <a:ext cx="254000" cy="254000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227667" y="47953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24" name="Amazon-EC2" descr="Amazon EC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566333" y="5041900"/>
              <a:ext cx="508000" cy="508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1593453" y="5599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26" name="AWS-Transit-Gateway" descr="AWS Transit Gateway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492500" y="3602567"/>
              <a:ext cx="508000" cy="508000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3519620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</a:t>
              </a:r>
            </a:p>
          </p:txBody>
        </p:sp>
        <p:pic>
          <p:nvPicPr>
            <p:cNvPr id="28" name="Amazon-Route-53_Route-Table" descr="Amazon Route 53_Route Tabl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92500" y="2607733"/>
              <a:ext cx="508000" cy="5080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3112161" y="31654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RT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087688" y="3354917"/>
              <a:ext cx="13176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VPC A · B 전파</a:t>
              </a:r>
            </a:p>
          </p:txBody>
        </p:sp>
        <p:pic>
          <p:nvPicPr>
            <p:cNvPr id="31" name="Amazon-Route-53_Route-Table" descr="Amazon Route 53_Route Tabl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92500" y="5041900"/>
              <a:ext cx="508000" cy="508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3264958" y="5599642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Spoke RT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2825750" y="5789083"/>
              <a:ext cx="1841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0.0.0.0/0 → 검사 VPC</a:t>
              </a:r>
            </a:p>
          </p:txBody>
        </p:sp>
        <p:sp>
          <p:nvSpPr>
            <p:cNvPr id="34" name="Freeform 33"/>
            <p:cNvSpPr/>
            <p:nvPr/>
          </p:nvSpPr>
          <p:spPr>
            <a:xfrm>
              <a:off x="2921000" y="2861733"/>
              <a:ext cx="529167" cy="910167"/>
            </a:xfrm>
            <a:custGeom>
              <a:avLst/>
              <a:gdLst/>
              <a:ahLst/>
              <a:cxnLst/>
              <a:rect l="l" t="t" r="r" b="b"/>
              <a:pathLst>
                <a:path w="529167" h="910167">
                  <a:moveTo>
                    <a:pt x="0" y="0"/>
                  </a:moveTo>
                  <a:lnTo>
                    <a:pt x="254000" y="0"/>
                  </a:lnTo>
                  <a:lnTo>
                    <a:pt x="254000" y="910167"/>
                  </a:lnTo>
                  <a:lnTo>
                    <a:pt x="529167" y="9101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2921000" y="3941233"/>
              <a:ext cx="529167" cy="1354667"/>
            </a:xfrm>
            <a:custGeom>
              <a:avLst/>
              <a:gdLst/>
              <a:ahLst/>
              <a:cxnLst/>
              <a:rect l="l" t="t" r="r" b="b"/>
              <a:pathLst>
                <a:path w="529167" h="1354667">
                  <a:moveTo>
                    <a:pt x="0" y="1354667"/>
                  </a:moveTo>
                  <a:lnTo>
                    <a:pt x="254000" y="1354667"/>
                  </a:lnTo>
                  <a:lnTo>
                    <a:pt x="254000" y="0"/>
                  </a:lnTo>
                  <a:lnTo>
                    <a:pt x="5291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4572000" y="1676400"/>
              <a:ext cx="5799667" cy="4360333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7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572000" y="1676400"/>
              <a:ext cx="254000" cy="254000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4910667" y="1726142"/>
              <a:ext cx="300037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Inspection VPC 100.64.0.0/16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741333" y="1993900"/>
              <a:ext cx="50376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868333" y="20436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4741333" y="4428067"/>
              <a:ext cx="50376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4868333" y="44778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868333" y="2311400"/>
              <a:ext cx="1439333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4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68333" y="2311400"/>
              <a:ext cx="254000" cy="254000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5207000" y="23611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6434667" y="2311400"/>
              <a:ext cx="1608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7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4667" y="2311400"/>
              <a:ext cx="254000" cy="254000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6773333" y="2361142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Firewall subnet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170333" y="2311400"/>
              <a:ext cx="1481667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ublic-subnet_32" descr="Public subnet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170333" y="2311400"/>
              <a:ext cx="254000" cy="254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509000" y="2361142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4868333" y="4745567"/>
              <a:ext cx="1439333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3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68333" y="4745567"/>
              <a:ext cx="254000" cy="254000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5207000" y="47953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434667" y="4745567"/>
              <a:ext cx="1608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6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4667" y="4745567"/>
              <a:ext cx="254000" cy="254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6773333" y="4795308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Firewall subnet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170333" y="4745567"/>
              <a:ext cx="1481667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9" name="Public-subnet_32" descr="Public subnet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170333" y="4745567"/>
              <a:ext cx="254000" cy="254000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8509000" y="47953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pic>
          <p:nvPicPr>
            <p:cNvPr id="61" name="AWS-Transit-Gateway_Attachment" descr="AWS Transit Gateway_Attachment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334000" y="2607733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5157391" y="3165475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ENI</a:t>
              </a:r>
            </a:p>
          </p:txBody>
        </p:sp>
        <p:pic>
          <p:nvPicPr>
            <p:cNvPr id="63" name="AWS-Network-Firewall_Endpoints" descr="AWS Network Firewall_Endpoints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985000" y="2607733"/>
              <a:ext cx="508000" cy="508000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6299068" y="3165475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endpoint</a:t>
              </a:r>
            </a:p>
          </p:txBody>
        </p:sp>
        <p:pic>
          <p:nvPicPr>
            <p:cNvPr id="65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657167" y="2607733"/>
              <a:ext cx="508000" cy="508000"/>
            </a:xfrm>
            <a:prstGeom prst="rect">
              <a:avLst/>
            </a:prstGeom>
          </p:spPr>
        </p:pic>
        <p:sp>
          <p:nvSpPr>
            <p:cNvPr id="66" name="TextBox 65"/>
            <p:cNvSpPr txBox="1"/>
            <p:nvPr/>
          </p:nvSpPr>
          <p:spPr>
            <a:xfrm>
              <a:off x="8276828" y="31654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67" name="AWS-Transit-Gateway_Attachment" descr="AWS Transit Gateway_Attachment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334000" y="5041900"/>
              <a:ext cx="508000" cy="5080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5157391" y="5599642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ENI</a:t>
              </a:r>
            </a:p>
          </p:txBody>
        </p:sp>
        <p:pic>
          <p:nvPicPr>
            <p:cNvPr id="69" name="AWS-Network-Firewall_Endpoints" descr="AWS Network Firewall_Endpoints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985000" y="5041900"/>
              <a:ext cx="508000" cy="508000"/>
            </a:xfrm>
            <a:prstGeom prst="rect">
              <a:avLst/>
            </a:prstGeom>
          </p:spPr>
        </p:pic>
        <p:sp>
          <p:nvSpPr>
            <p:cNvPr id="70" name="TextBox 69"/>
            <p:cNvSpPr txBox="1"/>
            <p:nvPr/>
          </p:nvSpPr>
          <p:spPr>
            <a:xfrm>
              <a:off x="6299068" y="5599642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endpoint</a:t>
              </a:r>
            </a:p>
          </p:txBody>
        </p:sp>
        <p:pic>
          <p:nvPicPr>
            <p:cNvPr id="71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657167" y="5041900"/>
              <a:ext cx="508000" cy="508000"/>
            </a:xfrm>
            <a:prstGeom prst="rect">
              <a:avLst/>
            </a:prstGeom>
          </p:spPr>
        </p:pic>
        <p:sp>
          <p:nvSpPr>
            <p:cNvPr id="72" name="TextBox 71"/>
            <p:cNvSpPr txBox="1"/>
            <p:nvPr/>
          </p:nvSpPr>
          <p:spPr>
            <a:xfrm>
              <a:off x="8276828" y="55996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73" name="AWS-Network-Firewall" descr="AWS Network Firewall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6985000" y="3602567"/>
              <a:ext cx="508000" cy="508000"/>
            </a:xfrm>
            <a:prstGeom prst="rect">
              <a:avLst/>
            </a:prstGeom>
          </p:spPr>
        </p:pic>
        <p:sp>
          <p:nvSpPr>
            <p:cNvPr id="74" name="TextBox 73"/>
            <p:cNvSpPr txBox="1"/>
            <p:nvPr/>
          </p:nvSpPr>
          <p:spPr>
            <a:xfrm>
              <a:off x="6146271" y="4160308"/>
              <a:ext cx="218545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Network Firewall</a:t>
              </a:r>
            </a:p>
          </p:txBody>
        </p:sp>
        <p:sp>
          <p:nvSpPr>
            <p:cNvPr id="75" name="Rectangle 74"/>
            <p:cNvSpPr/>
            <p:nvPr/>
          </p:nvSpPr>
          <p:spPr>
            <a:xfrm>
              <a:off x="10117667" y="3602567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6" name="Amazon-VPC_Internet-Gateway" descr="Amazon VPC_Internet Gateway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10117667" y="3602567"/>
              <a:ext cx="508000" cy="508000"/>
            </a:xfrm>
            <a:prstGeom prst="rect">
              <a:avLst/>
            </a:prstGeom>
          </p:spPr>
        </p:pic>
        <p:sp>
          <p:nvSpPr>
            <p:cNvPr id="77" name="TextBox 76"/>
            <p:cNvSpPr txBox="1"/>
            <p:nvPr/>
          </p:nvSpPr>
          <p:spPr>
            <a:xfrm>
              <a:off x="10144786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sp>
          <p:nvSpPr>
            <p:cNvPr id="78" name="Freeform 77"/>
            <p:cNvSpPr/>
            <p:nvPr/>
          </p:nvSpPr>
          <p:spPr>
            <a:xfrm>
              <a:off x="4042833" y="2861733"/>
              <a:ext cx="1248834" cy="910167"/>
            </a:xfrm>
            <a:custGeom>
              <a:avLst/>
              <a:gdLst/>
              <a:ahLst/>
              <a:cxnLst/>
              <a:rect l="l" t="t" r="r" b="b"/>
              <a:pathLst>
                <a:path w="1248834" h="910167">
                  <a:moveTo>
                    <a:pt x="0" y="910167"/>
                  </a:moveTo>
                  <a:lnTo>
                    <a:pt x="359834" y="910167"/>
                  </a:lnTo>
                  <a:lnTo>
                    <a:pt x="359834" y="0"/>
                  </a:lnTo>
                  <a:lnTo>
                    <a:pt x="1248834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Freeform 78"/>
            <p:cNvSpPr/>
            <p:nvPr/>
          </p:nvSpPr>
          <p:spPr>
            <a:xfrm>
              <a:off x="4042833" y="3941233"/>
              <a:ext cx="1248834" cy="1354667"/>
            </a:xfrm>
            <a:custGeom>
              <a:avLst/>
              <a:gdLst/>
              <a:ahLst/>
              <a:cxnLst/>
              <a:rect l="l" t="t" r="r" b="b"/>
              <a:pathLst>
                <a:path w="1248834" h="1354667">
                  <a:moveTo>
                    <a:pt x="0" y="0"/>
                  </a:moveTo>
                  <a:lnTo>
                    <a:pt x="359834" y="0"/>
                  </a:lnTo>
                  <a:lnTo>
                    <a:pt x="359834" y="1354667"/>
                  </a:lnTo>
                  <a:lnTo>
                    <a:pt x="1248834" y="13546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0" name="Connector 79"/>
            <p:cNvCxnSpPr/>
            <p:nvPr/>
          </p:nvCxnSpPr>
          <p:spPr>
            <a:xfrm>
              <a:off x="5884333" y="2861733"/>
              <a:ext cx="1058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cxnSp>
          <p:nvCxnSpPr>
            <p:cNvPr id="81" name="Connector 80"/>
            <p:cNvCxnSpPr/>
            <p:nvPr/>
          </p:nvCxnSpPr>
          <p:spPr>
            <a:xfrm>
              <a:off x="5884333" y="5295900"/>
              <a:ext cx="1058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cxnSp>
          <p:nvCxnSpPr>
            <p:cNvPr id="82" name="Connector 81"/>
            <p:cNvCxnSpPr/>
            <p:nvPr/>
          </p:nvCxnSpPr>
          <p:spPr>
            <a:xfrm>
              <a:off x="7535333" y="2861733"/>
              <a:ext cx="10795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83" name="Connector 82"/>
            <p:cNvCxnSpPr/>
            <p:nvPr/>
          </p:nvCxnSpPr>
          <p:spPr>
            <a:xfrm>
              <a:off x="7535333" y="5295900"/>
              <a:ext cx="10795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4" name="Freeform 83"/>
            <p:cNvSpPr/>
            <p:nvPr/>
          </p:nvSpPr>
          <p:spPr>
            <a:xfrm>
              <a:off x="9207500" y="2861733"/>
              <a:ext cx="867833" cy="994834"/>
            </a:xfrm>
            <a:custGeom>
              <a:avLst/>
              <a:gdLst/>
              <a:ahLst/>
              <a:cxnLst/>
              <a:rect l="l" t="t" r="r" b="b"/>
              <a:pathLst>
                <a:path w="867833" h="994834">
                  <a:moveTo>
                    <a:pt x="0" y="0"/>
                  </a:moveTo>
                  <a:lnTo>
                    <a:pt x="656167" y="0"/>
                  </a:lnTo>
                  <a:lnTo>
                    <a:pt x="656167" y="994834"/>
                  </a:lnTo>
                  <a:lnTo>
                    <a:pt x="867833" y="994834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Freeform 84"/>
            <p:cNvSpPr/>
            <p:nvPr/>
          </p:nvSpPr>
          <p:spPr>
            <a:xfrm>
              <a:off x="9207500" y="3856567"/>
              <a:ext cx="656167" cy="1439333"/>
            </a:xfrm>
            <a:custGeom>
              <a:avLst/>
              <a:gdLst/>
              <a:ahLst/>
              <a:cxnLst/>
              <a:rect l="l" t="t" r="r" b="b"/>
              <a:pathLst>
                <a:path w="656167" h="1439333">
                  <a:moveTo>
                    <a:pt x="0" y="1439333"/>
                  </a:moveTo>
                  <a:lnTo>
                    <a:pt x="656167" y="1439333"/>
                  </a:lnTo>
                  <a:lnTo>
                    <a:pt x="6561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86" name="Internet" descr="Internet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1303000" y="3602567"/>
              <a:ext cx="508000" cy="508000"/>
            </a:xfrm>
            <a:prstGeom prst="rect">
              <a:avLst/>
            </a:prstGeom>
          </p:spPr>
        </p:pic>
        <p:sp>
          <p:nvSpPr>
            <p:cNvPr id="87" name="TextBox 86"/>
            <p:cNvSpPr txBox="1"/>
            <p:nvPr/>
          </p:nvSpPr>
          <p:spPr>
            <a:xfrm>
              <a:off x="11075458" y="4160308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cxnSp>
          <p:nvCxnSpPr>
            <p:cNvPr id="88" name="Connector 87"/>
            <p:cNvCxnSpPr/>
            <p:nvPr/>
          </p:nvCxnSpPr>
          <p:spPr>
            <a:xfrm>
              <a:off x="10668000" y="3856567"/>
              <a:ext cx="592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9" name="Oval 88"/>
            <p:cNvSpPr/>
            <p:nvPr/>
          </p:nvSpPr>
          <p:spPr>
            <a:xfrm>
              <a:off x="3227917" y="35179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3226594" y="35454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91" name="Oval 90"/>
            <p:cNvSpPr/>
            <p:nvPr/>
          </p:nvSpPr>
          <p:spPr>
            <a:xfrm>
              <a:off x="4116917" y="35179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4115594" y="35454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93" name="Oval 92"/>
            <p:cNvSpPr/>
            <p:nvPr/>
          </p:nvSpPr>
          <p:spPr>
            <a:xfrm>
              <a:off x="6582833" y="2607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6581510" y="2635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95" name="Oval 94"/>
            <p:cNvSpPr/>
            <p:nvPr/>
          </p:nvSpPr>
          <p:spPr>
            <a:xfrm>
              <a:off x="7683500" y="2607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7682177" y="2635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97" name="Oval 96"/>
            <p:cNvSpPr/>
            <p:nvPr/>
          </p:nvSpPr>
          <p:spPr>
            <a:xfrm>
              <a:off x="9323917" y="2607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9322594" y="2635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5</a:t>
              </a:r>
            </a:p>
          </p:txBody>
        </p:sp>
        <p:sp>
          <p:nvSpPr>
            <p:cNvPr id="99" name="Oval 98"/>
            <p:cNvSpPr/>
            <p:nvPr/>
          </p:nvSpPr>
          <p:spPr>
            <a:xfrm>
              <a:off x="381000" y="6280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379677" y="6307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677333" y="6307667"/>
              <a:ext cx="9128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VPC → TGW</a:t>
              </a:r>
            </a:p>
          </p:txBody>
        </p:sp>
        <p:sp>
          <p:nvSpPr>
            <p:cNvPr id="102" name="Oval 101"/>
            <p:cNvSpPr/>
            <p:nvPr/>
          </p:nvSpPr>
          <p:spPr>
            <a:xfrm>
              <a:off x="1598083" y="6280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1596760" y="6307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1894417" y="6307667"/>
              <a:ext cx="41116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Spoke RT 0.0.0.0/0 → 검사 VPC (appliance mode)</a:t>
              </a:r>
            </a:p>
          </p:txBody>
        </p:sp>
        <p:sp>
          <p:nvSpPr>
            <p:cNvPr id="105" name="Oval 104"/>
            <p:cNvSpPr/>
            <p:nvPr/>
          </p:nvSpPr>
          <p:spPr>
            <a:xfrm>
              <a:off x="5202767" y="6280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5201444" y="6307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5499100" y="6307667"/>
              <a:ext cx="38338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같은 AZ 방화벽에서 검사 (VPC 간은 TGW로 반환)</a:t>
              </a:r>
            </a:p>
          </p:txBody>
        </p:sp>
        <p:sp>
          <p:nvSpPr>
            <p:cNvPr id="108" name="Oval 107"/>
            <p:cNvSpPr/>
            <p:nvPr/>
          </p:nvSpPr>
          <p:spPr>
            <a:xfrm>
              <a:off x="8528050" y="6280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8526727" y="6307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8824383" y="6307667"/>
              <a:ext cx="2024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방화벽 → NAT (인터넷행)</a:t>
              </a:r>
            </a:p>
          </p:txBody>
        </p:sp>
        <p:sp>
          <p:nvSpPr>
            <p:cNvPr id="111" name="Oval 110"/>
            <p:cNvSpPr/>
            <p:nvPr/>
          </p:nvSpPr>
          <p:spPr>
            <a:xfrm>
              <a:off x="10462683" y="6280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10461360" y="6307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5</a:t>
              </a:r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10759017" y="6307667"/>
              <a:ext cx="9128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NAT → IGW</a:t>
              </a: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381000" y="6477000"/>
              <a:ext cx="14081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라우팅(같은 AZ): App 0.0.0.0/0 → TGW · TGW 서브넷 0.0.0.0/0 → 방화벽 · 방화벽 서브넷 0.0.0.0/0 → NAT, 10.0.0.0/8 → TGW · 퍼블릭 0.0.0.0/0 → IGW, 10.0.0.0/8 → 방화벽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Internet-facing NLB</dc:title>
  <dc:subject/>
  <dc:creator/>
  <cp:keywords/>
  <dc:description>Generated by skill-aws-arch-diagram</dc:description>
  <cp:lastModifiedBy/>
  <cp:revision>1</cp:revision>
  <dcterms:created xsi:type="dcterms:W3CDTF">2026-10-23T08:45:03Z</dcterms:created>
  <dcterms:modified xsi:type="dcterms:W3CDTF">2026-10-23T08:45:03Z</dcterms:modified>
  <cp:category/>
</cp:coreProperties>
</file>