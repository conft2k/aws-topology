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0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png"/><Relationship Id="rId17" Type="http://schemas.openxmlformats.org/officeDocument/2006/relationships/image" Target="../media/image16.svg"/><Relationship Id="rId18" Type="http://schemas.openxmlformats.org/officeDocument/2006/relationships/image" Target="../media/image17.png"/><Relationship Id="rId19" Type="http://schemas.openxmlformats.org/officeDocument/2006/relationships/image" Target="../media/image18.svg"/><Relationship Id="rId20" Type="http://schemas.openxmlformats.org/officeDocument/2006/relationships/image" Target="../media/image19.png"/><Relationship Id="rId21" Type="http://schemas.openxmlformats.org/officeDocument/2006/relationships/image" Target="../media/image20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23.png"/><Relationship Id="rId25" Type="http://schemas.openxmlformats.org/officeDocument/2006/relationships/image" Target="../media/image24.svg"/><Relationship Id="rId26" Type="http://schemas.openxmlformats.org/officeDocument/2006/relationships/image" Target="../media/image25.png"/><Relationship Id="rId27" Type="http://schemas.openxmlformats.org/officeDocument/2006/relationships/image" Target="../media/image26.svg"/><Relationship Id="rId28" Type="http://schemas.openxmlformats.org/officeDocument/2006/relationships/image" Target="../media/image27.png"/><Relationship Id="rId29" Type="http://schemas.openxmlformats.org/officeDocument/2006/relationships/image" Target="../media/image28.svg"/><Relationship Id="rId30" Type="http://schemas.openxmlformats.org/officeDocument/2006/relationships/image" Target="../media/image29.png"/><Relationship Id="rId31" Type="http://schemas.openxmlformats.org/officeDocument/2006/relationships/image" Target="../media/image3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Relationship Id="rId12" Type="http://schemas.openxmlformats.org/officeDocument/2006/relationships/image" Target="../media/image31.png"/><Relationship Id="rId13" Type="http://schemas.openxmlformats.org/officeDocument/2006/relationships/image" Target="../media/image32.svg"/><Relationship Id="rId14" Type="http://schemas.openxmlformats.org/officeDocument/2006/relationships/image" Target="../media/image11.png"/><Relationship Id="rId15" Type="http://schemas.openxmlformats.org/officeDocument/2006/relationships/image" Target="../media/image12.svg"/><Relationship Id="rId16" Type="http://schemas.openxmlformats.org/officeDocument/2006/relationships/image" Target="../media/image13.png"/><Relationship Id="rId17" Type="http://schemas.openxmlformats.org/officeDocument/2006/relationships/image" Target="../media/image14.svg"/><Relationship Id="rId18" Type="http://schemas.openxmlformats.org/officeDocument/2006/relationships/image" Target="../media/image15.png"/><Relationship Id="rId19" Type="http://schemas.openxmlformats.org/officeDocument/2006/relationships/image" Target="../media/image16.svg"/><Relationship Id="rId20" Type="http://schemas.openxmlformats.org/officeDocument/2006/relationships/image" Target="../media/image17.png"/><Relationship Id="rId21" Type="http://schemas.openxmlformats.org/officeDocument/2006/relationships/image" Target="../media/image18.svg"/><Relationship Id="rId22" Type="http://schemas.openxmlformats.org/officeDocument/2006/relationships/image" Target="../media/image19.png"/><Relationship Id="rId23" Type="http://schemas.openxmlformats.org/officeDocument/2006/relationships/image" Target="../media/image20.svg"/><Relationship Id="rId24" Type="http://schemas.openxmlformats.org/officeDocument/2006/relationships/image" Target="../media/image21.png"/><Relationship Id="rId25" Type="http://schemas.openxmlformats.org/officeDocument/2006/relationships/image" Target="../media/image22.svg"/><Relationship Id="rId26" Type="http://schemas.openxmlformats.org/officeDocument/2006/relationships/image" Target="../media/image23.png"/><Relationship Id="rId27" Type="http://schemas.openxmlformats.org/officeDocument/2006/relationships/image" Target="../media/image24.svg"/><Relationship Id="rId28" Type="http://schemas.openxmlformats.org/officeDocument/2006/relationships/image" Target="../media/image25.png"/><Relationship Id="rId29" Type="http://schemas.openxmlformats.org/officeDocument/2006/relationships/image" Target="../media/image26.svg"/><Relationship Id="rId30" Type="http://schemas.openxmlformats.org/officeDocument/2006/relationships/image" Target="../media/image33.png"/><Relationship Id="rId31" Type="http://schemas.openxmlformats.org/officeDocument/2006/relationships/image" Target="../media/image34.svg"/><Relationship Id="rId32" Type="http://schemas.openxmlformats.org/officeDocument/2006/relationships/image" Target="../media/image35.png"/><Relationship Id="rId33" Type="http://schemas.openxmlformats.org/officeDocument/2006/relationships/image" Target="../media/image36.svg"/><Relationship Id="rId34" Type="http://schemas.openxmlformats.org/officeDocument/2006/relationships/image" Target="../media/image29.png"/><Relationship Id="rId35" Type="http://schemas.openxmlformats.org/officeDocument/2006/relationships/image" Target="../media/image30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37.png"/><Relationship Id="rId13" Type="http://schemas.openxmlformats.org/officeDocument/2006/relationships/image" Target="../media/image38.svg"/><Relationship Id="rId14" Type="http://schemas.openxmlformats.org/officeDocument/2006/relationships/image" Target="../media/image25.png"/><Relationship Id="rId15" Type="http://schemas.openxmlformats.org/officeDocument/2006/relationships/image" Target="../media/image26.svg"/><Relationship Id="rId16" Type="http://schemas.openxmlformats.org/officeDocument/2006/relationships/image" Target="../media/image29.png"/><Relationship Id="rId17" Type="http://schemas.openxmlformats.org/officeDocument/2006/relationships/image" Target="../media/image30.svg"/><Relationship Id="rId18" Type="http://schemas.openxmlformats.org/officeDocument/2006/relationships/image" Target="../media/image19.png"/><Relationship Id="rId19" Type="http://schemas.openxmlformats.org/officeDocument/2006/relationships/image" Target="../media/image20.svg"/><Relationship Id="rId20" Type="http://schemas.openxmlformats.org/officeDocument/2006/relationships/image" Target="../media/image23.png"/><Relationship Id="rId21" Type="http://schemas.openxmlformats.org/officeDocument/2006/relationships/image" Target="../media/image24.svg"/><Relationship Id="rId22" Type="http://schemas.openxmlformats.org/officeDocument/2006/relationships/image" Target="../media/image39.png"/><Relationship Id="rId23" Type="http://schemas.openxmlformats.org/officeDocument/2006/relationships/image" Target="../media/image4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svg"/><Relationship Id="rId4" Type="http://schemas.openxmlformats.org/officeDocument/2006/relationships/image" Target="../media/image43.png"/><Relationship Id="rId5" Type="http://schemas.openxmlformats.org/officeDocument/2006/relationships/image" Target="../media/image44.svg"/><Relationship Id="rId6" Type="http://schemas.openxmlformats.org/officeDocument/2006/relationships/image" Target="../media/image45.png"/><Relationship Id="rId7" Type="http://schemas.openxmlformats.org/officeDocument/2006/relationships/image" Target="../media/image46.svg"/><Relationship Id="rId8" Type="http://schemas.openxmlformats.org/officeDocument/2006/relationships/image" Target="../media/image47.png"/><Relationship Id="rId9" Type="http://schemas.openxmlformats.org/officeDocument/2006/relationships/image" Target="../media/image48.svg"/><Relationship Id="rId10" Type="http://schemas.openxmlformats.org/officeDocument/2006/relationships/image" Target="../media/image3.png"/><Relationship Id="rId11" Type="http://schemas.openxmlformats.org/officeDocument/2006/relationships/image" Target="../media/image4.svg"/><Relationship Id="rId12" Type="http://schemas.openxmlformats.org/officeDocument/2006/relationships/image" Target="../media/image5.png"/><Relationship Id="rId13" Type="http://schemas.openxmlformats.org/officeDocument/2006/relationships/image" Target="../media/image6.svg"/><Relationship Id="rId14" Type="http://schemas.openxmlformats.org/officeDocument/2006/relationships/image" Target="../media/image49.png"/><Relationship Id="rId15" Type="http://schemas.openxmlformats.org/officeDocument/2006/relationships/image" Target="../media/image50.svg"/><Relationship Id="rId16" Type="http://schemas.openxmlformats.org/officeDocument/2006/relationships/image" Target="../media/image51.png"/><Relationship Id="rId17" Type="http://schemas.openxmlformats.org/officeDocument/2006/relationships/image" Target="../media/image5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15.png"/><Relationship Id="rId7" Type="http://schemas.openxmlformats.org/officeDocument/2006/relationships/image" Target="../media/image16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25.png"/><Relationship Id="rId11" Type="http://schemas.openxmlformats.org/officeDocument/2006/relationships/image" Target="../media/image2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3.png"/><Relationship Id="rId15" Type="http://schemas.openxmlformats.org/officeDocument/2006/relationships/image" Target="../media/image54.svg"/><Relationship Id="rId16" Type="http://schemas.openxmlformats.org/officeDocument/2006/relationships/image" Target="../media/image17.png"/><Relationship Id="rId17" Type="http://schemas.openxmlformats.org/officeDocument/2006/relationships/image" Target="../media/image18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Relationship Id="rId20" Type="http://schemas.openxmlformats.org/officeDocument/2006/relationships/image" Target="../media/image57.png"/><Relationship Id="rId21" Type="http://schemas.openxmlformats.org/officeDocument/2006/relationships/image" Target="../media/image58.svg"/><Relationship Id="rId22" Type="http://schemas.openxmlformats.org/officeDocument/2006/relationships/image" Target="../media/image21.png"/><Relationship Id="rId23" Type="http://schemas.openxmlformats.org/officeDocument/2006/relationships/image" Target="../media/image22.svg"/><Relationship Id="rId24" Type="http://schemas.openxmlformats.org/officeDocument/2006/relationships/image" Target="../media/image59.png"/><Relationship Id="rId25" Type="http://schemas.openxmlformats.org/officeDocument/2006/relationships/image" Target="../media/image60.svg"/><Relationship Id="rId26" Type="http://schemas.openxmlformats.org/officeDocument/2006/relationships/image" Target="../media/image29.png"/><Relationship Id="rId27" Type="http://schemas.openxmlformats.org/officeDocument/2006/relationships/image" Target="../media/image30.svg"/><Relationship Id="rId28" Type="http://schemas.openxmlformats.org/officeDocument/2006/relationships/image" Target="../media/image45.png"/><Relationship Id="rId29" Type="http://schemas.openxmlformats.org/officeDocument/2006/relationships/image" Target="../media/image46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Internet-facing NLB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12089" y="977900"/>
            <a:ext cx="11335411" cy="5588000"/>
            <a:chOff x="412089" y="977900"/>
            <a:chExt cx="11335411" cy="5588000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86833" y="384598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412089" y="440372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14500" y="977900"/>
              <a:ext cx="10033000" cy="5588000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14500" y="977900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159000" y="1059921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883833" y="1358900"/>
              <a:ext cx="9694333" cy="5122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883833" y="13589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222500" y="14086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2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465917" y="2650067"/>
              <a:ext cx="508000" cy="508000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2238375" y="32078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914260" y="3397250"/>
              <a:ext cx="1611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NLB (alias)</a:t>
              </a:r>
            </a:p>
          </p:txBody>
        </p:sp>
        <p:pic>
          <p:nvPicPr>
            <p:cNvPr id="15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403417" y="2650067"/>
              <a:ext cx="508000" cy="508000"/>
            </a:xfrm>
            <a:prstGeom prst="rect">
              <a:avLst/>
            </a:prstGeom>
          </p:spPr>
        </p:pic>
        <p:sp>
          <p:nvSpPr>
            <p:cNvPr id="16" name="TextBox 15"/>
            <p:cNvSpPr txBox="1"/>
            <p:nvPr/>
          </p:nvSpPr>
          <p:spPr>
            <a:xfrm>
              <a:off x="10430536" y="3207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899385" y="3397250"/>
              <a:ext cx="1516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TLS 리스너 인증서</a:t>
              </a:r>
            </a:p>
          </p:txBody>
        </p:sp>
        <p:pic>
          <p:nvPicPr>
            <p:cNvPr id="18" name="Amazon-CloudWatch" descr="Amazon CloudWatch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03417" y="3845983"/>
              <a:ext cx="508000" cy="5080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074010" y="440372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53323" y="4593167"/>
              <a:ext cx="20081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 · 상태 확인</a:t>
              </a:r>
            </a:p>
          </p:txBody>
        </p:sp>
        <p:pic>
          <p:nvPicPr>
            <p:cNvPr id="21" name="Amazon-Simple-Storage-Service" descr="Amazon Simple Storage Servic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403417" y="5317067"/>
              <a:ext cx="508000" cy="508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10481469" y="5874808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978760" y="6064250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NLB 액세스 로그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3556000" y="1697567"/>
              <a:ext cx="6180667" cy="4677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5" name="Virtual-private-cloud-VPC_32" descr="Virtual private cloud VPC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3556000" y="1697567"/>
              <a:ext cx="254000" cy="254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3894667" y="1747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683000" y="1993900"/>
              <a:ext cx="5926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810000" y="2043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3683000" y="4660900"/>
              <a:ext cx="5926667" cy="1608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810000" y="4710642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810000" y="2269067"/>
              <a:ext cx="1693333" cy="1248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810000" y="2269067"/>
              <a:ext cx="254000" cy="254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148667" y="231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5757333" y="2269067"/>
              <a:ext cx="3725333" cy="1248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5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757333" y="2269067"/>
              <a:ext cx="254000" cy="254000"/>
            </a:xfrm>
            <a:prstGeom prst="rect">
              <a:avLst/>
            </a:prstGeom>
          </p:spPr>
        </p:pic>
        <p:sp>
          <p:nvSpPr>
            <p:cNvPr id="36" name="TextBox 35"/>
            <p:cNvSpPr txBox="1"/>
            <p:nvPr/>
          </p:nvSpPr>
          <p:spPr>
            <a:xfrm>
              <a:off x="6096000" y="2318808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3810000" y="4936067"/>
              <a:ext cx="1693333" cy="1248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Public-subnet_32" descr="Public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3810000" y="4936067"/>
              <a:ext cx="254000" cy="254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4148667" y="4985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5757333" y="4936067"/>
              <a:ext cx="3725333" cy="1248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Private-subnet_32" descr="Private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757333" y="4936067"/>
              <a:ext cx="254000" cy="254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6096000" y="4985808"/>
              <a:ext cx="1574271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Private subnet</a:t>
              </a:r>
            </a:p>
          </p:txBody>
        </p:sp>
        <p:pic>
          <p:nvPicPr>
            <p:cNvPr id="43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402667" y="2650067"/>
              <a:ext cx="508000" cy="508000"/>
            </a:xfrm>
            <a:prstGeom prst="rect">
              <a:avLst/>
            </a:prstGeom>
          </p:spPr>
        </p:pic>
        <p:sp>
          <p:nvSpPr>
            <p:cNvPr id="44" name="TextBox 43"/>
            <p:cNvSpPr txBox="1"/>
            <p:nvPr/>
          </p:nvSpPr>
          <p:spPr>
            <a:xfrm>
              <a:off x="4022328" y="3207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4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402667" y="5317067"/>
              <a:ext cx="508000" cy="508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4022328" y="5874808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7387167" y="2353733"/>
              <a:ext cx="1968500" cy="3746500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Auto-Scaling-group_32" descr="Auto Scaling group_32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7387167" y="2353733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7725833" y="2413529"/>
              <a:ext cx="1840177" cy="178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83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50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620000" y="2650067"/>
              <a:ext cx="508000" cy="508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7647120" y="3207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2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593667" y="2650067"/>
              <a:ext cx="508000" cy="508000"/>
            </a:xfrm>
            <a:prstGeom prst="rect">
              <a:avLst/>
            </a:prstGeom>
          </p:spPr>
        </p:pic>
        <p:sp>
          <p:nvSpPr>
            <p:cNvPr id="53" name="TextBox 52"/>
            <p:cNvSpPr txBox="1"/>
            <p:nvPr/>
          </p:nvSpPr>
          <p:spPr>
            <a:xfrm>
              <a:off x="8620786" y="3207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4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7620000" y="5317067"/>
              <a:ext cx="508000" cy="508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7647120" y="5874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6" name="Amazon-EC2" descr="Amazon EC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593667" y="5317067"/>
              <a:ext cx="508000" cy="508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8620786" y="58748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58" name="Elastic-Load-Balancing_Network-Load-Balancer" descr="Elastic Load Balancing_Network Load Balancer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4402667" y="3845983"/>
              <a:ext cx="508000" cy="508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4429786" y="440372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NLB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3302000" y="384598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61" name="Amazon-VPC_Internet-Gateway" descr="Amazon VPC_Internet Gateway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3302000" y="3845983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3329120" y="440372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1037167" y="4099983"/>
              <a:ext cx="2222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4" name="TextBox 63"/>
            <p:cNvSpPr txBox="1"/>
            <p:nvPr/>
          </p:nvSpPr>
          <p:spPr>
            <a:xfrm>
              <a:off x="899583" y="388408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TLS :443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3852333" y="4099983"/>
              <a:ext cx="508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4953000" y="4099983"/>
              <a:ext cx="239183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7" name="TextBox 66"/>
            <p:cNvSpPr txBox="1"/>
            <p:nvPr/>
          </p:nvSpPr>
          <p:spPr>
            <a:xfrm>
              <a:off x="5736167" y="388408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TCP :443</a:t>
              </a:r>
            </a:p>
          </p:txBody>
        </p:sp>
        <p:sp>
          <p:nvSpPr>
            <p:cNvPr id="68" name="Freeform 67"/>
            <p:cNvSpPr/>
            <p:nvPr/>
          </p:nvSpPr>
          <p:spPr>
            <a:xfrm>
              <a:off x="740833" y="2904067"/>
              <a:ext cx="1682750" cy="899583"/>
            </a:xfrm>
            <a:custGeom>
              <a:avLst/>
              <a:gdLst/>
              <a:ahLst/>
              <a:cxnLst/>
              <a:rect l="l" t="t" r="r" b="b"/>
              <a:pathLst>
                <a:path w="1682750" h="899583">
                  <a:moveTo>
                    <a:pt x="0" y="899583"/>
                  </a:moveTo>
                  <a:lnTo>
                    <a:pt x="0" y="0"/>
                  </a:lnTo>
                  <a:lnTo>
                    <a:pt x="168275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TextBox 68"/>
            <p:cNvSpPr txBox="1"/>
            <p:nvPr/>
          </p:nvSpPr>
          <p:spPr>
            <a:xfrm>
              <a:off x="936625" y="2698750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70" name="Connector 69"/>
            <p:cNvCxnSpPr/>
            <p:nvPr/>
          </p:nvCxnSpPr>
          <p:spPr>
            <a:xfrm flipH="1">
              <a:off x="4953000" y="2904067"/>
              <a:ext cx="2391833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1" name="TextBox 70"/>
            <p:cNvSpPr txBox="1"/>
            <p:nvPr/>
          </p:nvSpPr>
          <p:spPr>
            <a:xfrm>
              <a:off x="6111875" y="2698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 flipH="1">
              <a:off x="4953000" y="5571067"/>
              <a:ext cx="2391833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73" name="TextBox 72"/>
            <p:cNvSpPr txBox="1"/>
            <p:nvPr/>
          </p:nvSpPr>
          <p:spPr>
            <a:xfrm>
              <a:off x="6111875" y="536575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1826948" y="5175250"/>
              <a:ext cx="1785937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NLB</a:t>
              </a: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1723760" y="5344583"/>
              <a:ext cx="1992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두 AZ의 퍼블릭 서브넷에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2013479" y="5513917"/>
              <a:ext cx="141287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걸친 단일 관리형</a:t>
              </a: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215885" y="5683250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로드 밸런서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3-tier web app with ALB, AWS WAF and RDS Multi-AZ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687255" y="935567"/>
            <a:ext cx="10785079" cy="5651500"/>
            <a:chOff x="687255" y="935567"/>
            <a:chExt cx="10785079" cy="5651500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62000" y="413173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687255" y="4668308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2180167" y="935567"/>
              <a:ext cx="9292167" cy="5651500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80167" y="935567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624667" y="10175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746500" y="1047750"/>
              <a:ext cx="7556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Internet-facing ALB · 두 AZ에 걸친 단일 관리형 로드 밸런서 · AWS WAF 연결 · RDS Multi-AZ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49500" y="1337733"/>
              <a:ext cx="8953500" cy="51858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349500" y="1337733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2688167" y="1387475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pic>
          <p:nvPicPr>
            <p:cNvPr id="13" name="Amazon-Route-53" descr="Amazon Route 53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37000" y="1380067"/>
              <a:ext cx="508000" cy="508000"/>
            </a:xfrm>
            <a:prstGeom prst="rect">
              <a:avLst/>
            </a:prstGeom>
          </p:spPr>
        </p:pic>
        <p:sp>
          <p:nvSpPr>
            <p:cNvPr id="14" name="TextBox 13"/>
            <p:cNvSpPr txBox="1"/>
            <p:nvPr/>
          </p:nvSpPr>
          <p:spPr>
            <a:xfrm>
              <a:off x="3709458" y="19166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Route 53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385344" y="2084917"/>
              <a:ext cx="1611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→ ALB (alias)</a:t>
              </a:r>
            </a:p>
          </p:txBody>
        </p:sp>
        <p:pic>
          <p:nvPicPr>
            <p:cNvPr id="16" name="AWS-Certificate-Manager" descr="AWS Certificate Manager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524500" y="1380067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5551620" y="1916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ACM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933156" y="2084917"/>
              <a:ext cx="169068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HTTPS 리스너 인증서</a:t>
              </a:r>
            </a:p>
          </p:txBody>
        </p:sp>
        <p:pic>
          <p:nvPicPr>
            <p:cNvPr id="19" name="AWS-WAF" descr="AWS WAF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112000" y="1380067"/>
              <a:ext cx="508000" cy="508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6935391" y="1916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WAF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461125" y="2084917"/>
              <a:ext cx="1809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ALB에 연결한 Web ACL</a:t>
              </a:r>
            </a:p>
          </p:txBody>
        </p:sp>
        <p:pic>
          <p:nvPicPr>
            <p:cNvPr id="22" name="Amazon-CloudWatch" descr="Amazon CloudWatch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699500" y="1380067"/>
              <a:ext cx="508000" cy="508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8370094" y="1916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CloudWatch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441531" y="2084917"/>
              <a:ext cx="1023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지표 · 경보</a:t>
              </a:r>
            </a:p>
          </p:txBody>
        </p:sp>
        <p:pic>
          <p:nvPicPr>
            <p:cNvPr id="25" name="Amazon-Simple-Storage-Service" descr="Amazon Simple Storage Service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10287000" y="1380067"/>
              <a:ext cx="508000" cy="508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10365052" y="1916642"/>
              <a:ext cx="35189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862344" y="2084917"/>
              <a:ext cx="1357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ALB 액세스 로그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751667" y="2311400"/>
              <a:ext cx="8382000" cy="4148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9" name="Virtual-private-cloud-VPC_32" descr="Virtual private cloud VPC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51667" y="2311400"/>
              <a:ext cx="254000" cy="2540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3090333" y="2361142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10.0.0.0/16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2921000" y="2586567"/>
              <a:ext cx="8043333" cy="1481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3048000" y="2636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2921000" y="4893733"/>
              <a:ext cx="8043333" cy="1481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048000" y="4943475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3069167" y="2861733"/>
              <a:ext cx="1587500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6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069167" y="2861733"/>
              <a:ext cx="254000" cy="254000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3407833" y="2911475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868333" y="2861733"/>
              <a:ext cx="349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9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868333" y="2861733"/>
              <a:ext cx="254000" cy="254000"/>
            </a:xfrm>
            <a:prstGeom prst="rect">
              <a:avLst/>
            </a:prstGeom>
          </p:spPr>
        </p:pic>
        <p:sp>
          <p:nvSpPr>
            <p:cNvPr id="40" name="TextBox 39"/>
            <p:cNvSpPr txBox="1"/>
            <p:nvPr/>
          </p:nvSpPr>
          <p:spPr>
            <a:xfrm>
              <a:off x="5207000" y="2911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572500" y="2861733"/>
              <a:ext cx="222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2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72500" y="2861733"/>
              <a:ext cx="254000" cy="254000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8911167" y="2911475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3069167" y="5168900"/>
              <a:ext cx="1587500" cy="1121833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5" name="Public-subnet_32" descr="Public subnet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069167" y="5168900"/>
              <a:ext cx="254000" cy="254000"/>
            </a:xfrm>
            <a:prstGeom prst="rect">
              <a:avLst/>
            </a:prstGeom>
          </p:spPr>
        </p:pic>
        <p:sp>
          <p:nvSpPr>
            <p:cNvPr id="46" name="TextBox 45"/>
            <p:cNvSpPr txBox="1"/>
            <p:nvPr/>
          </p:nvSpPr>
          <p:spPr>
            <a:xfrm>
              <a:off x="3407833" y="5218642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4868333" y="5168900"/>
              <a:ext cx="349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8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4868333" y="5168900"/>
              <a:ext cx="254000" cy="254000"/>
            </a:xfrm>
            <a:prstGeom prst="rect">
              <a:avLst/>
            </a:prstGeom>
          </p:spPr>
        </p:pic>
        <p:sp>
          <p:nvSpPr>
            <p:cNvPr id="49" name="TextBox 48"/>
            <p:cNvSpPr txBox="1"/>
            <p:nvPr/>
          </p:nvSpPr>
          <p:spPr>
            <a:xfrm>
              <a:off x="5207000" y="5218642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572500" y="5168900"/>
              <a:ext cx="2222500" cy="11218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572500" y="5168900"/>
              <a:ext cx="254000" cy="254000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911167" y="5218642"/>
              <a:ext cx="106494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DB subnet</a:t>
              </a:r>
            </a:p>
          </p:txBody>
        </p:sp>
        <p:pic>
          <p:nvPicPr>
            <p:cNvPr id="53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608917" y="3200400"/>
              <a:ext cx="508000" cy="508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3228578" y="3736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55" name="Amazon-VPC_NAT-Gateway" descr="Amazon VPC_NAT Gateway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3608917" y="5507567"/>
              <a:ext cx="508000" cy="508000"/>
            </a:xfrm>
            <a:prstGeom prst="rect">
              <a:avLst/>
            </a:prstGeom>
          </p:spPr>
        </p:pic>
        <p:sp>
          <p:nvSpPr>
            <p:cNvPr id="56" name="TextBox 55"/>
            <p:cNvSpPr txBox="1"/>
            <p:nvPr/>
          </p:nvSpPr>
          <p:spPr>
            <a:xfrm>
              <a:off x="3228578" y="6044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sp>
          <p:nvSpPr>
            <p:cNvPr id="57" name="Rectangle 56"/>
            <p:cNvSpPr/>
            <p:nvPr/>
          </p:nvSpPr>
          <p:spPr>
            <a:xfrm>
              <a:off x="6201833" y="2904067"/>
              <a:ext cx="1947333" cy="3323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8" name="Auto-Scaling-group_32" descr="Auto Scaling group_32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201833" y="2904067"/>
              <a:ext cx="254000" cy="254000"/>
            </a:xfrm>
            <a:prstGeom prst="rect">
              <a:avLst/>
            </a:prstGeom>
          </p:spPr>
        </p:pic>
        <p:sp>
          <p:nvSpPr>
            <p:cNvPr id="59" name="TextBox 58"/>
            <p:cNvSpPr txBox="1"/>
            <p:nvPr/>
          </p:nvSpPr>
          <p:spPr>
            <a:xfrm>
              <a:off x="6540500" y="2963862"/>
              <a:ext cx="1840177" cy="178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83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 · target group</a:t>
              </a:r>
            </a:p>
          </p:txBody>
        </p:sp>
        <p:pic>
          <p:nvPicPr>
            <p:cNvPr id="60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477000" y="3200400"/>
              <a:ext cx="508000" cy="508000"/>
            </a:xfrm>
            <a:prstGeom prst="rect">
              <a:avLst/>
            </a:prstGeom>
          </p:spPr>
        </p:pic>
        <p:sp>
          <p:nvSpPr>
            <p:cNvPr id="61" name="TextBox 60"/>
            <p:cNvSpPr txBox="1"/>
            <p:nvPr/>
          </p:nvSpPr>
          <p:spPr>
            <a:xfrm>
              <a:off x="6504120" y="3736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2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429500" y="3200400"/>
              <a:ext cx="508000" cy="508000"/>
            </a:xfrm>
            <a:prstGeom prst="rect">
              <a:avLst/>
            </a:prstGeom>
          </p:spPr>
        </p:pic>
        <p:sp>
          <p:nvSpPr>
            <p:cNvPr id="63" name="TextBox 62"/>
            <p:cNvSpPr txBox="1"/>
            <p:nvPr/>
          </p:nvSpPr>
          <p:spPr>
            <a:xfrm>
              <a:off x="7456620" y="373697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4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6477000" y="5507567"/>
              <a:ext cx="508000" cy="508000"/>
            </a:xfrm>
            <a:prstGeom prst="rect">
              <a:avLst/>
            </a:prstGeom>
          </p:spPr>
        </p:pic>
        <p:sp>
          <p:nvSpPr>
            <p:cNvPr id="65" name="TextBox 64"/>
            <p:cNvSpPr txBox="1"/>
            <p:nvPr/>
          </p:nvSpPr>
          <p:spPr>
            <a:xfrm>
              <a:off x="6504120" y="6044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6" name="Amazon-EC2" descr="Amazon EC2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7429500" y="5507567"/>
              <a:ext cx="508000" cy="508000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7456620" y="6044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68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652000" y="3200400"/>
              <a:ext cx="508000" cy="508000"/>
            </a:xfrm>
            <a:prstGeom prst="rect">
              <a:avLst/>
            </a:prstGeom>
          </p:spPr>
        </p:pic>
        <p:sp>
          <p:nvSpPr>
            <p:cNvPr id="69" name="TextBox 68"/>
            <p:cNvSpPr txBox="1"/>
            <p:nvPr/>
          </p:nvSpPr>
          <p:spPr>
            <a:xfrm>
              <a:off x="9271661" y="3736975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Primary</a:t>
              </a:r>
            </a:p>
          </p:txBody>
        </p:sp>
        <p:pic>
          <p:nvPicPr>
            <p:cNvPr id="70" name="Amazon-RDS" descr="Amazon RDS"/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9652000" y="5507567"/>
              <a:ext cx="508000" cy="508000"/>
            </a:xfrm>
            <a:prstGeom prst="rect">
              <a:avLst/>
            </a:prstGeom>
          </p:spPr>
        </p:pic>
        <p:sp>
          <p:nvSpPr>
            <p:cNvPr id="71" name="TextBox 70"/>
            <p:cNvSpPr txBox="1"/>
            <p:nvPr/>
          </p:nvSpPr>
          <p:spPr>
            <a:xfrm>
              <a:off x="9271661" y="6044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RDS Standby</a:t>
              </a:r>
            </a:p>
          </p:txBody>
        </p:sp>
        <p:pic>
          <p:nvPicPr>
            <p:cNvPr id="72" name="Elastic-Load-Balancing_Application-Load-Balancer" descr="Elastic Load Balancing_Application Load Balancer"/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3608917" y="4131733"/>
              <a:ext cx="508000" cy="508000"/>
            </a:xfrm>
            <a:prstGeom prst="rect">
              <a:avLst/>
            </a:prstGeom>
          </p:spPr>
        </p:pic>
        <p:sp>
          <p:nvSpPr>
            <p:cNvPr id="73" name="TextBox 72"/>
            <p:cNvSpPr txBox="1"/>
            <p:nvPr/>
          </p:nvSpPr>
          <p:spPr>
            <a:xfrm>
              <a:off x="3636036" y="4668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ALB</a:t>
              </a:r>
            </a:p>
          </p:txBody>
        </p:sp>
        <p:sp>
          <p:nvSpPr>
            <p:cNvPr id="74" name="Rectangle 73"/>
            <p:cNvSpPr/>
            <p:nvPr/>
          </p:nvSpPr>
          <p:spPr>
            <a:xfrm>
              <a:off x="2497667" y="413173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5" name="Amazon-VPC_Internet-Gateway" descr="Amazon VPC_Internet Gateway"/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2497667" y="4131733"/>
              <a:ext cx="508000" cy="508000"/>
            </a:xfrm>
            <a:prstGeom prst="rect">
              <a:avLst/>
            </a:prstGeom>
          </p:spPr>
        </p:pic>
        <p:sp>
          <p:nvSpPr>
            <p:cNvPr id="76" name="TextBox 75"/>
            <p:cNvSpPr txBox="1"/>
            <p:nvPr/>
          </p:nvSpPr>
          <p:spPr>
            <a:xfrm>
              <a:off x="2524786" y="4668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cxnSp>
          <p:nvCxnSpPr>
            <p:cNvPr id="77" name="Connector 76"/>
            <p:cNvCxnSpPr/>
            <p:nvPr/>
          </p:nvCxnSpPr>
          <p:spPr>
            <a:xfrm>
              <a:off x="1312333" y="4385733"/>
              <a:ext cx="1143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1235604" y="416983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  <p:cxnSp>
          <p:nvCxnSpPr>
            <p:cNvPr id="79" name="Connector 78"/>
            <p:cNvCxnSpPr/>
            <p:nvPr/>
          </p:nvCxnSpPr>
          <p:spPr>
            <a:xfrm>
              <a:off x="3048000" y="4385733"/>
              <a:ext cx="518583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0" name="Connector 79"/>
            <p:cNvCxnSpPr/>
            <p:nvPr/>
          </p:nvCxnSpPr>
          <p:spPr>
            <a:xfrm>
              <a:off x="4159250" y="4385733"/>
              <a:ext cx="20002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1" name="TextBox 80"/>
            <p:cNvSpPr txBox="1"/>
            <p:nvPr/>
          </p:nvSpPr>
          <p:spPr>
            <a:xfrm>
              <a:off x="4751917" y="4169833"/>
              <a:ext cx="82550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 :80</a:t>
              </a:r>
            </a:p>
          </p:txBody>
        </p:sp>
        <p:cxnSp>
          <p:nvCxnSpPr>
            <p:cNvPr id="82" name="Connector 81"/>
            <p:cNvCxnSpPr/>
            <p:nvPr/>
          </p:nvCxnSpPr>
          <p:spPr>
            <a:xfrm>
              <a:off x="8191500" y="3454400"/>
              <a:ext cx="14181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3" name="TextBox 82"/>
            <p:cNvSpPr txBox="1"/>
            <p:nvPr/>
          </p:nvSpPr>
          <p:spPr>
            <a:xfrm>
              <a:off x="8706115" y="3238500"/>
              <a:ext cx="388938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SQL</a:t>
              </a:r>
            </a:p>
          </p:txBody>
        </p:sp>
        <p:sp>
          <p:nvSpPr>
            <p:cNvPr id="84" name="Freeform 83"/>
            <p:cNvSpPr/>
            <p:nvPr/>
          </p:nvSpPr>
          <p:spPr>
            <a:xfrm>
              <a:off x="1016000" y="1655233"/>
              <a:ext cx="2878667" cy="2434167"/>
            </a:xfrm>
            <a:custGeom>
              <a:avLst/>
              <a:gdLst/>
              <a:ahLst/>
              <a:cxnLst/>
              <a:rect l="l" t="t" r="r" b="b"/>
              <a:pathLst>
                <a:path w="2878667" h="2434167">
                  <a:moveTo>
                    <a:pt x="0" y="2434167"/>
                  </a:moveTo>
                  <a:lnTo>
                    <a:pt x="0" y="0"/>
                  </a:lnTo>
                  <a:lnTo>
                    <a:pt x="2878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053292" y="1725083"/>
              <a:ext cx="793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DNS 조회</a:t>
              </a:r>
            </a:p>
          </p:txBody>
        </p:sp>
        <p:cxnSp>
          <p:nvCxnSpPr>
            <p:cNvPr id="86" name="Connector 85"/>
            <p:cNvCxnSpPr/>
            <p:nvPr/>
          </p:nvCxnSpPr>
          <p:spPr>
            <a:xfrm flipH="1">
              <a:off x="4159250" y="3454400"/>
              <a:ext cx="2000250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7" name="TextBox 86"/>
            <p:cNvSpPr txBox="1"/>
            <p:nvPr/>
          </p:nvSpPr>
          <p:spPr>
            <a:xfrm>
              <a:off x="4979458" y="3238500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 flipH="1">
              <a:off x="4159250" y="5761567"/>
              <a:ext cx="2000250" cy="0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89" name="TextBox 88"/>
            <p:cNvSpPr txBox="1"/>
            <p:nvPr/>
          </p:nvSpPr>
          <p:spPr>
            <a:xfrm>
              <a:off x="4979458" y="5545667"/>
              <a:ext cx="920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아웃바운드</a:t>
              </a:r>
            </a:p>
          </p:txBody>
        </p:sp>
        <p:cxnSp>
          <p:nvCxnSpPr>
            <p:cNvPr id="90" name="Connector 89"/>
            <p:cNvCxnSpPr/>
            <p:nvPr/>
          </p:nvCxnSpPr>
          <p:spPr>
            <a:xfrm>
              <a:off x="9906000" y="3962400"/>
              <a:ext cx="0" cy="1502833"/>
            </a:xfrm>
            <a:prstGeom prst="line">
              <a:avLst/>
            </a:prstGeom>
            <a:ln w="15875">
              <a:solidFill>
                <a:srgbClr val="232F3E"/>
              </a:solidFill>
              <a:custDash>
                <a:ds d="333333" sp="266667"/>
              </a:custDash>
              <a:miter lim="800000"/>
              <a:tailEnd type="triangle" w="med" len="med"/>
            </a:ln>
          </p:spPr>
        </p:cxnSp>
        <p:sp>
          <p:nvSpPr>
            <p:cNvPr id="91" name="TextBox 90"/>
            <p:cNvSpPr txBox="1"/>
            <p:nvPr/>
          </p:nvSpPr>
          <p:spPr>
            <a:xfrm>
              <a:off x="10011833" y="4624917"/>
              <a:ext cx="100806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동기식 복제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Distributed inspection with Gateway Load Balancer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06255" y="956733"/>
            <a:ext cx="11547078" cy="5630333"/>
            <a:chOff x="306255" y="956733"/>
            <a:chExt cx="11547078" cy="5630333"/>
          </a:xfrm>
        </p:grpSpPr>
        <p:pic>
          <p:nvPicPr>
            <p:cNvPr id="4" name="Users" descr="Users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3845983"/>
              <a:ext cx="508000" cy="508000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306255" y="4403725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Users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1778000" y="956733"/>
              <a:ext cx="10075333" cy="5630333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" name="AWS-Cloud-logo_32" descr="AWS Cloud logo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778000" y="956733"/>
              <a:ext cx="338667" cy="338667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2222500" y="1038754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1989667" y="1358900"/>
              <a:ext cx="9736667" cy="5122333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0" name="Region_32" descr="Region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989667" y="1358900"/>
              <a:ext cx="254000" cy="254000"/>
            </a:xfrm>
            <a:prstGeom prst="rect">
              <a:avLst/>
            </a:prstGeom>
          </p:spPr>
        </p:pic>
        <p:sp>
          <p:nvSpPr>
            <p:cNvPr id="11" name="TextBox 10"/>
            <p:cNvSpPr txBox="1"/>
            <p:nvPr/>
          </p:nvSpPr>
          <p:spPr>
            <a:xfrm>
              <a:off x="2328333" y="1408642"/>
              <a:ext cx="75935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320521" y="1428750"/>
              <a:ext cx="827881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IGW → GWLBe (인그레스 라우팅)  ② GWLBe → GWLB  ③ 방화벽 검사 후 같은 경로로 반환  ④ GWLBe → EC2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624667" y="1655233"/>
              <a:ext cx="5101167" cy="47201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24667" y="1655233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2963333" y="1704975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Application VPC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36333" y="1951567"/>
              <a:ext cx="4677833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9633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836333" y="4682067"/>
              <a:ext cx="4677833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963333" y="4731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2963333" y="2226733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63333" y="2226733"/>
              <a:ext cx="254000" cy="254000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302000" y="2276475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5799667" y="2226733"/>
              <a:ext cx="1587500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9667" y="2226733"/>
              <a:ext cx="254000" cy="254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6138333" y="22764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2963333" y="4957233"/>
              <a:ext cx="2582333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2963333" y="4957233"/>
              <a:ext cx="254000" cy="254000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3302000" y="5006975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GWLBe subnet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5799667" y="4957233"/>
              <a:ext cx="1587500" cy="1206500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0" name="Public-subnet_32" descr="Public subnet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99667" y="4957233"/>
              <a:ext cx="254000" cy="254000"/>
            </a:xfrm>
            <a:prstGeom prst="rect">
              <a:avLst/>
            </a:prstGeom>
          </p:spPr>
        </p:pic>
        <p:sp>
          <p:nvSpPr>
            <p:cNvPr id="31" name="TextBox 30"/>
            <p:cNvSpPr txBox="1"/>
            <p:nvPr/>
          </p:nvSpPr>
          <p:spPr>
            <a:xfrm>
              <a:off x="6138333" y="5006975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32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826000" y="2565400"/>
              <a:ext cx="508000" cy="508000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4751255" y="31231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4" name="Amazon-VPC_Endpoints" descr="Amazon VPC_Endpoints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826000" y="5295900"/>
              <a:ext cx="508000" cy="508000"/>
            </a:xfrm>
            <a:prstGeom prst="rect">
              <a:avLst/>
            </a:prstGeom>
          </p:spPr>
        </p:pic>
        <p:sp>
          <p:nvSpPr>
            <p:cNvPr id="35" name="TextBox 34"/>
            <p:cNvSpPr txBox="1"/>
            <p:nvPr/>
          </p:nvSpPr>
          <p:spPr>
            <a:xfrm>
              <a:off x="4751255" y="5853642"/>
              <a:ext cx="65749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GWLBe</a:t>
              </a:r>
            </a:p>
          </p:txBody>
        </p:sp>
        <p:pic>
          <p:nvPicPr>
            <p:cNvPr id="36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39417" y="2565400"/>
              <a:ext cx="508000" cy="508000"/>
            </a:xfrm>
            <a:prstGeom prst="rect">
              <a:avLst/>
            </a:prstGeom>
          </p:spPr>
        </p:pic>
        <p:sp>
          <p:nvSpPr>
            <p:cNvPr id="37" name="TextBox 36"/>
            <p:cNvSpPr txBox="1"/>
            <p:nvPr/>
          </p:nvSpPr>
          <p:spPr>
            <a:xfrm>
              <a:off x="6366536" y="312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38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39417" y="5295900"/>
              <a:ext cx="508000" cy="508000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6366536" y="5853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2370667" y="3845983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1" name="Amazon-VPC_Internet-Gateway" descr="Amazon VPC_Internet Gateway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2370667" y="3845983"/>
              <a:ext cx="508000" cy="508000"/>
            </a:xfrm>
            <a:prstGeom prst="rect">
              <a:avLst/>
            </a:prstGeom>
          </p:spPr>
        </p:pic>
        <p:sp>
          <p:nvSpPr>
            <p:cNvPr id="42" name="TextBox 41"/>
            <p:cNvSpPr txBox="1"/>
            <p:nvPr/>
          </p:nvSpPr>
          <p:spPr>
            <a:xfrm>
              <a:off x="2397786" y="4403725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8064500" y="1655233"/>
              <a:ext cx="3534833" cy="47201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Virtual-private-cloud-VPC_32" descr="Virtual private cloud VPC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064500" y="1655233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8403167" y="1704975"/>
              <a:ext cx="137054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Security VPC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8276167" y="1951567"/>
              <a:ext cx="3111500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403167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8276167" y="4682067"/>
              <a:ext cx="3111500" cy="1566333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8403167" y="4731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8403167" y="2226733"/>
              <a:ext cx="285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1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403167" y="2226733"/>
              <a:ext cx="254000" cy="254000"/>
            </a:xfrm>
            <a:prstGeom prst="rect">
              <a:avLst/>
            </a:prstGeom>
          </p:spPr>
        </p:pic>
        <p:sp>
          <p:nvSpPr>
            <p:cNvPr id="52" name="TextBox 51"/>
            <p:cNvSpPr txBox="1"/>
            <p:nvPr/>
          </p:nvSpPr>
          <p:spPr>
            <a:xfrm>
              <a:off x="8741833" y="2276475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403167" y="4957233"/>
              <a:ext cx="2857500" cy="1206500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4" name="Private-subnet_32" descr="Private subnet_32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403167" y="4957233"/>
              <a:ext cx="254000" cy="254000"/>
            </a:xfrm>
            <a:prstGeom prst="rect">
              <a:avLst/>
            </a:prstGeom>
          </p:spPr>
        </p:pic>
        <p:sp>
          <p:nvSpPr>
            <p:cNvPr id="55" name="TextBox 54"/>
            <p:cNvSpPr txBox="1"/>
            <p:nvPr/>
          </p:nvSpPr>
          <p:spPr>
            <a:xfrm>
              <a:off x="8741833" y="5006975"/>
              <a:ext cx="177800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Appliance subnet</a:t>
              </a:r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0287000" y="2269067"/>
              <a:ext cx="846667" cy="3831167"/>
            </a:xfrm>
            <a:prstGeom prst="rect">
              <a:avLst/>
            </a:prstGeom>
            <a:noFill/>
            <a:ln w="15875">
              <a:solidFill>
                <a:srgbClr val="ED7100"/>
              </a:solidFill>
              <a:custDash>
                <a:ds d="400000" sp="20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7" name="Auto-Scaling-group_32" descr="Auto Scaling group_32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10287000" y="2269067"/>
              <a:ext cx="254000" cy="254000"/>
            </a:xfrm>
            <a:prstGeom prst="rect">
              <a:avLst/>
            </a:prstGeom>
          </p:spPr>
        </p:pic>
        <p:sp>
          <p:nvSpPr>
            <p:cNvPr id="58" name="TextBox 57"/>
            <p:cNvSpPr txBox="1"/>
            <p:nvPr/>
          </p:nvSpPr>
          <p:spPr>
            <a:xfrm>
              <a:off x="10625667" y="2328862"/>
              <a:ext cx="421349" cy="17885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83" b="1" lang="ko-KR">
                  <a:solidFill>
                    <a:srgbClr val="ED7100"/>
                  </a:solidFill>
                  <a:latin typeface="Arial"/>
                  <a:ea typeface="Malgun Gothic"/>
                  <a:cs typeface="Malgun Gothic"/>
                </a:rPr>
                <a:t>ASG</a:t>
              </a:r>
            </a:p>
          </p:txBody>
        </p:sp>
        <p:pic>
          <p:nvPicPr>
            <p:cNvPr id="59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456333" y="2565400"/>
              <a:ext cx="508000" cy="508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10358438" y="31231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1" name="Amazon-EC2" descr="Amazon EC2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0456333" y="5295900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10358438" y="5853642"/>
              <a:ext cx="703792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방화벽</a:t>
              </a:r>
            </a:p>
          </p:txBody>
        </p:sp>
        <p:pic>
          <p:nvPicPr>
            <p:cNvPr id="63" name="Elastic-Load-Balancing_Gateway-Load-Balancer" descr="Elastic Load Balancing_Gateway Load Balancer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080500" y="3845983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9056688" y="4403725"/>
              <a:ext cx="55562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GWLB</a:t>
              </a:r>
            </a:p>
          </p:txBody>
        </p:sp>
        <p:sp>
          <p:nvSpPr>
            <p:cNvPr id="65" name="Freeform 64"/>
            <p:cNvSpPr/>
            <p:nvPr/>
          </p:nvSpPr>
          <p:spPr>
            <a:xfrm>
              <a:off x="2921000" y="2819400"/>
              <a:ext cx="1862667" cy="1280583"/>
            </a:xfrm>
            <a:custGeom>
              <a:avLst/>
              <a:gdLst/>
              <a:ahLst/>
              <a:cxnLst/>
              <a:rect l="l" t="t" r="r" b="b"/>
              <a:pathLst>
                <a:path w="1862667" h="1280583">
                  <a:moveTo>
                    <a:pt x="0" y="1280583"/>
                  </a:moveTo>
                  <a:lnTo>
                    <a:pt x="1651000" y="1280583"/>
                  </a:lnTo>
                  <a:lnTo>
                    <a:pt x="1651000" y="0"/>
                  </a:lnTo>
                  <a:lnTo>
                    <a:pt x="18626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Freeform 65"/>
            <p:cNvSpPr/>
            <p:nvPr/>
          </p:nvSpPr>
          <p:spPr>
            <a:xfrm>
              <a:off x="2921000" y="4099983"/>
              <a:ext cx="1862667" cy="1449917"/>
            </a:xfrm>
            <a:custGeom>
              <a:avLst/>
              <a:gdLst/>
              <a:ahLst/>
              <a:cxnLst/>
              <a:rect l="l" t="t" r="r" b="b"/>
              <a:pathLst>
                <a:path w="1862667" h="1449917">
                  <a:moveTo>
                    <a:pt x="0" y="0"/>
                  </a:moveTo>
                  <a:lnTo>
                    <a:pt x="1651000" y="0"/>
                  </a:lnTo>
                  <a:lnTo>
                    <a:pt x="1651000" y="1449917"/>
                  </a:lnTo>
                  <a:lnTo>
                    <a:pt x="1862667" y="144991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5376333" y="28194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68" name="Connector 67"/>
            <p:cNvCxnSpPr/>
            <p:nvPr/>
          </p:nvCxnSpPr>
          <p:spPr>
            <a:xfrm>
              <a:off x="5376333" y="5549900"/>
              <a:ext cx="92075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69" name="Freeform 68"/>
            <p:cNvSpPr/>
            <p:nvPr/>
          </p:nvSpPr>
          <p:spPr>
            <a:xfrm>
              <a:off x="5080000" y="3348567"/>
              <a:ext cx="3958167" cy="751416"/>
            </a:xfrm>
            <a:custGeom>
              <a:avLst/>
              <a:gdLst/>
              <a:ahLst/>
              <a:cxnLst/>
              <a:rect l="l" t="t" r="r" b="b"/>
              <a:pathLst>
                <a:path w="3958167" h="751416">
                  <a:moveTo>
                    <a:pt x="3958167" y="751416"/>
                  </a:moveTo>
                  <a:lnTo>
                    <a:pt x="0" y="751416"/>
                  </a:lnTo>
                  <a:lnTo>
                    <a:pt x="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Freeform 69"/>
            <p:cNvSpPr/>
            <p:nvPr/>
          </p:nvSpPr>
          <p:spPr>
            <a:xfrm>
              <a:off x="5080000" y="4099983"/>
              <a:ext cx="3958167" cy="1153584"/>
            </a:xfrm>
            <a:custGeom>
              <a:avLst/>
              <a:gdLst/>
              <a:ahLst/>
              <a:cxnLst/>
              <a:rect l="l" t="t" r="r" b="b"/>
              <a:pathLst>
                <a:path w="3958167" h="1153584">
                  <a:moveTo>
                    <a:pt x="3958167" y="0"/>
                  </a:moveTo>
                  <a:lnTo>
                    <a:pt x="0" y="0"/>
                  </a:lnTo>
                  <a:lnTo>
                    <a:pt x="0" y="1153584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TextBox 70"/>
            <p:cNvSpPr txBox="1"/>
            <p:nvPr/>
          </p:nvSpPr>
          <p:spPr>
            <a:xfrm>
              <a:off x="5847292" y="3894667"/>
              <a:ext cx="1174750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GENEVE :6081</a:t>
              </a:r>
            </a:p>
          </p:txBody>
        </p:sp>
        <p:cxnSp>
          <p:nvCxnSpPr>
            <p:cNvPr id="72" name="Connector 71"/>
            <p:cNvCxnSpPr/>
            <p:nvPr/>
          </p:nvCxnSpPr>
          <p:spPr>
            <a:xfrm>
              <a:off x="9630833" y="4099983"/>
              <a:ext cx="6138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sp>
          <p:nvSpPr>
            <p:cNvPr id="73" name="Oval 72"/>
            <p:cNvSpPr/>
            <p:nvPr/>
          </p:nvSpPr>
          <p:spPr>
            <a:xfrm>
              <a:off x="3640667" y="37824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3639344" y="38100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75" name="Oval 74"/>
            <p:cNvSpPr/>
            <p:nvPr/>
          </p:nvSpPr>
          <p:spPr>
            <a:xfrm>
              <a:off x="8445500" y="37824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8444177" y="38100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77" name="Oval 76"/>
            <p:cNvSpPr/>
            <p:nvPr/>
          </p:nvSpPr>
          <p:spPr>
            <a:xfrm>
              <a:off x="9831917" y="378248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TextBox 77"/>
            <p:cNvSpPr txBox="1"/>
            <p:nvPr/>
          </p:nvSpPr>
          <p:spPr>
            <a:xfrm>
              <a:off x="9830594" y="381000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79" name="Oval 78"/>
            <p:cNvSpPr/>
            <p:nvPr/>
          </p:nvSpPr>
          <p:spPr>
            <a:xfrm>
              <a:off x="5566833" y="25442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TextBox 79"/>
            <p:cNvSpPr txBox="1"/>
            <p:nvPr/>
          </p:nvSpPr>
          <p:spPr>
            <a:xfrm>
              <a:off x="5565510" y="25717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81" name="Oval 80"/>
            <p:cNvSpPr/>
            <p:nvPr/>
          </p:nvSpPr>
          <p:spPr>
            <a:xfrm>
              <a:off x="5566833" y="5274733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5565510" y="5302250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cxnSp>
          <p:nvCxnSpPr>
            <p:cNvPr id="83" name="Connector 82"/>
            <p:cNvCxnSpPr/>
            <p:nvPr/>
          </p:nvCxnSpPr>
          <p:spPr>
            <a:xfrm>
              <a:off x="931333" y="4099983"/>
              <a:ext cx="13970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TextBox 83"/>
            <p:cNvSpPr txBox="1"/>
            <p:nvPr/>
          </p:nvSpPr>
          <p:spPr>
            <a:xfrm>
              <a:off x="854604" y="3884083"/>
              <a:ext cx="10001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HTTPS :443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Transit Gateway hub and spoke across two Regions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408444" y="1107966"/>
            <a:ext cx="11375112" cy="5327869"/>
            <a:chOff x="408444" y="1107966"/>
            <a:chExt cx="11375112" cy="5327869"/>
          </a:xfrm>
        </p:grpSpPr>
        <p:sp>
          <p:nvSpPr>
            <p:cNvPr id="4" name="Rectangle 3"/>
            <p:cNvSpPr/>
            <p:nvPr/>
          </p:nvSpPr>
          <p:spPr>
            <a:xfrm>
              <a:off x="408444" y="3131207"/>
              <a:ext cx="1933320" cy="1281386"/>
            </a:xfrm>
            <a:prstGeom prst="rect">
              <a:avLst/>
            </a:prstGeom>
            <a:noFill/>
            <a:ln w="22480">
              <a:solidFill>
                <a:srgbClr val="7D8998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Corporate-data-center_32" descr="Corporate data center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8444" y="3131207"/>
              <a:ext cx="269766" cy="269766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768131" y="3184036"/>
              <a:ext cx="1347423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39" b="1" lang="ko-KR">
                  <a:solidFill>
                    <a:srgbClr val="7D8998"/>
                  </a:solidFill>
                  <a:latin typeface="Arial"/>
                  <a:ea typeface="Malgun Gothic"/>
                  <a:cs typeface="Malgun Gothic"/>
                </a:rPr>
                <a:t>On-premises</a:t>
              </a:r>
            </a:p>
          </p:txBody>
        </p:sp>
        <p:pic>
          <p:nvPicPr>
            <p:cNvPr id="7" name="Amazon-VPC_Customer-Gateway" descr="Amazon VPC_Customer Gateway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5338" y="3513375"/>
              <a:ext cx="539531" cy="539531"/>
            </a:xfrm>
            <a:prstGeom prst="rect">
              <a:avLst/>
            </a:prstGeom>
          </p:spPr>
        </p:pic>
        <p:sp>
          <p:nvSpPr>
            <p:cNvPr id="8" name="TextBox 7"/>
            <p:cNvSpPr txBox="1"/>
            <p:nvPr/>
          </p:nvSpPr>
          <p:spPr>
            <a:xfrm>
              <a:off x="430924" y="4105735"/>
              <a:ext cx="1888359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Customer gateway</a:t>
              </a:r>
            </a:p>
          </p:txBody>
        </p:sp>
        <p:pic>
          <p:nvPicPr>
            <p:cNvPr id="9" name="Internet" descr="Internet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723931" y="3513375"/>
              <a:ext cx="539531" cy="539531"/>
            </a:xfrm>
            <a:prstGeom prst="rect">
              <a:avLst/>
            </a:prstGeom>
          </p:spPr>
        </p:pic>
        <p:sp>
          <p:nvSpPr>
            <p:cNvPr id="10" name="TextBox 9"/>
            <p:cNvSpPr txBox="1"/>
            <p:nvPr/>
          </p:nvSpPr>
          <p:spPr>
            <a:xfrm>
              <a:off x="2482266" y="4105735"/>
              <a:ext cx="102286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1689830" y="3783140"/>
              <a:ext cx="989140" cy="0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12" name="Connector 11"/>
            <p:cNvCxnSpPr/>
            <p:nvPr/>
          </p:nvCxnSpPr>
          <p:spPr>
            <a:xfrm>
              <a:off x="3308423" y="3783140"/>
              <a:ext cx="562011" cy="0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3" name="TextBox 12"/>
            <p:cNvSpPr txBox="1"/>
            <p:nvPr/>
          </p:nvSpPr>
          <p:spPr>
            <a:xfrm>
              <a:off x="3290158" y="3553840"/>
              <a:ext cx="598542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62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IPsec</a:t>
              </a:r>
            </a:p>
          </p:txBody>
        </p:sp>
        <p:pic>
          <p:nvPicPr>
            <p:cNvPr id="14" name="AWS-Site-to-Site-VPN" descr="AWS Site to Site VPN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15395" y="3513375"/>
              <a:ext cx="539531" cy="539531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3240982" y="4105735"/>
              <a:ext cx="1888359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Site-to-Site VPN</a:t>
              </a:r>
            </a:p>
          </p:txBody>
        </p:sp>
        <p:cxnSp>
          <p:nvCxnSpPr>
            <p:cNvPr id="16" name="Connector 15"/>
            <p:cNvCxnSpPr/>
            <p:nvPr/>
          </p:nvCxnSpPr>
          <p:spPr>
            <a:xfrm>
              <a:off x="4499887" y="3783140"/>
              <a:ext cx="1933320" cy="0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17" name="Rectangle 16"/>
            <p:cNvSpPr/>
            <p:nvPr/>
          </p:nvSpPr>
          <p:spPr>
            <a:xfrm>
              <a:off x="5039418" y="1107966"/>
              <a:ext cx="6744138" cy="5327869"/>
            </a:xfrm>
            <a:prstGeom prst="rect">
              <a:avLst/>
            </a:prstGeom>
            <a:noFill/>
            <a:ln w="2248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8" name="AWS-Cloud-logo_32" descr="AWS Cloud logo_3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039418" y="1107966"/>
              <a:ext cx="359687" cy="359687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5511508" y="1195077"/>
              <a:ext cx="1211837" cy="219184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327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264223" y="1557575"/>
              <a:ext cx="3147264" cy="4406170"/>
            </a:xfrm>
            <a:prstGeom prst="rect">
              <a:avLst/>
            </a:prstGeom>
            <a:noFill/>
            <a:ln w="22480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264223" y="1557575"/>
              <a:ext cx="269766" cy="269766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5623910" y="1610404"/>
              <a:ext cx="2429295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39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pic>
          <p:nvPicPr>
            <p:cNvPr id="23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478168" y="3513375"/>
              <a:ext cx="539531" cy="539531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5857848" y="4105735"/>
              <a:ext cx="178017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25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803754" y="2007184"/>
              <a:ext cx="539531" cy="539531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5453902" y="2599544"/>
              <a:ext cx="1239235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Shared VPC</a:t>
              </a:r>
            </a:p>
          </p:txBody>
        </p:sp>
        <p:pic>
          <p:nvPicPr>
            <p:cNvPr id="27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152582" y="2007184"/>
              <a:ext cx="539531" cy="539531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6910917" y="2599544"/>
              <a:ext cx="102286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Prod VPC</a:t>
              </a:r>
            </a:p>
          </p:txBody>
        </p:sp>
        <p:pic>
          <p:nvPicPr>
            <p:cNvPr id="29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803754" y="5019566"/>
              <a:ext cx="539531" cy="539531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5616183" y="5611926"/>
              <a:ext cx="914674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Dev VPC</a:t>
              </a:r>
            </a:p>
          </p:txBody>
        </p:sp>
        <p:pic>
          <p:nvPicPr>
            <p:cNvPr id="31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7152582" y="5019566"/>
              <a:ext cx="539531" cy="539531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6910917" y="5611926"/>
              <a:ext cx="102286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Test VPC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6073520" y="2838961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562011" y="629453"/>
                  </a:moveTo>
                  <a:lnTo>
                    <a:pt x="562011" y="314726"/>
                  </a:lnTo>
                  <a:lnTo>
                    <a:pt x="0" y="314726"/>
                  </a:lnTo>
                  <a:lnTo>
                    <a:pt x="0" y="0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Freeform 33"/>
            <p:cNvSpPr/>
            <p:nvPr/>
          </p:nvSpPr>
          <p:spPr>
            <a:xfrm>
              <a:off x="6860336" y="2838961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0" y="629453"/>
                  </a:moveTo>
                  <a:lnTo>
                    <a:pt x="0" y="314726"/>
                  </a:lnTo>
                  <a:lnTo>
                    <a:pt x="562011" y="314726"/>
                  </a:lnTo>
                  <a:lnTo>
                    <a:pt x="562011" y="0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6073520" y="4345152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562011" y="0"/>
                  </a:moveTo>
                  <a:lnTo>
                    <a:pt x="562011" y="314726"/>
                  </a:lnTo>
                  <a:lnTo>
                    <a:pt x="0" y="314726"/>
                  </a:lnTo>
                  <a:lnTo>
                    <a:pt x="0" y="629453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Freeform 35"/>
            <p:cNvSpPr/>
            <p:nvPr/>
          </p:nvSpPr>
          <p:spPr>
            <a:xfrm>
              <a:off x="6860336" y="4345152"/>
              <a:ext cx="562011" cy="629453"/>
            </a:xfrm>
            <a:custGeom>
              <a:avLst/>
              <a:gdLst/>
              <a:ahLst/>
              <a:cxnLst/>
              <a:rect l="l" t="t" r="r" b="b"/>
              <a:pathLst>
                <a:path w="562011" h="629453">
                  <a:moveTo>
                    <a:pt x="0" y="0"/>
                  </a:moveTo>
                  <a:lnTo>
                    <a:pt x="0" y="314726"/>
                  </a:lnTo>
                  <a:lnTo>
                    <a:pt x="562011" y="314726"/>
                  </a:lnTo>
                  <a:lnTo>
                    <a:pt x="562011" y="629453"/>
                  </a:lnTo>
                </a:path>
              </a:pathLst>
            </a:custGeom>
            <a:noFill/>
            <a:ln w="16860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861097" y="1557575"/>
              <a:ext cx="2697655" cy="4406170"/>
            </a:xfrm>
            <a:prstGeom prst="rect">
              <a:avLst/>
            </a:prstGeom>
            <a:noFill/>
            <a:ln w="22480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8" name="Region_32" descr="Region_32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861097" y="1557575"/>
              <a:ext cx="269766" cy="269766"/>
            </a:xfrm>
            <a:prstGeom prst="rect">
              <a:avLst/>
            </a:prstGeom>
          </p:spPr>
        </p:pic>
        <p:sp>
          <p:nvSpPr>
            <p:cNvPr id="39" name="TextBox 38"/>
            <p:cNvSpPr txBox="1"/>
            <p:nvPr/>
          </p:nvSpPr>
          <p:spPr>
            <a:xfrm>
              <a:off x="9220784" y="1610404"/>
              <a:ext cx="2429295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39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ap-northeast-1</a:t>
              </a:r>
            </a:p>
          </p:txBody>
        </p:sp>
        <p:pic>
          <p:nvPicPr>
            <p:cNvPr id="40" name="AWS-Transit-Gateway" descr="AWS Transit Gateway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940159" y="3513375"/>
              <a:ext cx="539531" cy="539531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9319838" y="4105735"/>
              <a:ext cx="1780171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Transit Gateway</a:t>
              </a:r>
            </a:p>
          </p:txBody>
        </p:sp>
        <p:pic>
          <p:nvPicPr>
            <p:cNvPr id="42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940159" y="2007184"/>
              <a:ext cx="539531" cy="539531"/>
            </a:xfrm>
            <a:prstGeom prst="rect">
              <a:avLst/>
            </a:prstGeom>
          </p:spPr>
        </p:pic>
        <p:sp>
          <p:nvSpPr>
            <p:cNvPr id="43" name="TextBox 42"/>
            <p:cNvSpPr txBox="1"/>
            <p:nvPr/>
          </p:nvSpPr>
          <p:spPr>
            <a:xfrm>
              <a:off x="9806681" y="2599544"/>
              <a:ext cx="806486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DR VPC</a:t>
              </a:r>
            </a:p>
          </p:txBody>
        </p:sp>
        <p:pic>
          <p:nvPicPr>
            <p:cNvPr id="44" name="Amazon-Virtual-Private-Cloud" descr="Amazon Virtual Private Cloud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940159" y="5019566"/>
              <a:ext cx="539531" cy="539531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9428026" y="5611926"/>
              <a:ext cx="1563797" cy="204572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239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Analytics VPC</a:t>
              </a:r>
            </a:p>
          </p:txBody>
        </p:sp>
        <p:cxnSp>
          <p:nvCxnSpPr>
            <p:cNvPr id="46" name="Connector 45"/>
            <p:cNvCxnSpPr/>
            <p:nvPr/>
          </p:nvCxnSpPr>
          <p:spPr>
            <a:xfrm flipV="1">
              <a:off x="10209924" y="2838961"/>
              <a:ext cx="0" cy="629453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7" name="Connector 46"/>
            <p:cNvCxnSpPr/>
            <p:nvPr/>
          </p:nvCxnSpPr>
          <p:spPr>
            <a:xfrm>
              <a:off x="10209924" y="4345152"/>
              <a:ext cx="0" cy="629453"/>
            </a:xfrm>
            <a:prstGeom prst="line">
              <a:avLst/>
            </a:prstGeom>
            <a:ln w="16860">
              <a:solidFill>
                <a:srgbClr val="232F3E"/>
              </a:solidFill>
              <a:prstDash val="solid"/>
              <a:miter lim="800000"/>
            </a:ln>
          </p:spPr>
        </p:cxnSp>
        <p:cxnSp>
          <p:nvCxnSpPr>
            <p:cNvPr id="48" name="Connector 47"/>
            <p:cNvCxnSpPr/>
            <p:nvPr/>
          </p:nvCxnSpPr>
          <p:spPr>
            <a:xfrm>
              <a:off x="7062660" y="3783140"/>
              <a:ext cx="2832538" cy="0"/>
            </a:xfrm>
            <a:prstGeom prst="line">
              <a:avLst/>
            </a:prstGeom>
            <a:ln w="28101">
              <a:solidFill>
                <a:srgbClr val="232F3E"/>
              </a:solidFill>
              <a:prstDash val="solid"/>
              <a:miter lim="800000"/>
            </a:ln>
          </p:spPr>
        </p:cxnSp>
        <p:sp>
          <p:nvSpPr>
            <p:cNvPr id="49" name="TextBox 48"/>
            <p:cNvSpPr txBox="1"/>
            <p:nvPr/>
          </p:nvSpPr>
          <p:spPr>
            <a:xfrm>
              <a:off x="7137126" y="3553840"/>
              <a:ext cx="1154934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62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peering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854716" y="3857326"/>
              <a:ext cx="1719755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6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리전 간 · AWS 백본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3474216" y="6105372"/>
              <a:ext cx="8084535" cy="175348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r">
                <a:lnSpc>
                  <a:spcPct val="100000"/>
                </a:lnSpc>
              </a:pPr>
              <a:r>
                <a:rPr sz="1062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Hub &amp; spoke: VPC는 리전의 TGW에 attachment로 연결 · 리전 간에는 TGW peering (정적 라우팅)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228600" y="228600"/>
            <a:ext cx="1173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400" b="1" lang="ko-KR">
                <a:solidFill>
                  <a:srgbClr val="232F3E"/>
                </a:solidFill>
                <a:latin typeface="Arial"/>
                <a:ea typeface="Malgun Gothic"/>
                <a:cs typeface="Malgun Gothic"/>
              </a:rPr>
              <a:t>Centralized inspection with AWS Network Firewall</a:t>
            </a:r>
          </a:p>
        </p:txBody>
      </p:sp>
      <p:grpSp>
        <p:nvGrpSpPr>
          <p:cNvPr id="3" name="Architecture diagram"/>
          <p:cNvGrpSpPr/>
          <p:nvPr/>
        </p:nvGrpSpPr>
        <p:grpSpPr>
          <a:xfrm>
            <a:off x="381000" y="999067"/>
            <a:ext cx="11657541" cy="5590116"/>
            <a:chOff x="381000" y="999067"/>
            <a:chExt cx="11657541" cy="5590116"/>
          </a:xfrm>
        </p:grpSpPr>
        <p:sp>
          <p:nvSpPr>
            <p:cNvPr id="4" name="Rectangle 3"/>
            <p:cNvSpPr/>
            <p:nvPr/>
          </p:nvSpPr>
          <p:spPr>
            <a:xfrm>
              <a:off x="381000" y="999067"/>
              <a:ext cx="10625667" cy="5270500"/>
            </a:xfrm>
            <a:prstGeom prst="rect">
              <a:avLst/>
            </a:prstGeom>
            <a:noFill/>
            <a:ln w="21167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" name="AWS-Cloud-logo_32" descr="AWS Cloud logo_32"/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1000" y="999067"/>
              <a:ext cx="338667" cy="338667"/>
            </a:xfrm>
            <a:prstGeom prst="rect">
              <a:avLst/>
            </a:prstGeom>
          </p:spPr>
        </p:pic>
        <p:sp>
          <p:nvSpPr>
            <p:cNvPr id="6" name="TextBox 5"/>
            <p:cNvSpPr txBox="1"/>
            <p:nvPr/>
          </p:nvSpPr>
          <p:spPr>
            <a:xfrm>
              <a:off x="825500" y="1081088"/>
              <a:ext cx="1141016" cy="206375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250" b="1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Cloud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592667" y="1380067"/>
              <a:ext cx="10202333" cy="4847167"/>
            </a:xfrm>
            <a:prstGeom prst="rect">
              <a:avLst/>
            </a:prstGeom>
            <a:noFill/>
            <a:ln w="21167">
              <a:solidFill>
                <a:srgbClr val="00A4A6"/>
              </a:solidFill>
              <a:custDash>
                <a:ds d="150000" sp="150000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" name="Region_32" descr="Region_32"/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2667" y="1380067"/>
              <a:ext cx="254000" cy="254000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931333" y="1429808"/>
              <a:ext cx="228732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Region ap-northeast-2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62000" y="1909233"/>
              <a:ext cx="2116667" cy="1481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1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1909233"/>
              <a:ext cx="254000" cy="254000"/>
            </a:xfrm>
            <a:prstGeom prst="rect">
              <a:avLst/>
            </a:prstGeom>
          </p:spPr>
        </p:pic>
        <p:sp>
          <p:nvSpPr>
            <p:cNvPr id="12" name="TextBox 11"/>
            <p:cNvSpPr txBox="1"/>
            <p:nvPr/>
          </p:nvSpPr>
          <p:spPr>
            <a:xfrm>
              <a:off x="1100667" y="19589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A 10.1.0.0/16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89000" y="2205567"/>
              <a:ext cx="1862667" cy="1100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2205567"/>
              <a:ext cx="254000" cy="254000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1227667" y="225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16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2501900"/>
              <a:ext cx="508000" cy="508000"/>
            </a:xfrm>
            <a:prstGeom prst="rect">
              <a:avLst/>
            </a:prstGeom>
          </p:spPr>
        </p:pic>
        <p:sp>
          <p:nvSpPr>
            <p:cNvPr id="17" name="TextBox 16"/>
            <p:cNvSpPr txBox="1"/>
            <p:nvPr/>
          </p:nvSpPr>
          <p:spPr>
            <a:xfrm>
              <a:off x="1593453" y="30596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62000" y="4512733"/>
              <a:ext cx="2116667" cy="1481667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9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2000" y="4512733"/>
              <a:ext cx="254000" cy="254000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1100667" y="4562475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VPC B 10.2.0.0/16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889000" y="4809067"/>
              <a:ext cx="1862667" cy="1100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2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9000" y="4809067"/>
              <a:ext cx="254000" cy="254000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227667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App subnet</a:t>
              </a:r>
            </a:p>
          </p:txBody>
        </p:sp>
        <p:pic>
          <p:nvPicPr>
            <p:cNvPr id="24" name="Amazon-EC2" descr="Amazon EC2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566333" y="5105400"/>
              <a:ext cx="508000" cy="508000"/>
            </a:xfrm>
            <a:prstGeom prst="rect">
              <a:avLst/>
            </a:prstGeom>
          </p:spPr>
        </p:pic>
        <p:sp>
          <p:nvSpPr>
            <p:cNvPr id="25" name="TextBox 24"/>
            <p:cNvSpPr txBox="1"/>
            <p:nvPr/>
          </p:nvSpPr>
          <p:spPr>
            <a:xfrm>
              <a:off x="1593453" y="5663142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EC2</a:t>
              </a:r>
            </a:p>
          </p:txBody>
        </p:sp>
        <p:pic>
          <p:nvPicPr>
            <p:cNvPr id="26" name="AWS-Transit-Gateway" descr="AWS Transit Gateway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534833" y="3729567"/>
              <a:ext cx="508000" cy="508000"/>
            </a:xfrm>
            <a:prstGeom prst="rect">
              <a:avLst/>
            </a:prstGeom>
          </p:spPr>
        </p:pic>
        <p:sp>
          <p:nvSpPr>
            <p:cNvPr id="27" name="TextBox 26"/>
            <p:cNvSpPr txBox="1"/>
            <p:nvPr/>
          </p:nvSpPr>
          <p:spPr>
            <a:xfrm>
              <a:off x="3561953" y="4287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</a:t>
              </a:r>
            </a:p>
          </p:txBody>
        </p:sp>
        <p:pic>
          <p:nvPicPr>
            <p:cNvPr id="28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534833" y="2501900"/>
              <a:ext cx="508000" cy="5080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3154495" y="305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RT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130021" y="3249083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VPC A · B 전파</a:t>
              </a:r>
            </a:p>
          </p:txBody>
        </p:sp>
        <p:pic>
          <p:nvPicPr>
            <p:cNvPr id="31" name="Amazon-Route-53_Route-Table" descr="Amazon Route 53_Route Table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534833" y="5105400"/>
              <a:ext cx="508000" cy="508000"/>
            </a:xfrm>
            <a:prstGeom prst="rect">
              <a:avLst/>
            </a:prstGeom>
          </p:spPr>
        </p:pic>
        <p:sp>
          <p:nvSpPr>
            <p:cNvPr id="32" name="TextBox 31"/>
            <p:cNvSpPr txBox="1"/>
            <p:nvPr/>
          </p:nvSpPr>
          <p:spPr>
            <a:xfrm>
              <a:off x="3307292" y="5663142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Spoke RT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130021" y="5852583"/>
              <a:ext cx="1317625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0/0 → 검사 VPC</a:t>
              </a:r>
            </a:p>
          </p:txBody>
        </p:sp>
        <p:sp>
          <p:nvSpPr>
            <p:cNvPr id="34" name="Freeform 33"/>
            <p:cNvSpPr/>
            <p:nvPr/>
          </p:nvSpPr>
          <p:spPr>
            <a:xfrm>
              <a:off x="2921000" y="2755900"/>
              <a:ext cx="571500" cy="1143000"/>
            </a:xfrm>
            <a:custGeom>
              <a:avLst/>
              <a:gdLst/>
              <a:ahLst/>
              <a:cxnLst/>
              <a:rect l="l" t="t" r="r" b="b"/>
              <a:pathLst>
                <a:path w="571500" h="1143000">
                  <a:moveTo>
                    <a:pt x="0" y="0"/>
                  </a:moveTo>
                  <a:lnTo>
                    <a:pt x="254000" y="0"/>
                  </a:lnTo>
                  <a:lnTo>
                    <a:pt x="254000" y="1143000"/>
                  </a:lnTo>
                  <a:lnTo>
                    <a:pt x="571500" y="114300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reeform 34"/>
            <p:cNvSpPr/>
            <p:nvPr/>
          </p:nvSpPr>
          <p:spPr>
            <a:xfrm>
              <a:off x="2921000" y="4068233"/>
              <a:ext cx="571500" cy="1291167"/>
            </a:xfrm>
            <a:custGeom>
              <a:avLst/>
              <a:gdLst/>
              <a:ahLst/>
              <a:cxnLst/>
              <a:rect l="l" t="t" r="r" b="b"/>
              <a:pathLst>
                <a:path w="571500" h="1291167">
                  <a:moveTo>
                    <a:pt x="0" y="1291167"/>
                  </a:moveTo>
                  <a:lnTo>
                    <a:pt x="254000" y="1291167"/>
                  </a:lnTo>
                  <a:lnTo>
                    <a:pt x="254000" y="0"/>
                  </a:lnTo>
                  <a:lnTo>
                    <a:pt x="571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4572000" y="1676400"/>
              <a:ext cx="5799667" cy="4423833"/>
            </a:xfrm>
            <a:prstGeom prst="rect">
              <a:avLst/>
            </a:prstGeom>
            <a:noFill/>
            <a:ln w="21167">
              <a:solidFill>
                <a:srgbClr val="8C4FFF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37" name="Virtual-private-cloud-VPC_32" descr="Virtual private cloud VPC_32"/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572000" y="1676400"/>
              <a:ext cx="254000" cy="254000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4910667" y="1726142"/>
              <a:ext cx="300037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8C4FFF"/>
                  </a:solidFill>
                  <a:latin typeface="Arial"/>
                  <a:ea typeface="Malgun Gothic"/>
                  <a:cs typeface="Malgun Gothic"/>
                </a:rPr>
                <a:t>Inspection VPC 100.64.0.0/16</a:t>
              </a:r>
            </a:p>
          </p:txBody>
        </p:sp>
        <p:sp>
          <p:nvSpPr>
            <p:cNvPr id="39" name="Rectangle 38"/>
            <p:cNvSpPr/>
            <p:nvPr/>
          </p:nvSpPr>
          <p:spPr>
            <a:xfrm>
              <a:off x="4741333" y="1972733"/>
              <a:ext cx="5037667" cy="14181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868333" y="20013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1</a:t>
              </a:r>
            </a:p>
          </p:txBody>
        </p:sp>
        <p:sp>
          <p:nvSpPr>
            <p:cNvPr id="41" name="Rectangle 40"/>
            <p:cNvSpPr/>
            <p:nvPr/>
          </p:nvSpPr>
          <p:spPr>
            <a:xfrm>
              <a:off x="4741333" y="4576233"/>
              <a:ext cx="5037667" cy="14181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custDash>
                <a:ds d="533333" sp="266667"/>
              </a:custDash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4868333" y="4604808"/>
              <a:ext cx="2083594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Availability Zone 2</a:t>
              </a:r>
            </a:p>
          </p:txBody>
        </p:sp>
        <p:sp>
          <p:nvSpPr>
            <p:cNvPr id="43" name="Rectangle 42"/>
            <p:cNvSpPr/>
            <p:nvPr/>
          </p:nvSpPr>
          <p:spPr>
            <a:xfrm>
              <a:off x="4868333" y="2205567"/>
              <a:ext cx="1439333" cy="1100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4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2205567"/>
              <a:ext cx="254000" cy="254000"/>
            </a:xfrm>
            <a:prstGeom prst="rect">
              <a:avLst/>
            </a:prstGeom>
          </p:spPr>
        </p:pic>
        <p:sp>
          <p:nvSpPr>
            <p:cNvPr id="45" name="TextBox 44"/>
            <p:cNvSpPr txBox="1"/>
            <p:nvPr/>
          </p:nvSpPr>
          <p:spPr>
            <a:xfrm>
              <a:off x="5207000" y="22553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6434667" y="2205567"/>
              <a:ext cx="1608667" cy="1100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47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2205567"/>
              <a:ext cx="254000" cy="254000"/>
            </a:xfrm>
            <a:prstGeom prst="rect">
              <a:avLst/>
            </a:prstGeom>
          </p:spPr>
        </p:pic>
        <p:sp>
          <p:nvSpPr>
            <p:cNvPr id="48" name="TextBox 47"/>
            <p:cNvSpPr txBox="1"/>
            <p:nvPr/>
          </p:nvSpPr>
          <p:spPr>
            <a:xfrm>
              <a:off x="6773333" y="22553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8170333" y="2205567"/>
              <a:ext cx="1481667" cy="1100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0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2205567"/>
              <a:ext cx="254000" cy="254000"/>
            </a:xfrm>
            <a:prstGeom prst="rect">
              <a:avLst/>
            </a:prstGeom>
          </p:spPr>
        </p:pic>
        <p:sp>
          <p:nvSpPr>
            <p:cNvPr id="51" name="TextBox 50"/>
            <p:cNvSpPr txBox="1"/>
            <p:nvPr/>
          </p:nvSpPr>
          <p:spPr>
            <a:xfrm>
              <a:off x="8509000" y="22553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4868333" y="4809067"/>
              <a:ext cx="1439333" cy="1100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3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868333" y="4809067"/>
              <a:ext cx="254000" cy="254000"/>
            </a:xfrm>
            <a:prstGeom prst="rect">
              <a:avLst/>
            </a:prstGeom>
          </p:spPr>
        </p:pic>
        <p:sp>
          <p:nvSpPr>
            <p:cNvPr id="54" name="TextBox 53"/>
            <p:cNvSpPr txBox="1"/>
            <p:nvPr/>
          </p:nvSpPr>
          <p:spPr>
            <a:xfrm>
              <a:off x="5207000" y="4858808"/>
              <a:ext cx="116681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TGW subnet</a:t>
              </a:r>
            </a:p>
          </p:txBody>
        </p:sp>
        <p:sp>
          <p:nvSpPr>
            <p:cNvPr id="55" name="Rectangle 54"/>
            <p:cNvSpPr/>
            <p:nvPr/>
          </p:nvSpPr>
          <p:spPr>
            <a:xfrm>
              <a:off x="6434667" y="4809067"/>
              <a:ext cx="1608667" cy="1100667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6" name="Private-subnet_32" descr="Private subnet_32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4667" y="4809067"/>
              <a:ext cx="254000" cy="254000"/>
            </a:xfrm>
            <a:prstGeom prst="rect">
              <a:avLst/>
            </a:prstGeom>
          </p:spPr>
        </p:pic>
        <p:sp>
          <p:nvSpPr>
            <p:cNvPr id="57" name="TextBox 56"/>
            <p:cNvSpPr txBox="1"/>
            <p:nvPr/>
          </p:nvSpPr>
          <p:spPr>
            <a:xfrm>
              <a:off x="6773333" y="4858808"/>
              <a:ext cx="167613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00A4A6"/>
                  </a:solidFill>
                  <a:latin typeface="Arial"/>
                  <a:ea typeface="Malgun Gothic"/>
                  <a:cs typeface="Malgun Gothic"/>
                </a:rPr>
                <a:t>Firewall subnet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8170333" y="4809067"/>
              <a:ext cx="1481667" cy="1100667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59" name="Public-subnet_32" descr="Public subnet_32"/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170333" y="4809067"/>
              <a:ext cx="254000" cy="254000"/>
            </a:xfrm>
            <a:prstGeom prst="rect">
              <a:avLst/>
            </a:prstGeom>
          </p:spPr>
        </p:pic>
        <p:sp>
          <p:nvSpPr>
            <p:cNvPr id="60" name="TextBox 59"/>
            <p:cNvSpPr txBox="1"/>
            <p:nvPr/>
          </p:nvSpPr>
          <p:spPr>
            <a:xfrm>
              <a:off x="8509000" y="4858808"/>
              <a:ext cx="1472406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166" b="1" lang="ko-KR">
                  <a:solidFill>
                    <a:srgbClr val="7AA116"/>
                  </a:solidFill>
                  <a:latin typeface="Arial"/>
                  <a:ea typeface="Malgun Gothic"/>
                  <a:cs typeface="Malgun Gothic"/>
                </a:rPr>
                <a:t>Public subnet</a:t>
              </a:r>
            </a:p>
          </p:txBody>
        </p:sp>
        <p:pic>
          <p:nvPicPr>
            <p:cNvPr id="61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2501900"/>
              <a:ext cx="508000" cy="508000"/>
            </a:xfrm>
            <a:prstGeom prst="rect">
              <a:avLst/>
            </a:prstGeom>
          </p:spPr>
        </p:pic>
        <p:sp>
          <p:nvSpPr>
            <p:cNvPr id="62" name="TextBox 61"/>
            <p:cNvSpPr txBox="1"/>
            <p:nvPr/>
          </p:nvSpPr>
          <p:spPr>
            <a:xfrm>
              <a:off x="5157391" y="30596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3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2501900"/>
              <a:ext cx="508000" cy="508000"/>
            </a:xfrm>
            <a:prstGeom prst="rect">
              <a:avLst/>
            </a:prstGeom>
          </p:spPr>
        </p:pic>
        <p:sp>
          <p:nvSpPr>
            <p:cNvPr id="64" name="TextBox 63"/>
            <p:cNvSpPr txBox="1"/>
            <p:nvPr/>
          </p:nvSpPr>
          <p:spPr>
            <a:xfrm>
              <a:off x="6299068" y="30596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65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2501900"/>
              <a:ext cx="508000" cy="508000"/>
            </a:xfrm>
            <a:prstGeom prst="rect">
              <a:avLst/>
            </a:prstGeom>
          </p:spPr>
        </p:pic>
        <p:sp>
          <p:nvSpPr>
            <p:cNvPr id="66" name="TextBox 65"/>
            <p:cNvSpPr txBox="1"/>
            <p:nvPr/>
          </p:nvSpPr>
          <p:spPr>
            <a:xfrm>
              <a:off x="8276828" y="30596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67" name="AWS-Transit-Gateway_Attachment" descr="AWS Transit Gateway_Attachment"/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334000" y="5105400"/>
              <a:ext cx="508000" cy="508000"/>
            </a:xfrm>
            <a:prstGeom prst="rect">
              <a:avLst/>
            </a:prstGeom>
          </p:spPr>
        </p:pic>
        <p:sp>
          <p:nvSpPr>
            <p:cNvPr id="68" name="TextBox 67"/>
            <p:cNvSpPr txBox="1"/>
            <p:nvPr/>
          </p:nvSpPr>
          <p:spPr>
            <a:xfrm>
              <a:off x="5157391" y="5663142"/>
              <a:ext cx="861219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TGW ENI</a:t>
              </a:r>
            </a:p>
          </p:txBody>
        </p:sp>
        <p:pic>
          <p:nvPicPr>
            <p:cNvPr id="69" name="AWS-Network-Firewall_Endpoints" descr="AWS Network Firewall_Endpoints"/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985000" y="5105400"/>
              <a:ext cx="508000" cy="508000"/>
            </a:xfrm>
            <a:prstGeom prst="rect">
              <a:avLst/>
            </a:prstGeom>
          </p:spPr>
        </p:pic>
        <p:sp>
          <p:nvSpPr>
            <p:cNvPr id="70" name="TextBox 69"/>
            <p:cNvSpPr txBox="1"/>
            <p:nvPr/>
          </p:nvSpPr>
          <p:spPr>
            <a:xfrm>
              <a:off x="6299068" y="5663142"/>
              <a:ext cx="1879865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Firewall endpoint</a:t>
              </a:r>
            </a:p>
          </p:txBody>
        </p:sp>
        <p:pic>
          <p:nvPicPr>
            <p:cNvPr id="71" name="Amazon-VPC_NAT-Gateway" descr="Amazon VPC_NAT Gateway"/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8657167" y="5105400"/>
              <a:ext cx="508000" cy="508000"/>
            </a:xfrm>
            <a:prstGeom prst="rect">
              <a:avLst/>
            </a:prstGeom>
          </p:spPr>
        </p:pic>
        <p:sp>
          <p:nvSpPr>
            <p:cNvPr id="72" name="TextBox 71"/>
            <p:cNvSpPr txBox="1"/>
            <p:nvPr/>
          </p:nvSpPr>
          <p:spPr>
            <a:xfrm>
              <a:off x="8276828" y="5663142"/>
              <a:ext cx="1268677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NAT gateway</a:t>
              </a:r>
            </a:p>
          </p:txBody>
        </p:sp>
        <p:pic>
          <p:nvPicPr>
            <p:cNvPr id="73" name="AWS-Network-Firewall" descr="AWS Network Firewall"/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6985000" y="3729567"/>
              <a:ext cx="508000" cy="508000"/>
            </a:xfrm>
            <a:prstGeom prst="rect">
              <a:avLst/>
            </a:prstGeom>
          </p:spPr>
        </p:pic>
        <p:sp>
          <p:nvSpPr>
            <p:cNvPr id="74" name="TextBox 73"/>
            <p:cNvSpPr txBox="1"/>
            <p:nvPr/>
          </p:nvSpPr>
          <p:spPr>
            <a:xfrm>
              <a:off x="6146271" y="4287308"/>
              <a:ext cx="2185458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AWS Network Firewall</a:t>
              </a:r>
            </a:p>
          </p:txBody>
        </p:sp>
        <p:sp>
          <p:nvSpPr>
            <p:cNvPr id="75" name="Rectangle 74"/>
            <p:cNvSpPr/>
            <p:nvPr/>
          </p:nvSpPr>
          <p:spPr>
            <a:xfrm>
              <a:off x="10117667" y="3729567"/>
              <a:ext cx="508000" cy="74083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76" name="Amazon-VPC_Internet-Gateway" descr="Amazon VPC_Internet Gateway"/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10117667" y="3729567"/>
              <a:ext cx="508000" cy="508000"/>
            </a:xfrm>
            <a:prstGeom prst="rect">
              <a:avLst/>
            </a:prstGeom>
          </p:spPr>
        </p:pic>
        <p:sp>
          <p:nvSpPr>
            <p:cNvPr id="77" name="TextBox 76"/>
            <p:cNvSpPr txBox="1"/>
            <p:nvPr/>
          </p:nvSpPr>
          <p:spPr>
            <a:xfrm>
              <a:off x="10144786" y="4287308"/>
              <a:ext cx="453760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IGW</a:t>
              </a:r>
            </a:p>
          </p:txBody>
        </p:sp>
        <p:sp>
          <p:nvSpPr>
            <p:cNvPr id="78" name="Freeform 77"/>
            <p:cNvSpPr/>
            <p:nvPr/>
          </p:nvSpPr>
          <p:spPr>
            <a:xfrm>
              <a:off x="4085167" y="2755900"/>
              <a:ext cx="1206500" cy="1143000"/>
            </a:xfrm>
            <a:custGeom>
              <a:avLst/>
              <a:gdLst/>
              <a:ahLst/>
              <a:cxnLst/>
              <a:rect l="l" t="t" r="r" b="b"/>
              <a:pathLst>
                <a:path w="1206500" h="1143000">
                  <a:moveTo>
                    <a:pt x="0" y="1143000"/>
                  </a:moveTo>
                  <a:lnTo>
                    <a:pt x="317500" y="1143000"/>
                  </a:lnTo>
                  <a:lnTo>
                    <a:pt x="317500" y="0"/>
                  </a:lnTo>
                  <a:lnTo>
                    <a:pt x="1206500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Freeform 78"/>
            <p:cNvSpPr/>
            <p:nvPr/>
          </p:nvSpPr>
          <p:spPr>
            <a:xfrm>
              <a:off x="4085167" y="4068233"/>
              <a:ext cx="1206500" cy="1291167"/>
            </a:xfrm>
            <a:custGeom>
              <a:avLst/>
              <a:gdLst/>
              <a:ahLst/>
              <a:cxnLst/>
              <a:rect l="l" t="t" r="r" b="b"/>
              <a:pathLst>
                <a:path w="1206500" h="1291167">
                  <a:moveTo>
                    <a:pt x="0" y="0"/>
                  </a:moveTo>
                  <a:lnTo>
                    <a:pt x="317500" y="0"/>
                  </a:lnTo>
                  <a:lnTo>
                    <a:pt x="317500" y="1291167"/>
                  </a:lnTo>
                  <a:lnTo>
                    <a:pt x="1206500" y="12911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0" name="Connector 79"/>
            <p:cNvCxnSpPr/>
            <p:nvPr/>
          </p:nvCxnSpPr>
          <p:spPr>
            <a:xfrm>
              <a:off x="5884333" y="27559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1" name="Connector 80"/>
            <p:cNvCxnSpPr/>
            <p:nvPr/>
          </p:nvCxnSpPr>
          <p:spPr>
            <a:xfrm>
              <a:off x="5884333" y="5359400"/>
              <a:ext cx="1058334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headEnd type="triangle" w="med" len="med"/>
              <a:tailEnd type="triangle" w="med" len="med"/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7535333" y="27559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7535333" y="5359400"/>
              <a:ext cx="1079500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4" name="Freeform 83"/>
            <p:cNvSpPr/>
            <p:nvPr/>
          </p:nvSpPr>
          <p:spPr>
            <a:xfrm>
              <a:off x="9207500" y="2755900"/>
              <a:ext cx="867833" cy="1227667"/>
            </a:xfrm>
            <a:custGeom>
              <a:avLst/>
              <a:gdLst/>
              <a:ahLst/>
              <a:cxnLst/>
              <a:rect l="l" t="t" r="r" b="b"/>
              <a:pathLst>
                <a:path w="867833" h="1227667">
                  <a:moveTo>
                    <a:pt x="0" y="0"/>
                  </a:moveTo>
                  <a:lnTo>
                    <a:pt x="656167" y="0"/>
                  </a:lnTo>
                  <a:lnTo>
                    <a:pt x="656167" y="1227667"/>
                  </a:lnTo>
                  <a:lnTo>
                    <a:pt x="867833" y="1227667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Freeform 84"/>
            <p:cNvSpPr/>
            <p:nvPr/>
          </p:nvSpPr>
          <p:spPr>
            <a:xfrm>
              <a:off x="9207500" y="3983567"/>
              <a:ext cx="656167" cy="1375833"/>
            </a:xfrm>
            <a:custGeom>
              <a:avLst/>
              <a:gdLst/>
              <a:ahLst/>
              <a:cxnLst/>
              <a:rect l="l" t="t" r="r" b="b"/>
              <a:pathLst>
                <a:path w="656167" h="1375833">
                  <a:moveTo>
                    <a:pt x="0" y="1375833"/>
                  </a:moveTo>
                  <a:lnTo>
                    <a:pt x="656167" y="1375833"/>
                  </a:lnTo>
                  <a:lnTo>
                    <a:pt x="656167" y="0"/>
                  </a:lnTo>
                </a:path>
              </a:pathLst>
            </a:custGeom>
            <a:noFill/>
            <a:ln w="15875">
              <a:solidFill>
                <a:srgbClr val="232F3E"/>
              </a:solidFill>
              <a:prstDash val="solid"/>
              <a:miter lim="800000"/>
            </a:ln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86" name="Internet" descr="Internet"/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1303000" y="3729567"/>
              <a:ext cx="508000" cy="508000"/>
            </a:xfrm>
            <a:prstGeom prst="rect">
              <a:avLst/>
            </a:prstGeom>
          </p:spPr>
        </p:pic>
        <p:sp>
          <p:nvSpPr>
            <p:cNvPr id="87" name="TextBox 86"/>
            <p:cNvSpPr txBox="1"/>
            <p:nvPr/>
          </p:nvSpPr>
          <p:spPr>
            <a:xfrm>
              <a:off x="11075458" y="4287308"/>
              <a:ext cx="963083" cy="192617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166" b="0" lang="ko-KR">
                  <a:solidFill>
                    <a:srgbClr val="232F3E"/>
                  </a:solidFill>
                  <a:latin typeface="Arial"/>
                  <a:ea typeface="Malgun Gothic"/>
                  <a:cs typeface="Malgun Gothic"/>
                </a:rPr>
                <a:t>Internet</a:t>
              </a:r>
            </a:p>
          </p:txBody>
        </p:sp>
        <p:cxnSp>
          <p:nvCxnSpPr>
            <p:cNvPr id="88" name="Connector 87"/>
            <p:cNvCxnSpPr/>
            <p:nvPr/>
          </p:nvCxnSpPr>
          <p:spPr>
            <a:xfrm>
              <a:off x="10668000" y="3983567"/>
              <a:ext cx="592667" cy="0"/>
            </a:xfrm>
            <a:prstGeom prst="line">
              <a:avLst/>
            </a:prstGeom>
            <a:ln w="15875">
              <a:solidFill>
                <a:srgbClr val="232F3E"/>
              </a:solidFill>
              <a:prstDash val="solid"/>
              <a:miter lim="800000"/>
              <a:tailEnd type="triangle" w="med" len="med"/>
            </a:ln>
          </p:spPr>
        </p:cxnSp>
        <p:sp>
          <p:nvSpPr>
            <p:cNvPr id="89" name="Oval 88"/>
            <p:cNvSpPr/>
            <p:nvPr/>
          </p:nvSpPr>
          <p:spPr>
            <a:xfrm>
              <a:off x="3259667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3258344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1</a:t>
              </a:r>
            </a:p>
          </p:txBody>
        </p:sp>
        <p:sp>
          <p:nvSpPr>
            <p:cNvPr id="91" name="Oval 90"/>
            <p:cNvSpPr/>
            <p:nvPr/>
          </p:nvSpPr>
          <p:spPr>
            <a:xfrm>
              <a:off x="4127500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126177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2</a:t>
              </a:r>
            </a:p>
          </p:txBody>
        </p:sp>
        <p:sp>
          <p:nvSpPr>
            <p:cNvPr id="93" name="Oval 92"/>
            <p:cNvSpPr/>
            <p:nvPr/>
          </p:nvSpPr>
          <p:spPr>
            <a:xfrm>
              <a:off x="8001000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7999677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3</a:t>
              </a:r>
            </a:p>
          </p:txBody>
        </p:sp>
        <p:sp>
          <p:nvSpPr>
            <p:cNvPr id="95" name="Oval 94"/>
            <p:cNvSpPr/>
            <p:nvPr/>
          </p:nvSpPr>
          <p:spPr>
            <a:xfrm>
              <a:off x="9419167" y="3454400"/>
              <a:ext cx="211667" cy="211667"/>
            </a:xfrm>
            <a:prstGeom prst="ellipse">
              <a:avLst/>
            </a:prstGeom>
            <a:solidFill>
              <a:srgbClr val="232F3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9417844" y="3481917"/>
              <a:ext cx="214312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ctr">
                <a:lnSpc>
                  <a:spcPct val="100000"/>
                </a:lnSpc>
              </a:pPr>
              <a:r>
                <a:rPr sz="1000" b="1" lang="ko-KR">
                  <a:solidFill>
                    <a:srgbClr val="FFFFFF"/>
                  </a:solidFill>
                  <a:latin typeface="Arial"/>
                  <a:ea typeface="Malgun Gothic"/>
                  <a:cs typeface="Malgun Gothic"/>
                </a:rPr>
                <a:t>4</a:t>
              </a:r>
            </a:p>
          </p:txBody>
        </p:sp>
        <p:sp>
          <p:nvSpPr>
            <p:cNvPr id="97" name="TextBox 96"/>
            <p:cNvSpPr txBox="1"/>
            <p:nvPr/>
          </p:nvSpPr>
          <p:spPr>
            <a:xfrm>
              <a:off x="381000" y="6424083"/>
              <a:ext cx="11231563" cy="165100"/>
            </a:xfrm>
            <a:prstGeom prst="rect">
              <a:avLst/>
            </a:prstGeom>
            <a:noFill/>
          </p:spPr>
          <p:txBody>
            <a:bodyPr wrap="non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1000" b="0" lang="ko-KR">
                  <a:solidFill>
                    <a:srgbClr val="545B64"/>
                  </a:solidFill>
                  <a:latin typeface="Arial"/>
                  <a:ea typeface="Malgun Gothic"/>
                  <a:cs typeface="Malgun Gothic"/>
                </a:rPr>
                <a:t>① Spoke RT 0/0 → 검사 VPC  ② 검사 VPC attachment (appliance mode)  ③ 엔드포인트에서 검사 · VPC 간은 TGW로 반환  ④ 인터넷: NAT → IGW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Internet-facing NLB</dc:title>
  <dc:subject/>
  <dc:creator/>
  <cp:keywords/>
  <dc:description>Generated by skill-aws-arch-diagram</dc:description>
  <cp:lastModifiedBy/>
  <cp:revision>1</cp:revision>
  <dcterms:created xsi:type="dcterms:W3CDTF">2026-10-23T01:31:35Z</dcterms:created>
  <dcterms:modified xsi:type="dcterms:W3CDTF">2026-10-23T01:31:35Z</dcterms:modified>
  <cp:category/>
</cp:coreProperties>
</file>